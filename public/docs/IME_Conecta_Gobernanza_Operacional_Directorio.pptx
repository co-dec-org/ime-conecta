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3dd22457da490e" /><Relationship Type="http://schemas.openxmlformats.org/officeDocument/2006/relationships/extended-properties" Target="/docProps/app.xml" Id="R7096cd5eadbc4a1c" /><Relationship Type="http://schemas.openxmlformats.org/officeDocument/2006/relationships/officeDocument" Target="/ppt/presentation.xml" Id="R5b24d269b1064e69" /></Relationships>
</file>

<file path=ppt/presentation.xml><?xml version="1.0" encoding="utf-8"?>
<p:presentation xmlns:p="http://schemas.openxmlformats.org/presentationml/2006/main">
  <p:sldMasterIdLst>
    <p:sldMasterId xmlns:r="http://schemas.openxmlformats.org/officeDocument/2006/relationships" id="2147483648" r:id="R5a43c7cb41a04d7c"/>
  </p:sldMasterIdLst>
  <p:notesMasterIdLst>
    <p:notesMasterId xmlns:r="http://schemas.openxmlformats.org/officeDocument/2006/relationships" r:id="R8a78c633b1ec432b"/>
  </p:notesMasterIdLst>
  <p:sldIdLst>
    <p:sldId xmlns:r="http://schemas.openxmlformats.org/officeDocument/2006/relationships" id="256" r:id="Re7c07831312c4b7c"/>
    <p:sldId xmlns:r="http://schemas.openxmlformats.org/officeDocument/2006/relationships" id="257" r:id="R9a8ff1485feb4126"/>
    <p:sldId xmlns:r="http://schemas.openxmlformats.org/officeDocument/2006/relationships" id="258" r:id="Ra43c242c670a4995"/>
    <p:sldId xmlns:r="http://schemas.openxmlformats.org/officeDocument/2006/relationships" id="259" r:id="R1b15c89c10464d03"/>
    <p:sldId xmlns:r="http://schemas.openxmlformats.org/officeDocument/2006/relationships" id="260" r:id="R7ab800e21dd7489d"/>
    <p:sldId xmlns:r="http://schemas.openxmlformats.org/officeDocument/2006/relationships" id="261" r:id="Rd57c104093ce42a2"/>
    <p:sldId xmlns:r="http://schemas.openxmlformats.org/officeDocument/2006/relationships" id="262" r:id="R66262ace545a492e"/>
    <p:sldId xmlns:r="http://schemas.openxmlformats.org/officeDocument/2006/relationships" id="263" r:id="R34aab494271244f0"/>
    <p:sldId xmlns:r="http://schemas.openxmlformats.org/officeDocument/2006/relationships" id="264" r:id="R615afc51415c4453"/>
    <p:sldId xmlns:r="http://schemas.openxmlformats.org/officeDocument/2006/relationships" id="265" r:id="R1aacf3d6926c4487"/>
    <p:sldId xmlns:r="http://schemas.openxmlformats.org/officeDocument/2006/relationships" id="266" r:id="Raec9e488dfcf4bcf"/>
    <p:sldId xmlns:r="http://schemas.openxmlformats.org/officeDocument/2006/relationships" id="267" r:id="Rdf8dda54b3a34a18"/>
    <p:sldId xmlns:r="http://schemas.openxmlformats.org/officeDocument/2006/relationships" id="268" r:id="R3b3e9e36bdf04ff9"/>
    <p:sldId xmlns:r="http://schemas.openxmlformats.org/officeDocument/2006/relationships" id="269" r:id="R61037351060e4cac"/>
    <p:sldId xmlns:r="http://schemas.openxmlformats.org/officeDocument/2006/relationships" id="270" r:id="R8834fa43995b4a98"/>
    <p:sldId xmlns:r="http://schemas.openxmlformats.org/officeDocument/2006/relationships" id="271" r:id="Re9f8992aecdc41e5"/>
    <p:sldId xmlns:r="http://schemas.openxmlformats.org/officeDocument/2006/relationships" id="272" r:id="Rb22c0c54a1584f16"/>
    <p:sldId xmlns:r="http://schemas.openxmlformats.org/officeDocument/2006/relationships" id="273" r:id="R87e8118e7a194436"/>
    <p:sldId xmlns:r="http://schemas.openxmlformats.org/officeDocument/2006/relationships" id="274" r:id="Refed4d0a3756413b"/>
    <p:sldId xmlns:r="http://schemas.openxmlformats.org/officeDocument/2006/relationships" id="275" r:id="R63d3a8b5e0d5440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06940b207ae43ac" /><Relationship Type="http://schemas.openxmlformats.org/officeDocument/2006/relationships/slideMaster" Target="/ppt/slideMasters/slideMaster1.xml" Id="R5a43c7cb41a04d7c" /><Relationship Type="http://schemas.openxmlformats.org/officeDocument/2006/relationships/notesMaster" Target="/ppt/notesMasters/notesMaster1.xml" Id="R8a78c633b1ec432b" /><Relationship Type="http://schemas.openxmlformats.org/officeDocument/2006/relationships/presProps" Target="/ppt/presProps.xml" Id="R7c02ca33ddaa4a3f" /><Relationship Type="http://schemas.openxmlformats.org/officeDocument/2006/relationships/viewProps" Target="/ppt/viewProps.xml" Id="Rfcdfdffd6c6e4ba6" /><Relationship Type="http://schemas.openxmlformats.org/officeDocument/2006/relationships/tableStyles" Target="/ppt/tableStyles.xml" Id="R3fe3e079ce6b4f90" /><Relationship Type="http://schemas.openxmlformats.org/officeDocument/2006/relationships/slide" Target="/ppt/slides/slide1.xml" Id="Re7c07831312c4b7c" /><Relationship Type="http://schemas.openxmlformats.org/officeDocument/2006/relationships/slide" Target="/ppt/slides/slide2.xml" Id="R9a8ff1485feb4126" /><Relationship Type="http://schemas.openxmlformats.org/officeDocument/2006/relationships/slide" Target="/ppt/slides/slide3.xml" Id="Ra43c242c670a4995" /><Relationship Type="http://schemas.openxmlformats.org/officeDocument/2006/relationships/slide" Target="/ppt/slides/slide4.xml" Id="R1b15c89c10464d03" /><Relationship Type="http://schemas.openxmlformats.org/officeDocument/2006/relationships/slide" Target="/ppt/slides/slide5.xml" Id="R7ab800e21dd7489d" /><Relationship Type="http://schemas.openxmlformats.org/officeDocument/2006/relationships/slide" Target="/ppt/slides/slide6.xml" Id="Rd57c104093ce42a2" /><Relationship Type="http://schemas.openxmlformats.org/officeDocument/2006/relationships/slide" Target="/ppt/slides/slide7.xml" Id="R66262ace545a492e" /><Relationship Type="http://schemas.openxmlformats.org/officeDocument/2006/relationships/slide" Target="/ppt/slides/slide8.xml" Id="R34aab494271244f0" /><Relationship Type="http://schemas.openxmlformats.org/officeDocument/2006/relationships/slide" Target="/ppt/slides/slide9.xml" Id="R615afc51415c4453" /><Relationship Type="http://schemas.openxmlformats.org/officeDocument/2006/relationships/slide" Target="/ppt/slides/slide10.xml" Id="R1aacf3d6926c4487" /><Relationship Type="http://schemas.openxmlformats.org/officeDocument/2006/relationships/slide" Target="/ppt/slides/slide11.xml" Id="Raec9e488dfcf4bcf" /><Relationship Type="http://schemas.openxmlformats.org/officeDocument/2006/relationships/slide" Target="/ppt/slides/slide12.xml" Id="Rdf8dda54b3a34a18" /><Relationship Type="http://schemas.openxmlformats.org/officeDocument/2006/relationships/slide" Target="/ppt/slides/slide13.xml" Id="R3b3e9e36bdf04ff9" /><Relationship Type="http://schemas.openxmlformats.org/officeDocument/2006/relationships/slide" Target="/ppt/slides/slide14.xml" Id="R61037351060e4cac" /><Relationship Type="http://schemas.openxmlformats.org/officeDocument/2006/relationships/slide" Target="/ppt/slides/slide15.xml" Id="R8834fa43995b4a98" /><Relationship Type="http://schemas.openxmlformats.org/officeDocument/2006/relationships/slide" Target="/ppt/slides/slide16.xml" Id="Re9f8992aecdc41e5" /><Relationship Type="http://schemas.openxmlformats.org/officeDocument/2006/relationships/slide" Target="/ppt/slides/slide17.xml" Id="Rb22c0c54a1584f16" /><Relationship Type="http://schemas.openxmlformats.org/officeDocument/2006/relationships/slide" Target="/ppt/slides/slide18.xml" Id="R87e8118e7a194436" /><Relationship Type="http://schemas.openxmlformats.org/officeDocument/2006/relationships/slide" Target="/ppt/slides/slide19.xml" Id="Refed4d0a3756413b" /><Relationship Type="http://schemas.openxmlformats.org/officeDocument/2006/relationships/slide" Target="/ppt/slides/slide20.xml" Id="R63d3a8b5e0d544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332e2dd93940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50c8737de743bc" /><Relationship Type="http://schemas.openxmlformats.org/officeDocument/2006/relationships/notesMaster" Target="/ppt/notesMasters/notesMaster1.xml" Id="R295ad75ad8e447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91c2101f5d4b19" /><Relationship Type="http://schemas.openxmlformats.org/officeDocument/2006/relationships/notesMaster" Target="/ppt/notesMasters/notesMaster1.xml" Id="Rafa2c3ec616744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a31177633a4ab2" /><Relationship Type="http://schemas.openxmlformats.org/officeDocument/2006/relationships/notesMaster" Target="/ppt/notesMasters/notesMaster1.xml" Id="R07f20d97230742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b605a789084c3b" /><Relationship Type="http://schemas.openxmlformats.org/officeDocument/2006/relationships/notesMaster" Target="/ppt/notesMasters/notesMaster1.xml" Id="Recc071c7340c4c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95cfab0d0f45ba" /><Relationship Type="http://schemas.openxmlformats.org/officeDocument/2006/relationships/notesMaster" Target="/ppt/notesMasters/notesMaster1.xml" Id="R0969b243217d48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eb9683564549b1" /><Relationship Type="http://schemas.openxmlformats.org/officeDocument/2006/relationships/notesMaster" Target="/ppt/notesMasters/notesMaster1.xml" Id="R4c96edb7dcde47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3edeec4a0e41ac" /><Relationship Type="http://schemas.openxmlformats.org/officeDocument/2006/relationships/notesMaster" Target="/ppt/notesMasters/notesMaster1.xml" Id="R9515117e0f244c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b283ede7e24121" /><Relationship Type="http://schemas.openxmlformats.org/officeDocument/2006/relationships/notesMaster" Target="/ppt/notesMasters/notesMaster1.xml" Id="R32945e9296854e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fde80ed32d43a0" /><Relationship Type="http://schemas.openxmlformats.org/officeDocument/2006/relationships/notesMaster" Target="/ppt/notesMasters/notesMaster1.xml" Id="R7c4c6e15066149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d0f0a22483494b" /><Relationship Type="http://schemas.openxmlformats.org/officeDocument/2006/relationships/notesMaster" Target="/ppt/notesMasters/notesMaster1.xml" Id="R391421bbb05248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019c98aefb4bfd" /><Relationship Type="http://schemas.openxmlformats.org/officeDocument/2006/relationships/notesMaster" Target="/ppt/notesMasters/notesMaster1.xml" Id="Rf788f34308f74d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6cc54ba646409f" /><Relationship Type="http://schemas.openxmlformats.org/officeDocument/2006/relationships/notesMaster" Target="/ppt/notesMasters/notesMaster1.xml" Id="R7936652f723d42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5fcf821c9d44c6" /><Relationship Type="http://schemas.openxmlformats.org/officeDocument/2006/relationships/notesMaster" Target="/ppt/notesMasters/notesMaster1.xml" Id="R5e77c78eba5944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d652a2e9e04d06" /><Relationship Type="http://schemas.openxmlformats.org/officeDocument/2006/relationships/notesMaster" Target="/ppt/notesMasters/notesMaster1.xml" Id="R59d7cd85b8d84e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2c5831ff7b4f30" /><Relationship Type="http://schemas.openxmlformats.org/officeDocument/2006/relationships/notesMaster" Target="/ppt/notesMasters/notesMaster1.xml" Id="Rd3c10316a2b64e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4261f3c5814ba9" /><Relationship Type="http://schemas.openxmlformats.org/officeDocument/2006/relationships/notesMaster" Target="/ppt/notesMasters/notesMaster1.xml" Id="Rdc33b77e890440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136c9e0fbd4895" /><Relationship Type="http://schemas.openxmlformats.org/officeDocument/2006/relationships/notesMaster" Target="/ppt/notesMasters/notesMaster1.xml" Id="Rbfbdecc3dcb941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0fd788084c4286" /><Relationship Type="http://schemas.openxmlformats.org/officeDocument/2006/relationships/notesMaster" Target="/ppt/notesMasters/notesMaster1.xml" Id="Rdf0a17fab38e49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6daf9e84ad4e91" /><Relationship Type="http://schemas.openxmlformats.org/officeDocument/2006/relationships/notesMaster" Target="/ppt/notesMasters/notesMaster1.xml" Id="Rd921ab13ca3e43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33cf408be54376" /><Relationship Type="http://schemas.openxmlformats.org/officeDocument/2006/relationships/notesMaster" Target="/ppt/notesMasters/notesMaster1.xml" Id="R5097581192334e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e65412f70242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a51f193ac74564" /><Relationship Type="http://schemas.openxmlformats.org/officeDocument/2006/relationships/slideLayout" Target="/ppt/slideLayouts/slideLayout1.xml" Id="Rbabecc4ec6c445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becc4ec6c445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db8858fa5b4bac" /><Relationship Type="http://schemas.openxmlformats.org/officeDocument/2006/relationships/notesSlide" Target="/ppt/notesSlides/notesSlide1.xml" Id="Rb99a8938958948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2731492d2a4e4c" /><Relationship Type="http://schemas.openxmlformats.org/officeDocument/2006/relationships/notesSlide" Target="/ppt/notesSlides/notesSlide2.xml" Id="R982346b4076c44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9fcf8001d0471c" /><Relationship Type="http://schemas.openxmlformats.org/officeDocument/2006/relationships/notesSlide" Target="/ppt/notesSlides/notesSlide3.xml" Id="Ra90407622b5241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7d96bb6e7f45b4" /><Relationship Type="http://schemas.openxmlformats.org/officeDocument/2006/relationships/notesSlide" Target="/ppt/notesSlides/notesSlide4.xml" Id="R0564abaf6bc04a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0e49bec1c64448" /><Relationship Type="http://schemas.openxmlformats.org/officeDocument/2006/relationships/notesSlide" Target="/ppt/notesSlides/notesSlide5.xml" Id="Rfd630076ffa445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83c22506da49bc" /><Relationship Type="http://schemas.openxmlformats.org/officeDocument/2006/relationships/notesSlide" Target="/ppt/notesSlides/notesSlide6.xml" Id="Rcd301bbb9eda4f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0656842197426e" /><Relationship Type="http://schemas.openxmlformats.org/officeDocument/2006/relationships/notesSlide" Target="/ppt/notesSlides/notesSlide7.xml" Id="R9cbe46d1b0bb49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e539355831405e" /><Relationship Type="http://schemas.openxmlformats.org/officeDocument/2006/relationships/notesSlide" Target="/ppt/notesSlides/notesSlide8.xml" Id="R2c0a4ff957ac44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8bcbceedff4110" /><Relationship Type="http://schemas.openxmlformats.org/officeDocument/2006/relationships/notesSlide" Target="/ppt/notesSlides/notesSlide9.xml" Id="Re4bafdb5828d44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c4aec5a5e44dbf" /><Relationship Type="http://schemas.openxmlformats.org/officeDocument/2006/relationships/notesSlide" Target="/ppt/notesSlides/notesSlide10.xml" Id="Rf3caff9076bf49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0accccef054a98" /><Relationship Type="http://schemas.openxmlformats.org/officeDocument/2006/relationships/notesSlide" Target="/ppt/notesSlides/notesSlide11.xml" Id="R1597aa5ea7d34b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dd5e5af938846a5" /><Relationship Type="http://schemas.openxmlformats.org/officeDocument/2006/relationships/notesSlide" Target="/ppt/notesSlides/notesSlide12.xml" Id="R7bd8676493c142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23b10ff6034ecf" /><Relationship Type="http://schemas.openxmlformats.org/officeDocument/2006/relationships/notesSlide" Target="/ppt/notesSlides/notesSlide13.xml" Id="R5911cde11d164c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7cdb726a042422a" /><Relationship Type="http://schemas.openxmlformats.org/officeDocument/2006/relationships/notesSlide" Target="/ppt/notesSlides/notesSlide14.xml" Id="Rc18104e8958e4f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9ce17a9e4c44fa" /><Relationship Type="http://schemas.openxmlformats.org/officeDocument/2006/relationships/notesSlide" Target="/ppt/notesSlides/notesSlide15.xml" Id="Rad98374231af46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26ed1942bd43f5" /><Relationship Type="http://schemas.openxmlformats.org/officeDocument/2006/relationships/notesSlide" Target="/ppt/notesSlides/notesSlide16.xml" Id="R8cfee3b75cbb47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6ecd312340491f" /><Relationship Type="http://schemas.openxmlformats.org/officeDocument/2006/relationships/notesSlide" Target="/ppt/notesSlides/notesSlide17.xml" Id="R6e93207b0f314d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c534a5d15d4750" /><Relationship Type="http://schemas.openxmlformats.org/officeDocument/2006/relationships/notesSlide" Target="/ppt/notesSlides/notesSlide18.xml" Id="R070453ecf7a143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4ec043163c4df6" /><Relationship Type="http://schemas.openxmlformats.org/officeDocument/2006/relationships/notesSlide" Target="/ppt/notesSlides/notesSlide19.xml" Id="R328c9053f3be4e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c8383dbc444e18" /><Relationship Type="http://schemas.openxmlformats.org/officeDocument/2006/relationships/notesSlide" Target="/ppt/notesSlides/notesSlide20.xml" Id="R1d7f5f6b510a40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BC0A45-9E63-49B4-A22C-EC19E648D2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CB0124-D20E-43BA-AB07-713C6BD1F51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570AAEF-2021-4679-8D13-6511B4DCF150}"/>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0985832-F508-4CA5-AAF6-947FD072B5B0}"/>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A25DAD8-497F-4E0A-9043-724B6FB62EC7}"/>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1CD598D-E3AD-4148-A315-AAE562E802CB}"/>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14CEAE8-70DD-40F4-AB96-4EEEC8BBB3AA}"/>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9EF4114-5E31-41BC-A931-DDA22366631F}"/>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9B14594-9977-45F3-9A90-C86AE00B1BB9}"/>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5417351-481B-456F-BF7B-A95794CD5DF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D49D7B9-2919-4D6F-9BF2-FA7BB3CA1DAB}"/>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C258FF6-F201-4D75-AE50-4A039E85AD8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DDF7988-1D4B-4D4C-9A1A-B51A127B2F7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40BAACC-2059-42FC-8516-953E43891AD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863D115-09AF-4EED-920E-4491F5BDB1B8}"/>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9E3A97E-A049-4E3B-9E74-7E0384AFFA1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6F34677-5CEF-49CA-84E6-7516E7628365}"/>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E93E6A1-4670-46AA-B34B-922CD0A9FB0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D147961-5DC4-4156-8052-13426166D54D}"/>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A9D485E-B5AF-4817-B05E-67272AFACD7B}"/>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A1EBD38-640E-4813-B423-31E39E4C06CE}"/>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E3C2E44-ED13-4F99-8F3B-30725DC2F7EC}"/>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252CCEF-929F-4AE3-B680-3310DDA3FAFE}"/>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191BB1E-D60B-4E8D-BD09-5CF25F6904EF}"/>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EBBABF5-474C-4498-BD2F-508C3220DBF4}"/>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8E2A2EE-4677-4F2E-8F00-3918BD50D198}"/>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71E3AD4-7363-4C69-A0A7-D3B84C2DB821}"/>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0679FD7-2E9A-4127-938E-B64BC10015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6D7EF4B4-EACA-45E6-90EF-9F950403647B}"/>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D7EA9448-9156-403E-B9F3-D1EAE7663024}"/>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01 · PORTADA</a:t>
            </a:r>
          </a:p>
        </p:txBody>
      </p:sp>
      <p:sp>
        <p:nvSpPr>
          <p:cNvPr id="31" name="">
            <a:extLst xmlns:a="http://schemas.openxmlformats.org/drawingml/2006/main">
              <a:ext uri="{FF2B5EF4-FFF2-40B4-BE49-F238E27FC236}">
                <a16:creationId xmlns:a16="http://schemas.microsoft.com/office/drawing/2014/main" id="{268E03E3-7976-4C8E-A471-44C64E9726C7}"/>
              </a:ext>
            </a:extLst>
          </p:cNvPr>
          <p:cNvSpPr>
            <a:spLocks xmlns:a="http://schemas.openxmlformats.org/drawingml/2006/main" noGrp="1"/>
          </p:cNvSpPr>
          <p:nvPr/>
        </p:nvSpPr>
        <p:spPr>
          <a:xfrm xmlns:a="http://schemas.openxmlformats.org/drawingml/2006/main">
            <a:off x="457200" y="1104900"/>
            <a:ext cx="8953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75" b="1">
                <a:solidFill>
                  <a:srgbClr val="EFF1F5"/>
                </a:solidFill>
                <a:latin typeface="Aptos Display"/>
                <a:ea typeface="Aptos Display"/>
                <a:cs typeface="Aptos Display"/>
              </a:defRPr>
            </a:pPr>
            <a:r>
              <a:rPr sz="3375" b="1">
                <a:solidFill>
                  <a:srgbClr val="EFF1F5"/>
                </a:solidFill>
                <a:latin typeface="Aptos Display"/>
                <a:ea typeface="Aptos Display"/>
                <a:cs typeface="Aptos Display"/>
              </a:rPr>
              <a:t>IME Conecta propone una infraestructura interna para sostener la nueva escala gremial.</a:t>
            </a:r>
          </a:p>
        </p:txBody>
      </p:sp>
      <p:sp>
        <p:nvSpPr>
          <p:cNvPr id="32" name="">
            <a:extLst xmlns:a="http://schemas.openxmlformats.org/drawingml/2006/main">
              <a:ext uri="{FF2B5EF4-FFF2-40B4-BE49-F238E27FC236}">
                <a16:creationId xmlns:a16="http://schemas.microsoft.com/office/drawing/2014/main" id="{7218656F-E808-408E-B838-82C2EE927158}"/>
              </a:ext>
            </a:extLst>
          </p:cNvPr>
          <p:cNvSpPr>
            <a:spLocks xmlns:a="http://schemas.openxmlformats.org/drawingml/2006/main" noGrp="1"/>
          </p:cNvSpPr>
          <p:nvPr/>
        </p:nvSpPr>
        <p:spPr>
          <a:xfrm xmlns:a="http://schemas.openxmlformats.org/drawingml/2006/main">
            <a:off x="514350" y="2571750"/>
            <a:ext cx="6286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B3C8EE"/>
                </a:solidFill>
                <a:latin typeface="Aptos"/>
                <a:ea typeface="Aptos"/>
                <a:cs typeface="Aptos"/>
              </a:defRPr>
            </a:pPr>
            <a:r>
              <a:rPr sz="1875" b="0">
                <a:solidFill>
                  <a:srgbClr val="B3C8EE"/>
                </a:solidFill>
                <a:latin typeface="Aptos"/>
                <a:ea typeface="Aptos"/>
                <a:cs typeface="Aptos"/>
              </a:rPr>
              <a:t>IME Conecta como infraestructura interna para ordenar, profesionalizar y proyectar la gestión de IME Chile.</a:t>
            </a:r>
          </a:p>
        </p:txBody>
      </p:sp>
      <p:sp>
        <p:nvSpPr>
          <p:cNvPr id="33" name="">
            <a:extLst xmlns:a="http://schemas.openxmlformats.org/drawingml/2006/main">
              <a:ext uri="{FF2B5EF4-FFF2-40B4-BE49-F238E27FC236}">
                <a16:creationId xmlns:a16="http://schemas.microsoft.com/office/drawing/2014/main" id="{24877394-330E-48AA-AB8C-0D521B663456}"/>
              </a:ext>
            </a:extLst>
          </p:cNvPr>
          <p:cNvSpPr>
            <a:spLocks xmlns:a="http://schemas.openxmlformats.org/drawingml/2006/main" noGrp="1"/>
          </p:cNvSpPr>
          <p:nvPr/>
        </p:nvSpPr>
        <p:spPr>
          <a:xfrm xmlns:a="http://schemas.openxmlformats.org/drawingml/2006/main">
            <a:off x="514350" y="3905250"/>
            <a:ext cx="57150" cy="8763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8C6CF2DF-0862-413F-9D83-B35253B4A539}"/>
              </a:ext>
            </a:extLst>
          </p:cNvPr>
          <p:cNvSpPr>
            <a:spLocks xmlns:a="http://schemas.openxmlformats.org/drawingml/2006/main" noGrp="1"/>
          </p:cNvSpPr>
          <p:nvPr/>
        </p:nvSpPr>
        <p:spPr>
          <a:xfrm xmlns:a="http://schemas.openxmlformats.org/drawingml/2006/main">
            <a:off x="609600" y="3905250"/>
            <a:ext cx="6000750" cy="87630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35" name="">
            <a:extLst xmlns:a="http://schemas.openxmlformats.org/drawingml/2006/main">
              <a:ext uri="{FF2B5EF4-FFF2-40B4-BE49-F238E27FC236}">
                <a16:creationId xmlns:a16="http://schemas.microsoft.com/office/drawing/2014/main" id="{602C7EB7-D7C4-4323-8539-7D42964003BC}"/>
              </a:ext>
            </a:extLst>
          </p:cNvPr>
          <p:cNvSpPr>
            <a:spLocks xmlns:a="http://schemas.openxmlformats.org/drawingml/2006/main" noGrp="1"/>
          </p:cNvSpPr>
          <p:nvPr/>
        </p:nvSpPr>
        <p:spPr>
          <a:xfrm xmlns:a="http://schemas.openxmlformats.org/drawingml/2006/main">
            <a:off x="781050" y="4057650"/>
            <a:ext cx="56578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Tesis: a mayor envergadura gremial, mayor necesidad de estructura operacional.</a:t>
            </a:r>
          </a:p>
        </p:txBody>
      </p:sp>
      <p:sp>
        <p:nvSpPr>
          <p:cNvPr id="36" name="">
            <a:extLst xmlns:a="http://schemas.openxmlformats.org/drawingml/2006/main">
              <a:ext uri="{FF2B5EF4-FFF2-40B4-BE49-F238E27FC236}">
                <a16:creationId xmlns:a16="http://schemas.microsoft.com/office/drawing/2014/main" id="{65A6CCC6-758D-4E15-B2FA-4F3BEDF50FC0}"/>
              </a:ext>
            </a:extLst>
          </p:cNvPr>
          <p:cNvSpPr>
            <a:spLocks xmlns:a="http://schemas.openxmlformats.org/drawingml/2006/main" noGrp="1"/>
          </p:cNvSpPr>
          <p:nvPr/>
        </p:nvSpPr>
        <p:spPr>
          <a:xfrm xmlns:a="http://schemas.openxmlformats.org/drawingml/2006/main">
            <a:off x="514350" y="5219700"/>
            <a:ext cx="6286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EFF1F5"/>
                </a:solidFill>
                <a:latin typeface="Aptos"/>
                <a:ea typeface="Aptos"/>
                <a:cs typeface="Aptos"/>
              </a:defRPr>
            </a:pPr>
            <a:r>
              <a:rPr sz="1200" b="0">
                <a:solidFill>
                  <a:srgbClr val="EFF1F5"/>
                </a:solidFill>
                <a:latin typeface="Aptos"/>
                <a:ea typeface="Aptos"/>
                <a:cs typeface="Aptos"/>
              </a:rPr>
              <a:t>Patricio Gonzalez Cruz · Director y Tesorero IME Chile</a:t>
            </a:r>
          </a:p>
        </p:txBody>
      </p:sp>
      <p:sp>
        <p:nvSpPr>
          <p:cNvPr id="37" name="">
            <a:extLst xmlns:a="http://schemas.openxmlformats.org/drawingml/2006/main">
              <a:ext uri="{FF2B5EF4-FFF2-40B4-BE49-F238E27FC236}">
                <a16:creationId xmlns:a16="http://schemas.microsoft.com/office/drawing/2014/main" id="{ABFB4C16-2B7D-4171-B4A7-1C8874CA745D}"/>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FCF0D371-204E-4EA8-AFCA-42F6977A5B84}"/>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39" name="">
            <a:extLst xmlns:a="http://schemas.openxmlformats.org/drawingml/2006/main">
              <a:ext uri="{FF2B5EF4-FFF2-40B4-BE49-F238E27FC236}">
                <a16:creationId xmlns:a16="http://schemas.microsoft.com/office/drawing/2014/main" id="{BC0C6999-01C2-4522-816A-ED4AD8C23557}"/>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01 / 20</a:t>
            </a:r>
          </a:p>
        </p:txBody>
      </p:sp>
    </p:spTree>
    <p:extLst>
      <p:ext uri="{BB962C8B-B14F-4D97-AF65-F5344CB8AC3E}">
        <p14:creationId xmlns:p14="http://schemas.microsoft.com/office/powerpoint/2010/main" val="18608436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612F13-775D-42D9-ACA9-AC89A54D22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3ECAA2C-0FE6-4B31-9A48-4B71967CD5F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076B1DA-BF00-4484-AA8A-C3FCA0274C08}"/>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A754C48-DCFD-451B-A2C1-F6D9384F4A4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1C5ED81-1E07-45EF-A28A-BB108344FFDD}"/>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620F0F9-50E1-4250-BD65-581372645110}"/>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B108C50-EBFD-4DB3-BF39-85F13E852A9B}"/>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C4190A4-B541-4336-BB67-BBBEC1056917}"/>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11308B2-0B32-4CE8-B1C3-F6CDF2BFF222}"/>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80839DA-2B17-449D-8940-81C8D210AD4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A23EDE2-887A-4AFF-A5A5-3E268E77B24E}"/>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C372EFE-F413-4036-8B09-824CEDD0CB2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DD0047A-1C60-4466-9459-C2D141ADECF6}"/>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1C61D23-3B2E-4E16-B3D9-87C43FAB264F}"/>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B3DC297-96CA-4251-8B40-62072C2F5FD9}"/>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B7D3B44-4DF8-44AF-B0E0-607504C2644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78D7FAA-FA0B-4C14-A209-FA3D3B8D45EB}"/>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B8D3F65-15AF-4815-93E7-7E14303A3F1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E13E018-76F5-42F7-85B6-809EF063657A}"/>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69A9435-C003-410D-AB0A-D3DD71D53F52}"/>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7C1B867-92C5-4920-BBDE-6979B147333D}"/>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64C84C2-1E60-4486-81F7-A9B001D6A289}"/>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179A792-AD02-491F-B05A-C5CEF4EAD889}"/>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8C7AF41-726E-45A4-83A2-266F21DF8445}"/>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EC222D4-53AB-493C-BC3B-80813F7B2C02}"/>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6EE0374-F70D-4925-9717-E83891110A0E}"/>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8BD1A36-313A-4B7C-99E7-787F8FBB310B}"/>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1FEE521-3448-4E94-8412-44241FC63D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E40B71E0-849C-4C66-9F4E-82FDA214C2B3}"/>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5D429433-5050-4743-875D-AE7C0E137B0B}"/>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02 · INDICE</a:t>
            </a:r>
          </a:p>
        </p:txBody>
      </p:sp>
      <p:sp>
        <p:nvSpPr>
          <p:cNvPr id="31" name="">
            <a:extLst xmlns:a="http://schemas.openxmlformats.org/drawingml/2006/main">
              <a:ext uri="{FF2B5EF4-FFF2-40B4-BE49-F238E27FC236}">
                <a16:creationId xmlns:a16="http://schemas.microsoft.com/office/drawing/2014/main" id="{95402295-9010-40ED-B2B6-81274D1D4382}"/>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presentacion avanza desde diagnostico operacional hacia acuerdos directivos.</a:t>
            </a:r>
          </a:p>
        </p:txBody>
      </p:sp>
      <p:sp>
        <p:nvSpPr>
          <p:cNvPr id="32" name="">
            <a:extLst xmlns:a="http://schemas.openxmlformats.org/drawingml/2006/main">
              <a:ext uri="{FF2B5EF4-FFF2-40B4-BE49-F238E27FC236}">
                <a16:creationId xmlns:a16="http://schemas.microsoft.com/office/drawing/2014/main" id="{49003987-D747-46D3-B4BB-04227212A4C5}"/>
              </a:ext>
            </a:extLst>
          </p:cNvPr>
          <p:cNvSpPr>
            <a:spLocks xmlns:a="http://schemas.openxmlformats.org/drawingml/2006/main" noGrp="1"/>
          </p:cNvSpPr>
          <p:nvPr/>
        </p:nvSpPr>
        <p:spPr>
          <a:xfrm xmlns:a="http://schemas.openxmlformats.org/drawingml/2006/main">
            <a:off x="533400" y="16954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33" name="">
            <a:extLst xmlns:a="http://schemas.openxmlformats.org/drawingml/2006/main">
              <a:ext uri="{FF2B5EF4-FFF2-40B4-BE49-F238E27FC236}">
                <a16:creationId xmlns:a16="http://schemas.microsoft.com/office/drawing/2014/main" id="{766450CA-4059-4D56-8246-B3725D2164AE}"/>
              </a:ext>
            </a:extLst>
          </p:cNvPr>
          <p:cNvSpPr>
            <a:spLocks xmlns:a="http://schemas.openxmlformats.org/drawingml/2006/main" noGrp="1"/>
          </p:cNvSpPr>
          <p:nvPr/>
        </p:nvSpPr>
        <p:spPr>
          <a:xfrm xmlns:a="http://schemas.openxmlformats.org/drawingml/2006/main">
            <a:off x="666750" y="17907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01 Punto de partida</a:t>
            </a:r>
          </a:p>
        </p:txBody>
      </p:sp>
      <p:sp>
        <p:nvSpPr>
          <p:cNvPr id="34" name="">
            <a:extLst xmlns:a="http://schemas.openxmlformats.org/drawingml/2006/main">
              <a:ext uri="{FF2B5EF4-FFF2-40B4-BE49-F238E27FC236}">
                <a16:creationId xmlns:a16="http://schemas.microsoft.com/office/drawing/2014/main" id="{7085F72F-892E-4BD9-A807-859632804899}"/>
              </a:ext>
            </a:extLst>
          </p:cNvPr>
          <p:cNvSpPr>
            <a:spLocks xmlns:a="http://schemas.openxmlformats.org/drawingml/2006/main" noGrp="1"/>
          </p:cNvSpPr>
          <p:nvPr/>
        </p:nvSpPr>
        <p:spPr>
          <a:xfrm xmlns:a="http://schemas.openxmlformats.org/drawingml/2006/main">
            <a:off x="3343275" y="16954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35" name="">
            <a:extLst xmlns:a="http://schemas.openxmlformats.org/drawingml/2006/main">
              <a:ext uri="{FF2B5EF4-FFF2-40B4-BE49-F238E27FC236}">
                <a16:creationId xmlns:a16="http://schemas.microsoft.com/office/drawing/2014/main" id="{7BEC592D-ED53-4560-92EA-D8A0DB8C0EB5}"/>
              </a:ext>
            </a:extLst>
          </p:cNvPr>
          <p:cNvSpPr>
            <a:spLocks xmlns:a="http://schemas.openxmlformats.org/drawingml/2006/main" noGrp="1"/>
          </p:cNvSpPr>
          <p:nvPr/>
        </p:nvSpPr>
        <p:spPr>
          <a:xfrm xmlns:a="http://schemas.openxmlformats.org/drawingml/2006/main">
            <a:off x="3476625" y="17907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02 Mirada macro</a:t>
            </a:r>
          </a:p>
        </p:txBody>
      </p:sp>
      <p:sp>
        <p:nvSpPr>
          <p:cNvPr id="36" name="">
            <a:extLst xmlns:a="http://schemas.openxmlformats.org/drawingml/2006/main">
              <a:ext uri="{FF2B5EF4-FFF2-40B4-BE49-F238E27FC236}">
                <a16:creationId xmlns:a16="http://schemas.microsoft.com/office/drawing/2014/main" id="{2F559AD6-3FB7-47F1-9FB3-8F0DAF11C9B2}"/>
              </a:ext>
            </a:extLst>
          </p:cNvPr>
          <p:cNvSpPr>
            <a:spLocks xmlns:a="http://schemas.openxmlformats.org/drawingml/2006/main" noGrp="1"/>
          </p:cNvSpPr>
          <p:nvPr/>
        </p:nvSpPr>
        <p:spPr>
          <a:xfrm xmlns:a="http://schemas.openxmlformats.org/drawingml/2006/main">
            <a:off x="6153150" y="16954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37" name="">
            <a:extLst xmlns:a="http://schemas.openxmlformats.org/drawingml/2006/main">
              <a:ext uri="{FF2B5EF4-FFF2-40B4-BE49-F238E27FC236}">
                <a16:creationId xmlns:a16="http://schemas.microsoft.com/office/drawing/2014/main" id="{99351E08-DC4B-4934-B2D8-E6AD09768CBA}"/>
              </a:ext>
            </a:extLst>
          </p:cNvPr>
          <p:cNvSpPr>
            <a:spLocks xmlns:a="http://schemas.openxmlformats.org/drawingml/2006/main" noGrp="1"/>
          </p:cNvSpPr>
          <p:nvPr/>
        </p:nvSpPr>
        <p:spPr>
          <a:xfrm xmlns:a="http://schemas.openxmlformats.org/drawingml/2006/main">
            <a:off x="6286500" y="17907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03 Problema detectado</a:t>
            </a:r>
          </a:p>
        </p:txBody>
      </p:sp>
      <p:sp>
        <p:nvSpPr>
          <p:cNvPr id="38" name="">
            <a:extLst xmlns:a="http://schemas.openxmlformats.org/drawingml/2006/main">
              <a:ext uri="{FF2B5EF4-FFF2-40B4-BE49-F238E27FC236}">
                <a16:creationId xmlns:a16="http://schemas.microsoft.com/office/drawing/2014/main" id="{FB04F3FF-A87C-4455-B491-3175C1DC337F}"/>
              </a:ext>
            </a:extLst>
          </p:cNvPr>
          <p:cNvSpPr>
            <a:spLocks xmlns:a="http://schemas.openxmlformats.org/drawingml/2006/main" noGrp="1"/>
          </p:cNvSpPr>
          <p:nvPr/>
        </p:nvSpPr>
        <p:spPr>
          <a:xfrm xmlns:a="http://schemas.openxmlformats.org/drawingml/2006/main">
            <a:off x="8963025" y="16954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39" name="">
            <a:extLst xmlns:a="http://schemas.openxmlformats.org/drawingml/2006/main">
              <a:ext uri="{FF2B5EF4-FFF2-40B4-BE49-F238E27FC236}">
                <a16:creationId xmlns:a16="http://schemas.microsoft.com/office/drawing/2014/main" id="{F820A230-345D-4336-9DFD-FED567B81F66}"/>
              </a:ext>
            </a:extLst>
          </p:cNvPr>
          <p:cNvSpPr>
            <a:spLocks xmlns:a="http://schemas.openxmlformats.org/drawingml/2006/main" noGrp="1"/>
          </p:cNvSpPr>
          <p:nvPr/>
        </p:nvSpPr>
        <p:spPr>
          <a:xfrm xmlns:a="http://schemas.openxmlformats.org/drawingml/2006/main">
            <a:off x="9096375" y="17907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04 Analisis operacional</a:t>
            </a:r>
          </a:p>
        </p:txBody>
      </p:sp>
      <p:sp>
        <p:nvSpPr>
          <p:cNvPr id="40" name="">
            <a:extLst xmlns:a="http://schemas.openxmlformats.org/drawingml/2006/main">
              <a:ext uri="{FF2B5EF4-FFF2-40B4-BE49-F238E27FC236}">
                <a16:creationId xmlns:a16="http://schemas.microsoft.com/office/drawing/2014/main" id="{F57EF4F0-29D8-4547-99B7-8C0B708C573E}"/>
              </a:ext>
            </a:extLst>
          </p:cNvPr>
          <p:cNvSpPr>
            <a:spLocks xmlns:a="http://schemas.openxmlformats.org/drawingml/2006/main" noGrp="1"/>
          </p:cNvSpPr>
          <p:nvPr/>
        </p:nvSpPr>
        <p:spPr>
          <a:xfrm xmlns:a="http://schemas.openxmlformats.org/drawingml/2006/main">
            <a:off x="533400" y="23431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1" name="">
            <a:extLst xmlns:a="http://schemas.openxmlformats.org/drawingml/2006/main">
              <a:ext uri="{FF2B5EF4-FFF2-40B4-BE49-F238E27FC236}">
                <a16:creationId xmlns:a16="http://schemas.microsoft.com/office/drawing/2014/main" id="{6BC3953C-9C1B-49F9-970D-3BD1C5E0E9BF}"/>
              </a:ext>
            </a:extLst>
          </p:cNvPr>
          <p:cNvSpPr>
            <a:spLocks xmlns:a="http://schemas.openxmlformats.org/drawingml/2006/main" noGrp="1"/>
          </p:cNvSpPr>
          <p:nvPr/>
        </p:nvSpPr>
        <p:spPr>
          <a:xfrm xmlns:a="http://schemas.openxmlformats.org/drawingml/2006/main">
            <a:off x="666750" y="24384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05 Concepto rector</a:t>
            </a:r>
          </a:p>
        </p:txBody>
      </p:sp>
      <p:sp>
        <p:nvSpPr>
          <p:cNvPr id="42" name="">
            <a:extLst xmlns:a="http://schemas.openxmlformats.org/drawingml/2006/main">
              <a:ext uri="{FF2B5EF4-FFF2-40B4-BE49-F238E27FC236}">
                <a16:creationId xmlns:a16="http://schemas.microsoft.com/office/drawing/2014/main" id="{88BF3865-7C87-4C3A-B031-1ADC3678DF54}"/>
              </a:ext>
            </a:extLst>
          </p:cNvPr>
          <p:cNvSpPr>
            <a:spLocks xmlns:a="http://schemas.openxmlformats.org/drawingml/2006/main" noGrp="1"/>
          </p:cNvSpPr>
          <p:nvPr/>
        </p:nvSpPr>
        <p:spPr>
          <a:xfrm xmlns:a="http://schemas.openxmlformats.org/drawingml/2006/main">
            <a:off x="3343275" y="23431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3" name="">
            <a:extLst xmlns:a="http://schemas.openxmlformats.org/drawingml/2006/main">
              <a:ext uri="{FF2B5EF4-FFF2-40B4-BE49-F238E27FC236}">
                <a16:creationId xmlns:a16="http://schemas.microsoft.com/office/drawing/2014/main" id="{8CC42624-C019-42E6-979A-3D7DBBE1C28A}"/>
              </a:ext>
            </a:extLst>
          </p:cNvPr>
          <p:cNvSpPr>
            <a:spLocks xmlns:a="http://schemas.openxmlformats.org/drawingml/2006/main" noGrp="1"/>
          </p:cNvSpPr>
          <p:nvPr/>
        </p:nvSpPr>
        <p:spPr>
          <a:xfrm xmlns:a="http://schemas.openxmlformats.org/drawingml/2006/main">
            <a:off x="3476625" y="24384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06 IME Conecta</a:t>
            </a:r>
          </a:p>
        </p:txBody>
      </p:sp>
      <p:sp>
        <p:nvSpPr>
          <p:cNvPr id="44" name="">
            <a:extLst xmlns:a="http://schemas.openxmlformats.org/drawingml/2006/main">
              <a:ext uri="{FF2B5EF4-FFF2-40B4-BE49-F238E27FC236}">
                <a16:creationId xmlns:a16="http://schemas.microsoft.com/office/drawing/2014/main" id="{EE4CC655-14EA-4EF8-B9AB-075B2FAA8CAF}"/>
              </a:ext>
            </a:extLst>
          </p:cNvPr>
          <p:cNvSpPr>
            <a:spLocks xmlns:a="http://schemas.openxmlformats.org/drawingml/2006/main" noGrp="1"/>
          </p:cNvSpPr>
          <p:nvPr/>
        </p:nvSpPr>
        <p:spPr>
          <a:xfrm xmlns:a="http://schemas.openxmlformats.org/drawingml/2006/main">
            <a:off x="6153150" y="23431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5" name="">
            <a:extLst xmlns:a="http://schemas.openxmlformats.org/drawingml/2006/main">
              <a:ext uri="{FF2B5EF4-FFF2-40B4-BE49-F238E27FC236}">
                <a16:creationId xmlns:a16="http://schemas.microsoft.com/office/drawing/2014/main" id="{84C024BB-8E09-4447-A0DC-0095B8EB9EBA}"/>
              </a:ext>
            </a:extLst>
          </p:cNvPr>
          <p:cNvSpPr>
            <a:spLocks xmlns:a="http://schemas.openxmlformats.org/drawingml/2006/main" noGrp="1"/>
          </p:cNvSpPr>
          <p:nvPr/>
        </p:nvSpPr>
        <p:spPr>
          <a:xfrm xmlns:a="http://schemas.openxmlformats.org/drawingml/2006/main">
            <a:off x="6286500" y="24384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07 Usabilidad web</a:t>
            </a:r>
          </a:p>
        </p:txBody>
      </p:sp>
      <p:sp>
        <p:nvSpPr>
          <p:cNvPr id="46" name="">
            <a:extLst xmlns:a="http://schemas.openxmlformats.org/drawingml/2006/main">
              <a:ext uri="{FF2B5EF4-FFF2-40B4-BE49-F238E27FC236}">
                <a16:creationId xmlns:a16="http://schemas.microsoft.com/office/drawing/2014/main" id="{73BA4993-7AEF-4956-AF01-036CF7BCDD77}"/>
              </a:ext>
            </a:extLst>
          </p:cNvPr>
          <p:cNvSpPr>
            <a:spLocks xmlns:a="http://schemas.openxmlformats.org/drawingml/2006/main" noGrp="1"/>
          </p:cNvSpPr>
          <p:nvPr/>
        </p:nvSpPr>
        <p:spPr>
          <a:xfrm xmlns:a="http://schemas.openxmlformats.org/drawingml/2006/main">
            <a:off x="8963025" y="23431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7" name="">
            <a:extLst xmlns:a="http://schemas.openxmlformats.org/drawingml/2006/main">
              <a:ext uri="{FF2B5EF4-FFF2-40B4-BE49-F238E27FC236}">
                <a16:creationId xmlns:a16="http://schemas.microsoft.com/office/drawing/2014/main" id="{589CA2EB-5872-45C8-A97B-A22B2B5F250F}"/>
              </a:ext>
            </a:extLst>
          </p:cNvPr>
          <p:cNvSpPr>
            <a:spLocks xmlns:a="http://schemas.openxmlformats.org/drawingml/2006/main" noGrp="1"/>
          </p:cNvSpPr>
          <p:nvPr/>
        </p:nvSpPr>
        <p:spPr>
          <a:xfrm xmlns:a="http://schemas.openxmlformats.org/drawingml/2006/main">
            <a:off x="9096375" y="24384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08 Sercotec</a:t>
            </a:r>
          </a:p>
        </p:txBody>
      </p:sp>
      <p:sp>
        <p:nvSpPr>
          <p:cNvPr id="48" name="">
            <a:extLst xmlns:a="http://schemas.openxmlformats.org/drawingml/2006/main">
              <a:ext uri="{FF2B5EF4-FFF2-40B4-BE49-F238E27FC236}">
                <a16:creationId xmlns:a16="http://schemas.microsoft.com/office/drawing/2014/main" id="{AF97C2CB-E8B1-4CF9-93CF-AF51C6CD0E98}"/>
              </a:ext>
            </a:extLst>
          </p:cNvPr>
          <p:cNvSpPr>
            <a:spLocks xmlns:a="http://schemas.openxmlformats.org/drawingml/2006/main" noGrp="1"/>
          </p:cNvSpPr>
          <p:nvPr/>
        </p:nvSpPr>
        <p:spPr>
          <a:xfrm xmlns:a="http://schemas.openxmlformats.org/drawingml/2006/main">
            <a:off x="533400" y="29908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9" name="">
            <a:extLst xmlns:a="http://schemas.openxmlformats.org/drawingml/2006/main">
              <a:ext uri="{FF2B5EF4-FFF2-40B4-BE49-F238E27FC236}">
                <a16:creationId xmlns:a16="http://schemas.microsoft.com/office/drawing/2014/main" id="{CFB89039-3AE5-4347-8FF8-BCFC3EA880BC}"/>
              </a:ext>
            </a:extLst>
          </p:cNvPr>
          <p:cNvSpPr>
            <a:spLocks xmlns:a="http://schemas.openxmlformats.org/drawingml/2006/main" noGrp="1"/>
          </p:cNvSpPr>
          <p:nvPr/>
        </p:nvSpPr>
        <p:spPr>
          <a:xfrm xmlns:a="http://schemas.openxmlformats.org/drawingml/2006/main">
            <a:off x="666750" y="30861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09 IME Link 2027</a:t>
            </a:r>
          </a:p>
        </p:txBody>
      </p:sp>
      <p:sp>
        <p:nvSpPr>
          <p:cNvPr id="50" name="">
            <a:extLst xmlns:a="http://schemas.openxmlformats.org/drawingml/2006/main">
              <a:ext uri="{FF2B5EF4-FFF2-40B4-BE49-F238E27FC236}">
                <a16:creationId xmlns:a16="http://schemas.microsoft.com/office/drawing/2014/main" id="{904B1111-9092-4922-9DF0-364F8705E184}"/>
              </a:ext>
            </a:extLst>
          </p:cNvPr>
          <p:cNvSpPr>
            <a:spLocks xmlns:a="http://schemas.openxmlformats.org/drawingml/2006/main" noGrp="1"/>
          </p:cNvSpPr>
          <p:nvPr/>
        </p:nvSpPr>
        <p:spPr>
          <a:xfrm xmlns:a="http://schemas.openxmlformats.org/drawingml/2006/main">
            <a:off x="3343275" y="29908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51" name="">
            <a:extLst xmlns:a="http://schemas.openxmlformats.org/drawingml/2006/main">
              <a:ext uri="{FF2B5EF4-FFF2-40B4-BE49-F238E27FC236}">
                <a16:creationId xmlns:a16="http://schemas.microsoft.com/office/drawing/2014/main" id="{00DB9177-E8C9-4ECD-80C2-22529C3CD92C}"/>
              </a:ext>
            </a:extLst>
          </p:cNvPr>
          <p:cNvSpPr>
            <a:spLocks xmlns:a="http://schemas.openxmlformats.org/drawingml/2006/main" noGrp="1"/>
          </p:cNvSpPr>
          <p:nvPr/>
        </p:nvSpPr>
        <p:spPr>
          <a:xfrm xmlns:a="http://schemas.openxmlformats.org/drawingml/2006/main">
            <a:off x="3476625" y="30861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10 Gobernanza</a:t>
            </a:r>
          </a:p>
        </p:txBody>
      </p:sp>
      <p:sp>
        <p:nvSpPr>
          <p:cNvPr id="52" name="">
            <a:extLst xmlns:a="http://schemas.openxmlformats.org/drawingml/2006/main">
              <a:ext uri="{FF2B5EF4-FFF2-40B4-BE49-F238E27FC236}">
                <a16:creationId xmlns:a16="http://schemas.microsoft.com/office/drawing/2014/main" id="{F35D4223-419D-44AF-9616-FA14C7DA9F5E}"/>
              </a:ext>
            </a:extLst>
          </p:cNvPr>
          <p:cNvSpPr>
            <a:spLocks xmlns:a="http://schemas.openxmlformats.org/drawingml/2006/main" noGrp="1"/>
          </p:cNvSpPr>
          <p:nvPr/>
        </p:nvSpPr>
        <p:spPr>
          <a:xfrm xmlns:a="http://schemas.openxmlformats.org/drawingml/2006/main">
            <a:off x="6153150" y="29908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53" name="">
            <a:extLst xmlns:a="http://schemas.openxmlformats.org/drawingml/2006/main">
              <a:ext uri="{FF2B5EF4-FFF2-40B4-BE49-F238E27FC236}">
                <a16:creationId xmlns:a16="http://schemas.microsoft.com/office/drawing/2014/main" id="{4BE4FEED-C310-4904-B7E9-07E635E3ED5E}"/>
              </a:ext>
            </a:extLst>
          </p:cNvPr>
          <p:cNvSpPr>
            <a:spLocks xmlns:a="http://schemas.openxmlformats.org/drawingml/2006/main" noGrp="1"/>
          </p:cNvSpPr>
          <p:nvPr/>
        </p:nvSpPr>
        <p:spPr>
          <a:xfrm xmlns:a="http://schemas.openxmlformats.org/drawingml/2006/main">
            <a:off x="6286500" y="30861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11 Carteras</a:t>
            </a:r>
          </a:p>
        </p:txBody>
      </p:sp>
      <p:sp>
        <p:nvSpPr>
          <p:cNvPr id="54" name="">
            <a:extLst xmlns:a="http://schemas.openxmlformats.org/drawingml/2006/main">
              <a:ext uri="{FF2B5EF4-FFF2-40B4-BE49-F238E27FC236}">
                <a16:creationId xmlns:a16="http://schemas.microsoft.com/office/drawing/2014/main" id="{3FCDB54B-4D7F-4C7F-A293-F98A8A7391AF}"/>
              </a:ext>
            </a:extLst>
          </p:cNvPr>
          <p:cNvSpPr>
            <a:spLocks xmlns:a="http://schemas.openxmlformats.org/drawingml/2006/main" noGrp="1"/>
          </p:cNvSpPr>
          <p:nvPr/>
        </p:nvSpPr>
        <p:spPr>
          <a:xfrm xmlns:a="http://schemas.openxmlformats.org/drawingml/2006/main">
            <a:off x="8963025" y="29908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55" name="">
            <a:extLst xmlns:a="http://schemas.openxmlformats.org/drawingml/2006/main">
              <a:ext uri="{FF2B5EF4-FFF2-40B4-BE49-F238E27FC236}">
                <a16:creationId xmlns:a16="http://schemas.microsoft.com/office/drawing/2014/main" id="{A64EC36C-2FC5-44E5-82F6-6EF9F1A1DB13}"/>
              </a:ext>
            </a:extLst>
          </p:cNvPr>
          <p:cNvSpPr>
            <a:spLocks xmlns:a="http://schemas.openxmlformats.org/drawingml/2006/main" noGrp="1"/>
          </p:cNvSpPr>
          <p:nvPr/>
        </p:nvSpPr>
        <p:spPr>
          <a:xfrm xmlns:a="http://schemas.openxmlformats.org/drawingml/2006/main">
            <a:off x="9096375" y="30861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12 Separacion directiva / operativa</a:t>
            </a:r>
          </a:p>
        </p:txBody>
      </p:sp>
      <p:sp>
        <p:nvSpPr>
          <p:cNvPr id="56" name="">
            <a:extLst xmlns:a="http://schemas.openxmlformats.org/drawingml/2006/main">
              <a:ext uri="{FF2B5EF4-FFF2-40B4-BE49-F238E27FC236}">
                <a16:creationId xmlns:a16="http://schemas.microsoft.com/office/drawing/2014/main" id="{8966C548-C2D1-430F-9CAD-C7D0FF0615B3}"/>
              </a:ext>
            </a:extLst>
          </p:cNvPr>
          <p:cNvSpPr>
            <a:spLocks xmlns:a="http://schemas.openxmlformats.org/drawingml/2006/main" noGrp="1"/>
          </p:cNvSpPr>
          <p:nvPr/>
        </p:nvSpPr>
        <p:spPr>
          <a:xfrm xmlns:a="http://schemas.openxmlformats.org/drawingml/2006/main">
            <a:off x="533400" y="36385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57" name="">
            <a:extLst xmlns:a="http://schemas.openxmlformats.org/drawingml/2006/main">
              <a:ext uri="{FF2B5EF4-FFF2-40B4-BE49-F238E27FC236}">
                <a16:creationId xmlns:a16="http://schemas.microsoft.com/office/drawing/2014/main" id="{B909BA1B-4746-49E0-8928-E6284B5711A1}"/>
              </a:ext>
            </a:extLst>
          </p:cNvPr>
          <p:cNvSpPr>
            <a:spLocks xmlns:a="http://schemas.openxmlformats.org/drawingml/2006/main" noGrp="1"/>
          </p:cNvSpPr>
          <p:nvPr/>
        </p:nvSpPr>
        <p:spPr>
          <a:xfrm xmlns:a="http://schemas.openxmlformats.org/drawingml/2006/main">
            <a:off x="666750" y="37338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13 Datos y activos</a:t>
            </a:r>
          </a:p>
        </p:txBody>
      </p:sp>
      <p:sp>
        <p:nvSpPr>
          <p:cNvPr id="58" name="">
            <a:extLst xmlns:a="http://schemas.openxmlformats.org/drawingml/2006/main">
              <a:ext uri="{FF2B5EF4-FFF2-40B4-BE49-F238E27FC236}">
                <a16:creationId xmlns:a16="http://schemas.microsoft.com/office/drawing/2014/main" id="{BFA4B5CB-0F42-4E77-8F1A-18FA430169A5}"/>
              </a:ext>
            </a:extLst>
          </p:cNvPr>
          <p:cNvSpPr>
            <a:spLocks xmlns:a="http://schemas.openxmlformats.org/drawingml/2006/main" noGrp="1"/>
          </p:cNvSpPr>
          <p:nvPr/>
        </p:nvSpPr>
        <p:spPr>
          <a:xfrm xmlns:a="http://schemas.openxmlformats.org/drawingml/2006/main">
            <a:off x="3343275" y="36385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59" name="">
            <a:extLst xmlns:a="http://schemas.openxmlformats.org/drawingml/2006/main">
              <a:ext uri="{FF2B5EF4-FFF2-40B4-BE49-F238E27FC236}">
                <a16:creationId xmlns:a16="http://schemas.microsoft.com/office/drawing/2014/main" id="{6FE98AB0-2BD2-4BF9-BA5A-C1A187636C53}"/>
              </a:ext>
            </a:extLst>
          </p:cNvPr>
          <p:cNvSpPr>
            <a:spLocks xmlns:a="http://schemas.openxmlformats.org/drawingml/2006/main" noGrp="1"/>
          </p:cNvSpPr>
          <p:nvPr/>
        </p:nvSpPr>
        <p:spPr>
          <a:xfrm xmlns:a="http://schemas.openxmlformats.org/drawingml/2006/main">
            <a:off x="3476625" y="37338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14 Riesgos</a:t>
            </a:r>
          </a:p>
        </p:txBody>
      </p:sp>
      <p:sp>
        <p:nvSpPr>
          <p:cNvPr id="60" name="">
            <a:extLst xmlns:a="http://schemas.openxmlformats.org/drawingml/2006/main">
              <a:ext uri="{FF2B5EF4-FFF2-40B4-BE49-F238E27FC236}">
                <a16:creationId xmlns:a16="http://schemas.microsoft.com/office/drawing/2014/main" id="{509FE577-47B5-4D81-A6B9-AFF39BC2F7C4}"/>
              </a:ext>
            </a:extLst>
          </p:cNvPr>
          <p:cNvSpPr>
            <a:spLocks xmlns:a="http://schemas.openxmlformats.org/drawingml/2006/main" noGrp="1"/>
          </p:cNvSpPr>
          <p:nvPr/>
        </p:nvSpPr>
        <p:spPr>
          <a:xfrm xmlns:a="http://schemas.openxmlformats.org/drawingml/2006/main">
            <a:off x="6153150" y="36385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61" name="">
            <a:extLst xmlns:a="http://schemas.openxmlformats.org/drawingml/2006/main">
              <a:ext uri="{FF2B5EF4-FFF2-40B4-BE49-F238E27FC236}">
                <a16:creationId xmlns:a16="http://schemas.microsoft.com/office/drawing/2014/main" id="{EDD21827-A1C6-451E-8F7F-B679E9E4F1A2}"/>
              </a:ext>
            </a:extLst>
          </p:cNvPr>
          <p:cNvSpPr>
            <a:spLocks xmlns:a="http://schemas.openxmlformats.org/drawingml/2006/main" noGrp="1"/>
          </p:cNvSpPr>
          <p:nvPr/>
        </p:nvSpPr>
        <p:spPr>
          <a:xfrm xmlns:a="http://schemas.openxmlformats.org/drawingml/2006/main">
            <a:off x="6286500" y="37338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15 Ruta</a:t>
            </a:r>
          </a:p>
        </p:txBody>
      </p:sp>
      <p:sp>
        <p:nvSpPr>
          <p:cNvPr id="62" name="">
            <a:extLst xmlns:a="http://schemas.openxmlformats.org/drawingml/2006/main">
              <a:ext uri="{FF2B5EF4-FFF2-40B4-BE49-F238E27FC236}">
                <a16:creationId xmlns:a16="http://schemas.microsoft.com/office/drawing/2014/main" id="{069AD3E7-795B-40F3-A0F3-9DB886ACE9BB}"/>
              </a:ext>
            </a:extLst>
          </p:cNvPr>
          <p:cNvSpPr>
            <a:spLocks xmlns:a="http://schemas.openxmlformats.org/drawingml/2006/main" noGrp="1"/>
          </p:cNvSpPr>
          <p:nvPr/>
        </p:nvSpPr>
        <p:spPr>
          <a:xfrm xmlns:a="http://schemas.openxmlformats.org/drawingml/2006/main">
            <a:off x="8963025" y="36385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63" name="">
            <a:extLst xmlns:a="http://schemas.openxmlformats.org/drawingml/2006/main">
              <a:ext uri="{FF2B5EF4-FFF2-40B4-BE49-F238E27FC236}">
                <a16:creationId xmlns:a16="http://schemas.microsoft.com/office/drawing/2014/main" id="{5F6B1A9C-05F2-434F-A32C-37DCA4EBD583}"/>
              </a:ext>
            </a:extLst>
          </p:cNvPr>
          <p:cNvSpPr>
            <a:spLocks xmlns:a="http://schemas.openxmlformats.org/drawingml/2006/main" noGrp="1"/>
          </p:cNvSpPr>
          <p:nvPr/>
        </p:nvSpPr>
        <p:spPr>
          <a:xfrm xmlns:a="http://schemas.openxmlformats.org/drawingml/2006/main">
            <a:off x="9096375" y="37338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16 Discusion</a:t>
            </a:r>
          </a:p>
        </p:txBody>
      </p:sp>
      <p:sp>
        <p:nvSpPr>
          <p:cNvPr id="64" name="">
            <a:extLst xmlns:a="http://schemas.openxmlformats.org/drawingml/2006/main">
              <a:ext uri="{FF2B5EF4-FFF2-40B4-BE49-F238E27FC236}">
                <a16:creationId xmlns:a16="http://schemas.microsoft.com/office/drawing/2014/main" id="{FFA37F82-5AC6-4FD7-81EB-30F0D9095A72}"/>
              </a:ext>
            </a:extLst>
          </p:cNvPr>
          <p:cNvSpPr>
            <a:spLocks xmlns:a="http://schemas.openxmlformats.org/drawingml/2006/main" noGrp="1"/>
          </p:cNvSpPr>
          <p:nvPr/>
        </p:nvSpPr>
        <p:spPr>
          <a:xfrm xmlns:a="http://schemas.openxmlformats.org/drawingml/2006/main">
            <a:off x="533400" y="42862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65" name="">
            <a:extLst xmlns:a="http://schemas.openxmlformats.org/drawingml/2006/main">
              <a:ext uri="{FF2B5EF4-FFF2-40B4-BE49-F238E27FC236}">
                <a16:creationId xmlns:a16="http://schemas.microsoft.com/office/drawing/2014/main" id="{58CDB4CB-135B-4102-8C87-A3EEE911FCA2}"/>
              </a:ext>
            </a:extLst>
          </p:cNvPr>
          <p:cNvSpPr>
            <a:spLocks xmlns:a="http://schemas.openxmlformats.org/drawingml/2006/main" noGrp="1"/>
          </p:cNvSpPr>
          <p:nvPr/>
        </p:nvSpPr>
        <p:spPr>
          <a:xfrm xmlns:a="http://schemas.openxmlformats.org/drawingml/2006/main">
            <a:off x="666750" y="43815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17 Acuerdos</a:t>
            </a:r>
          </a:p>
        </p:txBody>
      </p:sp>
      <p:sp>
        <p:nvSpPr>
          <p:cNvPr id="66" name="">
            <a:extLst xmlns:a="http://schemas.openxmlformats.org/drawingml/2006/main">
              <a:ext uri="{FF2B5EF4-FFF2-40B4-BE49-F238E27FC236}">
                <a16:creationId xmlns:a16="http://schemas.microsoft.com/office/drawing/2014/main" id="{CDFD38E9-D138-4E31-AD06-5112E3E81899}"/>
              </a:ext>
            </a:extLst>
          </p:cNvPr>
          <p:cNvSpPr>
            <a:spLocks xmlns:a="http://schemas.openxmlformats.org/drawingml/2006/main" noGrp="1"/>
          </p:cNvSpPr>
          <p:nvPr/>
        </p:nvSpPr>
        <p:spPr>
          <a:xfrm xmlns:a="http://schemas.openxmlformats.org/drawingml/2006/main">
            <a:off x="3343275" y="4286250"/>
            <a:ext cx="2695575"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67" name="">
            <a:extLst xmlns:a="http://schemas.openxmlformats.org/drawingml/2006/main">
              <a:ext uri="{FF2B5EF4-FFF2-40B4-BE49-F238E27FC236}">
                <a16:creationId xmlns:a16="http://schemas.microsoft.com/office/drawing/2014/main" id="{6E8E3B89-3ABC-477D-9EF3-C40BD5825EA4}"/>
              </a:ext>
            </a:extLst>
          </p:cNvPr>
          <p:cNvSpPr>
            <a:spLocks xmlns:a="http://schemas.openxmlformats.org/drawingml/2006/main" noGrp="1"/>
          </p:cNvSpPr>
          <p:nvPr/>
        </p:nvSpPr>
        <p:spPr>
          <a:xfrm xmlns:a="http://schemas.openxmlformats.org/drawingml/2006/main">
            <a:off x="3476625" y="4381500"/>
            <a:ext cx="24288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18 Cierre</a:t>
            </a:r>
          </a:p>
        </p:txBody>
      </p:sp>
      <p:sp>
        <p:nvSpPr>
          <p:cNvPr id="68" name="">
            <a:extLst xmlns:a="http://schemas.openxmlformats.org/drawingml/2006/main">
              <a:ext uri="{FF2B5EF4-FFF2-40B4-BE49-F238E27FC236}">
                <a16:creationId xmlns:a16="http://schemas.microsoft.com/office/drawing/2014/main" id="{8FC3A48C-B502-4B21-A79D-5787A4F0EFCE}"/>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943A9E4E-78BC-4ACF-A821-115733E22938}"/>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70" name="">
            <a:extLst xmlns:a="http://schemas.openxmlformats.org/drawingml/2006/main">
              <a:ext uri="{FF2B5EF4-FFF2-40B4-BE49-F238E27FC236}">
                <a16:creationId xmlns:a16="http://schemas.microsoft.com/office/drawing/2014/main" id="{D17CF9B7-48DE-483C-8304-6BDE5B0F2FBB}"/>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02 / 20</a:t>
            </a:r>
          </a:p>
        </p:txBody>
      </p:sp>
    </p:spTree>
    <p:extLst>
      <p:ext uri="{BB962C8B-B14F-4D97-AF65-F5344CB8AC3E}">
        <p14:creationId xmlns:p14="http://schemas.microsoft.com/office/powerpoint/2010/main" val="16455262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7B9F3B-DAB1-41F5-9654-D1D1A330D8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3967530-D90D-4E20-8D46-F5BECA12553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B4870A-F34A-4ADC-A284-30A72C2DE0D2}"/>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5242C7B-43D5-4E1D-98FD-A149FEFD719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06B97E3-C3EF-44AA-A203-C6075E58128B}"/>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3DBFF9D-A17F-4456-87E3-FC541133B3B9}"/>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5C985ED-DE42-47D1-8451-D855A591EE4A}"/>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B736A10-EE3C-4C5D-BD73-01A658C0E809}"/>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A9EAB48-D8DE-4369-9EA3-2E45BE0622B3}"/>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9AEB600-3932-4A64-903A-6F9124322D59}"/>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31A05CD-635B-4D79-9D92-A234533F9AEA}"/>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83DA9C4-F676-4506-91A4-D74B8711641C}"/>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2F786A3-433F-4034-9732-3F734C34D69C}"/>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009189F-BCB4-4B6F-A7E3-31F117E01F4B}"/>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945D0AA-8DB3-4878-9121-271259AD138C}"/>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002739D-32E4-461E-9EA8-664707071E2D}"/>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CA417C2-F5A0-4E8A-8E6D-B12C801BD384}"/>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31C7DB5-4CE7-41C9-A5D6-D23C35EF95C6}"/>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2EBE08A-F435-4111-9441-6D36BC914BAF}"/>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B56D2FA-6858-4253-8698-A788CAB58DFC}"/>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E199C85-9E80-4948-93DF-0A45346B378D}"/>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A18C985-A853-4530-8DDF-4EE307E5C66B}"/>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9926ECC-5C07-4BD2-A130-402DF3BDF399}"/>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A4785D4-4E5A-4404-8F19-EC819577A396}"/>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9B191CB3-6D33-4FC7-A9A8-AB99AD28CEF5}"/>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691FB5B-95BC-4FB9-B050-290B39B909C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1B3A7786-9F28-4614-8E88-783AE29BB49A}"/>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E64DC18-7A02-4C43-8421-DF9F5A5770A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755D1"/>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C6100445-3B46-4E62-824E-FB3551704266}"/>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F49F18A0-02B7-4F5E-B5B7-25A788A20AB8}"/>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03 · PUNTO DE PARTIDA</a:t>
            </a:r>
          </a:p>
        </p:txBody>
      </p:sp>
      <p:sp>
        <p:nvSpPr>
          <p:cNvPr id="31" name="">
            <a:extLst xmlns:a="http://schemas.openxmlformats.org/drawingml/2006/main">
              <a:ext uri="{FF2B5EF4-FFF2-40B4-BE49-F238E27FC236}">
                <a16:creationId xmlns:a16="http://schemas.microsoft.com/office/drawing/2014/main" id="{47539F8D-9DE9-494D-9DB2-B70291F40965}"/>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nueva escala exige estructura operacional antes de seguir creciendo.</a:t>
            </a:r>
          </a:p>
        </p:txBody>
      </p:sp>
      <p:sp>
        <p:nvSpPr>
          <p:cNvPr id="32" name="">
            <a:extLst xmlns:a="http://schemas.openxmlformats.org/drawingml/2006/main">
              <a:ext uri="{FF2B5EF4-FFF2-40B4-BE49-F238E27FC236}">
                <a16:creationId xmlns:a16="http://schemas.microsoft.com/office/drawing/2014/main" id="{0808FAB3-A535-43C6-B015-1C1FB408E615}"/>
              </a:ext>
            </a:extLst>
          </p:cNvPr>
          <p:cNvSpPr>
            <a:spLocks xmlns:a="http://schemas.openxmlformats.org/drawingml/2006/main" noGrp="1"/>
          </p:cNvSpPr>
          <p:nvPr/>
        </p:nvSpPr>
        <p:spPr>
          <a:xfrm xmlns:a="http://schemas.openxmlformats.org/drawingml/2006/main">
            <a:off x="514350" y="2000250"/>
            <a:ext cx="5143500" cy="17145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0C6BADA7-1049-431D-B7C0-3327D2CCAED2}"/>
              </a:ext>
            </a:extLst>
          </p:cNvPr>
          <p:cNvSpPr>
            <a:spLocks xmlns:a="http://schemas.openxmlformats.org/drawingml/2006/main" noGrp="1"/>
          </p:cNvSpPr>
          <p:nvPr/>
        </p:nvSpPr>
        <p:spPr>
          <a:xfrm xmlns:a="http://schemas.openxmlformats.org/drawingml/2006/main">
            <a:off x="723900" y="2152650"/>
            <a:ext cx="47244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IME Chile entra en una etapa de mayor envergadura gremial. Esto implica mas proyectos, mas alianzas, mas informacion, mas expectativas y mayor responsabilidad institucional.</a:t>
            </a:r>
          </a:p>
        </p:txBody>
      </p:sp>
      <p:sp>
        <p:nvSpPr>
          <p:cNvPr id="34" name="">
            <a:extLst xmlns:a="http://schemas.openxmlformats.org/drawingml/2006/main">
              <a:ext uri="{FF2B5EF4-FFF2-40B4-BE49-F238E27FC236}">
                <a16:creationId xmlns:a16="http://schemas.microsoft.com/office/drawing/2014/main" id="{80054C8E-7DB8-480F-89B8-9BF2435D8261}"/>
              </a:ext>
            </a:extLst>
          </p:cNvPr>
          <p:cNvSpPr>
            <a:spLocks xmlns:a="http://schemas.openxmlformats.org/drawingml/2006/main" noGrp="1"/>
          </p:cNvSpPr>
          <p:nvPr/>
        </p:nvSpPr>
        <p:spPr>
          <a:xfrm xmlns:a="http://schemas.openxmlformats.org/drawingml/2006/main">
            <a:off x="6191250" y="1981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AFBFAE00-C833-430C-8E28-84270DE622D8}"/>
              </a:ext>
            </a:extLst>
          </p:cNvPr>
          <p:cNvSpPr>
            <a:spLocks xmlns:a="http://schemas.openxmlformats.org/drawingml/2006/main" noGrp="1"/>
          </p:cNvSpPr>
          <p:nvPr/>
        </p:nvSpPr>
        <p:spPr>
          <a:xfrm xmlns:a="http://schemas.openxmlformats.org/drawingml/2006/main">
            <a:off x="6438900" y="1905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Mas proyectos estrategicos.</a:t>
            </a:r>
          </a:p>
        </p:txBody>
      </p:sp>
      <p:sp>
        <p:nvSpPr>
          <p:cNvPr id="36" name="">
            <a:extLst xmlns:a="http://schemas.openxmlformats.org/drawingml/2006/main">
              <a:ext uri="{FF2B5EF4-FFF2-40B4-BE49-F238E27FC236}">
                <a16:creationId xmlns:a16="http://schemas.microsoft.com/office/drawing/2014/main" id="{5AFA9A9E-A15F-45DA-A6C4-F3071E87BA8C}"/>
              </a:ext>
            </a:extLst>
          </p:cNvPr>
          <p:cNvSpPr>
            <a:spLocks xmlns:a="http://schemas.openxmlformats.org/drawingml/2006/main" noGrp="1"/>
          </p:cNvSpPr>
          <p:nvPr/>
        </p:nvSpPr>
        <p:spPr>
          <a:xfrm xmlns:a="http://schemas.openxmlformats.org/drawingml/2006/main">
            <a:off x="6191250" y="24574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A8D9D2A3-DE20-4652-9E0C-EDCB026C8B38}"/>
              </a:ext>
            </a:extLst>
          </p:cNvPr>
          <p:cNvSpPr>
            <a:spLocks xmlns:a="http://schemas.openxmlformats.org/drawingml/2006/main" noGrp="1"/>
          </p:cNvSpPr>
          <p:nvPr/>
        </p:nvSpPr>
        <p:spPr>
          <a:xfrm xmlns:a="http://schemas.openxmlformats.org/drawingml/2006/main">
            <a:off x="6438900" y="23812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Mas vinculos institucionales.</a:t>
            </a:r>
          </a:p>
        </p:txBody>
      </p:sp>
      <p:sp>
        <p:nvSpPr>
          <p:cNvPr id="38" name="">
            <a:extLst xmlns:a="http://schemas.openxmlformats.org/drawingml/2006/main">
              <a:ext uri="{FF2B5EF4-FFF2-40B4-BE49-F238E27FC236}">
                <a16:creationId xmlns:a16="http://schemas.microsoft.com/office/drawing/2014/main" id="{36EF802E-D10F-45EB-BB52-F78F29748C8B}"/>
              </a:ext>
            </a:extLst>
          </p:cNvPr>
          <p:cNvSpPr>
            <a:spLocks xmlns:a="http://schemas.openxmlformats.org/drawingml/2006/main" noGrp="1"/>
          </p:cNvSpPr>
          <p:nvPr/>
        </p:nvSpPr>
        <p:spPr>
          <a:xfrm xmlns:a="http://schemas.openxmlformats.org/drawingml/2006/main">
            <a:off x="6191250" y="29337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E7307447-880D-45B4-9675-D0C431D0BAEB}"/>
              </a:ext>
            </a:extLst>
          </p:cNvPr>
          <p:cNvSpPr>
            <a:spLocks xmlns:a="http://schemas.openxmlformats.org/drawingml/2006/main" noGrp="1"/>
          </p:cNvSpPr>
          <p:nvPr/>
        </p:nvSpPr>
        <p:spPr>
          <a:xfrm xmlns:a="http://schemas.openxmlformats.org/drawingml/2006/main">
            <a:off x="6438900" y="28575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Mayor necesidad de trazabilidad.</a:t>
            </a:r>
          </a:p>
        </p:txBody>
      </p:sp>
      <p:sp>
        <p:nvSpPr>
          <p:cNvPr id="40" name="">
            <a:extLst xmlns:a="http://schemas.openxmlformats.org/drawingml/2006/main">
              <a:ext uri="{FF2B5EF4-FFF2-40B4-BE49-F238E27FC236}">
                <a16:creationId xmlns:a16="http://schemas.microsoft.com/office/drawing/2014/main" id="{61B97993-9E6E-466C-BC05-425D65F70E69}"/>
              </a:ext>
            </a:extLst>
          </p:cNvPr>
          <p:cNvSpPr>
            <a:spLocks xmlns:a="http://schemas.openxmlformats.org/drawingml/2006/main" noGrp="1"/>
          </p:cNvSpPr>
          <p:nvPr/>
        </p:nvSpPr>
        <p:spPr>
          <a:xfrm xmlns:a="http://schemas.openxmlformats.org/drawingml/2006/main">
            <a:off x="6191250" y="34099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33F9EBC0-DBB7-4ACE-AACF-2AABF2FD2F4A}"/>
              </a:ext>
            </a:extLst>
          </p:cNvPr>
          <p:cNvSpPr>
            <a:spLocks xmlns:a="http://schemas.openxmlformats.org/drawingml/2006/main" noGrp="1"/>
          </p:cNvSpPr>
          <p:nvPr/>
        </p:nvSpPr>
        <p:spPr>
          <a:xfrm xmlns:a="http://schemas.openxmlformats.org/drawingml/2006/main">
            <a:off x="6438900" y="33337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Mayor responsabilidad sobre datos y activos digitales.</a:t>
            </a:r>
          </a:p>
        </p:txBody>
      </p:sp>
      <p:sp>
        <p:nvSpPr>
          <p:cNvPr id="42" name="">
            <a:extLst xmlns:a="http://schemas.openxmlformats.org/drawingml/2006/main">
              <a:ext uri="{FF2B5EF4-FFF2-40B4-BE49-F238E27FC236}">
                <a16:creationId xmlns:a16="http://schemas.microsoft.com/office/drawing/2014/main" id="{AFAB62D6-1594-452B-A94D-C62591905D16}"/>
              </a:ext>
            </a:extLst>
          </p:cNvPr>
          <p:cNvSpPr>
            <a:spLocks xmlns:a="http://schemas.openxmlformats.org/drawingml/2006/main" noGrp="1"/>
          </p:cNvSpPr>
          <p:nvPr/>
        </p:nvSpPr>
        <p:spPr>
          <a:xfrm xmlns:a="http://schemas.openxmlformats.org/drawingml/2006/main">
            <a:off x="6191250" y="3886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C85E0A38-7E88-4C23-9EF1-1F754310FB86}"/>
              </a:ext>
            </a:extLst>
          </p:cNvPr>
          <p:cNvSpPr>
            <a:spLocks xmlns:a="http://schemas.openxmlformats.org/drawingml/2006/main" noGrp="1"/>
          </p:cNvSpPr>
          <p:nvPr/>
        </p:nvSpPr>
        <p:spPr>
          <a:xfrm xmlns:a="http://schemas.openxmlformats.org/drawingml/2006/main">
            <a:off x="6438900" y="3810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Mayor exigencia de coordinacion interna.</a:t>
            </a:r>
          </a:p>
        </p:txBody>
      </p:sp>
      <p:sp>
        <p:nvSpPr>
          <p:cNvPr id="44" name="">
            <a:extLst xmlns:a="http://schemas.openxmlformats.org/drawingml/2006/main">
              <a:ext uri="{FF2B5EF4-FFF2-40B4-BE49-F238E27FC236}">
                <a16:creationId xmlns:a16="http://schemas.microsoft.com/office/drawing/2014/main" id="{FB3D64D0-FC0F-4AAD-9217-514715C2B18F}"/>
              </a:ext>
            </a:extLst>
          </p:cNvPr>
          <p:cNvSpPr>
            <a:spLocks xmlns:a="http://schemas.openxmlformats.org/drawingml/2006/main" noGrp="1"/>
          </p:cNvSpPr>
          <p:nvPr/>
        </p:nvSpPr>
        <p:spPr>
          <a:xfrm xmlns:a="http://schemas.openxmlformats.org/drawingml/2006/main">
            <a:off x="514350" y="5314950"/>
            <a:ext cx="57150" cy="685800"/>
          </a:xfrm>
          <a:prstGeom xmlns:a="http://schemas.openxmlformats.org/drawingml/2006/main" prst="rect">
            <a:avLst/>
          </a:prstGeom>
          <a:solidFill xmlns:a="http://schemas.openxmlformats.org/drawingml/2006/main">
            <a:srgbClr val="83F0E2"/>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F7BF5DBF-9640-4528-AFAF-F3EAC1E43A37}"/>
              </a:ext>
            </a:extLst>
          </p:cNvPr>
          <p:cNvSpPr>
            <a:spLocks xmlns:a="http://schemas.openxmlformats.org/drawingml/2006/main" noGrp="1"/>
          </p:cNvSpPr>
          <p:nvPr/>
        </p:nvSpPr>
        <p:spPr>
          <a:xfrm xmlns:a="http://schemas.openxmlformats.org/drawingml/2006/main">
            <a:off x="609600" y="5314950"/>
            <a:ext cx="10172700" cy="68580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46" name="">
            <a:extLst xmlns:a="http://schemas.openxmlformats.org/drawingml/2006/main">
              <a:ext uri="{FF2B5EF4-FFF2-40B4-BE49-F238E27FC236}">
                <a16:creationId xmlns:a16="http://schemas.microsoft.com/office/drawing/2014/main" id="{24F86182-8854-4C95-A08F-C4A68C023A34}"/>
              </a:ext>
            </a:extLst>
          </p:cNvPr>
          <p:cNvSpPr>
            <a:spLocks xmlns:a="http://schemas.openxmlformats.org/drawingml/2006/main" noGrp="1"/>
          </p:cNvSpPr>
          <p:nvPr/>
        </p:nvSpPr>
        <p:spPr>
          <a:xfrm xmlns:a="http://schemas.openxmlformats.org/drawingml/2006/main">
            <a:off x="781050" y="5467350"/>
            <a:ext cx="98298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83F0E2"/>
                </a:solidFill>
                <a:latin typeface="Aptos"/>
                <a:ea typeface="Aptos"/>
                <a:cs typeface="Aptos"/>
              </a:defRPr>
            </a:pPr>
            <a:r>
              <a:rPr sz="1500" b="1">
                <a:solidFill>
                  <a:srgbClr val="83F0E2"/>
                </a:solidFill>
                <a:latin typeface="Aptos"/>
                <a:ea typeface="Aptos"/>
                <a:cs typeface="Aptos"/>
              </a:rPr>
              <a:t>A mayor envergadura gremial, mayor necesidad de estructura operacional.</a:t>
            </a:r>
          </a:p>
        </p:txBody>
      </p:sp>
      <p:sp>
        <p:nvSpPr>
          <p:cNvPr id="47" name="">
            <a:extLst xmlns:a="http://schemas.openxmlformats.org/drawingml/2006/main">
              <a:ext uri="{FF2B5EF4-FFF2-40B4-BE49-F238E27FC236}">
                <a16:creationId xmlns:a16="http://schemas.microsoft.com/office/drawing/2014/main" id="{74C8B4C5-766F-445E-BB5A-31D06B83EAB0}"/>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1763EE00-7F88-4B3B-B949-AB6E872FE67E}"/>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9" name="">
            <a:extLst xmlns:a="http://schemas.openxmlformats.org/drawingml/2006/main">
              <a:ext uri="{FF2B5EF4-FFF2-40B4-BE49-F238E27FC236}">
                <a16:creationId xmlns:a16="http://schemas.microsoft.com/office/drawing/2014/main" id="{B2D90504-054E-4691-AC50-C68A9BD4F5F4}"/>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03 / 20</a:t>
            </a:r>
          </a:p>
        </p:txBody>
      </p:sp>
    </p:spTree>
    <p:extLst>
      <p:ext uri="{BB962C8B-B14F-4D97-AF65-F5344CB8AC3E}">
        <p14:creationId xmlns:p14="http://schemas.microsoft.com/office/powerpoint/2010/main" val="19363573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897652-0B73-4104-865A-6889E900FB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D8B6B90-C31D-4A45-89CF-F69A24F97902}"/>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9BE8AD9-F315-45B3-B461-BB9601ED46AC}"/>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DC9AE05-AE8B-4AF4-ACD0-49DA73904032}"/>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1C33D9D-7885-47B3-8587-806F2CD61157}"/>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33BD46F-B072-4585-A622-DCD4ED1B507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96A4078-9216-482E-B47F-7EE7C2F3FD5A}"/>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89E9D44-FC60-41DD-AC9D-E1E8ADCB2FAB}"/>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A95F3A0-3546-4B72-BB60-D0EB4CFE5628}"/>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62BD746-A8BA-49B0-BD85-315721EC450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6F9A1BC-B8D1-4311-802E-CC648234FB94}"/>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63519FF-5F99-4737-9CA5-420E105A2A79}"/>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D984067-123A-4A46-8FFE-A263586651A5}"/>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120A962-2812-4B7E-90E4-0CD7F8E50F90}"/>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B7DE145-9671-49E2-8F9A-39BC4D438E4F}"/>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4F57A37-9E6D-49A6-AC9F-B2024B64ED7D}"/>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C5973E2C-AF22-4E19-8FC1-C0416B9EB5DC}"/>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A755A65-8F6F-4A6B-9865-71EA1FD87C41}"/>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794E9EE-4EA4-4979-BACA-69989B0F9450}"/>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C666C35-A7F0-436A-ABD3-2A465CD6A0C2}"/>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2E5B616-9CE9-40ED-B0D1-88F4D2B172CC}"/>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5FC7892-8AF0-4B47-B5DD-BBF6B8C96325}"/>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3C74F97-FBF5-4768-9228-D10E5213D9F0}"/>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8B2E324-C98B-4D84-A8DC-01ADC8FBAB82}"/>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EFBAD93-FAD1-4C9E-AC25-9FFABE49E50F}"/>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0646EC3-EA95-4227-B111-3C12D7E5449C}"/>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4C6E7466-FFFE-4DDB-88E5-77EB762D9455}"/>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7729D47-5B96-46BA-BC05-D5187F80EA1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8214B718-FB44-48E2-88B1-43049985C879}"/>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0923EA55-EA8C-41CA-9116-604A1958EFC0}"/>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04 · MIRADA MACRO</a:t>
            </a:r>
          </a:p>
        </p:txBody>
      </p:sp>
      <p:sp>
        <p:nvSpPr>
          <p:cNvPr id="31" name="">
            <a:extLst xmlns:a="http://schemas.openxmlformats.org/drawingml/2006/main">
              <a:ext uri="{FF2B5EF4-FFF2-40B4-BE49-F238E27FC236}">
                <a16:creationId xmlns:a16="http://schemas.microsoft.com/office/drawing/2014/main" id="{27E68D16-2DD4-4B1C-B785-C5D22D355C17}"/>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musica electronica chilena ya opera como ecosistema productivo y cultural.</a:t>
            </a:r>
          </a:p>
        </p:txBody>
      </p:sp>
      <p:sp>
        <p:nvSpPr>
          <p:cNvPr id="32" name="">
            <a:extLst xmlns:a="http://schemas.openxmlformats.org/drawingml/2006/main">
              <a:ext uri="{FF2B5EF4-FFF2-40B4-BE49-F238E27FC236}">
                <a16:creationId xmlns:a16="http://schemas.microsoft.com/office/drawing/2014/main" id="{D32C162A-A802-47F2-9479-CE3F9E6D9A24}"/>
              </a:ext>
            </a:extLst>
          </p:cNvPr>
          <p:cNvSpPr>
            <a:spLocks xmlns:a="http://schemas.openxmlformats.org/drawingml/2006/main" noGrp="1"/>
          </p:cNvSpPr>
          <p:nvPr/>
        </p:nvSpPr>
        <p:spPr>
          <a:xfrm xmlns:a="http://schemas.openxmlformats.org/drawingml/2006/main">
            <a:off x="514350" y="2000250"/>
            <a:ext cx="5143500" cy="17145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03F757F8-3B4D-4DB7-944E-9660C8668DFB}"/>
              </a:ext>
            </a:extLst>
          </p:cNvPr>
          <p:cNvSpPr>
            <a:spLocks xmlns:a="http://schemas.openxmlformats.org/drawingml/2006/main" noGrp="1"/>
          </p:cNvSpPr>
          <p:nvPr/>
        </p:nvSpPr>
        <p:spPr>
          <a:xfrm xmlns:a="http://schemas.openxmlformats.org/drawingml/2006/main">
            <a:off x="723900" y="2152650"/>
            <a:ext cx="47244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3C8EE"/>
                </a:solidFill>
                <a:latin typeface="Aptos"/>
                <a:ea typeface="Aptos"/>
                <a:cs typeface="Aptos"/>
              </a:defRPr>
            </a:pPr>
            <a:r>
              <a:rPr sz="1425" b="0">
                <a:solidFill>
                  <a:srgbClr val="B3C8EE"/>
                </a:solidFill>
                <a:latin typeface="Aptos"/>
                <a:ea typeface="Aptos"/>
                <a:cs typeface="Aptos"/>
              </a:rPr>
              <a:t>La musica electronica chilena ya no puede entenderse solo como escena o comunidad informal. Tambien requiere representacion gremial, datos, institucionalidad, redes, planificacion y capacidad de gestion.</a:t>
            </a:r>
          </a:p>
        </p:txBody>
      </p:sp>
      <p:sp>
        <p:nvSpPr>
          <p:cNvPr id="34" name="">
            <a:extLst xmlns:a="http://schemas.openxmlformats.org/drawingml/2006/main">
              <a:ext uri="{FF2B5EF4-FFF2-40B4-BE49-F238E27FC236}">
                <a16:creationId xmlns:a16="http://schemas.microsoft.com/office/drawing/2014/main" id="{882DE1A8-0D47-4941-9016-25FC4CF21270}"/>
              </a:ext>
            </a:extLst>
          </p:cNvPr>
          <p:cNvSpPr>
            <a:spLocks xmlns:a="http://schemas.openxmlformats.org/drawingml/2006/main" noGrp="1"/>
          </p:cNvSpPr>
          <p:nvPr/>
        </p:nvSpPr>
        <p:spPr>
          <a:xfrm xmlns:a="http://schemas.openxmlformats.org/drawingml/2006/main">
            <a:off x="6191250" y="1981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E61F51A3-7AF9-4D08-90F7-8515F8EE79AA}"/>
              </a:ext>
            </a:extLst>
          </p:cNvPr>
          <p:cNvSpPr>
            <a:spLocks xmlns:a="http://schemas.openxmlformats.org/drawingml/2006/main" noGrp="1"/>
          </p:cNvSpPr>
          <p:nvPr/>
        </p:nvSpPr>
        <p:spPr>
          <a:xfrm xmlns:a="http://schemas.openxmlformats.org/drawingml/2006/main">
            <a:off x="6438900" y="1905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Ecosistema artistico.</a:t>
            </a:r>
          </a:p>
        </p:txBody>
      </p:sp>
      <p:sp>
        <p:nvSpPr>
          <p:cNvPr id="36" name="">
            <a:extLst xmlns:a="http://schemas.openxmlformats.org/drawingml/2006/main">
              <a:ext uri="{FF2B5EF4-FFF2-40B4-BE49-F238E27FC236}">
                <a16:creationId xmlns:a16="http://schemas.microsoft.com/office/drawing/2014/main" id="{1EBC2265-9524-44A3-AEA7-28ACC14BBB2D}"/>
              </a:ext>
            </a:extLst>
          </p:cNvPr>
          <p:cNvSpPr>
            <a:spLocks xmlns:a="http://schemas.openxmlformats.org/drawingml/2006/main" noGrp="1"/>
          </p:cNvSpPr>
          <p:nvPr/>
        </p:nvSpPr>
        <p:spPr>
          <a:xfrm xmlns:a="http://schemas.openxmlformats.org/drawingml/2006/main">
            <a:off x="6191250" y="24574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45C6C5CB-2311-4F9B-8401-C656A7A8477D}"/>
              </a:ext>
            </a:extLst>
          </p:cNvPr>
          <p:cNvSpPr>
            <a:spLocks xmlns:a="http://schemas.openxmlformats.org/drawingml/2006/main" noGrp="1"/>
          </p:cNvSpPr>
          <p:nvPr/>
        </p:nvSpPr>
        <p:spPr>
          <a:xfrm xmlns:a="http://schemas.openxmlformats.org/drawingml/2006/main">
            <a:off x="6438900" y="23812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Ecosistema tecnico.</a:t>
            </a:r>
          </a:p>
        </p:txBody>
      </p:sp>
      <p:sp>
        <p:nvSpPr>
          <p:cNvPr id="38" name="">
            <a:extLst xmlns:a="http://schemas.openxmlformats.org/drawingml/2006/main">
              <a:ext uri="{FF2B5EF4-FFF2-40B4-BE49-F238E27FC236}">
                <a16:creationId xmlns:a16="http://schemas.microsoft.com/office/drawing/2014/main" id="{83CFAC2F-E875-4C1D-9794-B9AB3CD6B564}"/>
              </a:ext>
            </a:extLst>
          </p:cNvPr>
          <p:cNvSpPr>
            <a:spLocks xmlns:a="http://schemas.openxmlformats.org/drawingml/2006/main" noGrp="1"/>
          </p:cNvSpPr>
          <p:nvPr/>
        </p:nvSpPr>
        <p:spPr>
          <a:xfrm xmlns:a="http://schemas.openxmlformats.org/drawingml/2006/main">
            <a:off x="6191250" y="29337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AE4BCB1F-8519-40A3-BC9E-DD36F4C6D4C5}"/>
              </a:ext>
            </a:extLst>
          </p:cNvPr>
          <p:cNvSpPr>
            <a:spLocks xmlns:a="http://schemas.openxmlformats.org/drawingml/2006/main" noGrp="1"/>
          </p:cNvSpPr>
          <p:nvPr/>
        </p:nvSpPr>
        <p:spPr>
          <a:xfrm xmlns:a="http://schemas.openxmlformats.org/drawingml/2006/main">
            <a:off x="6438900" y="28575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Ecosistema productivo.</a:t>
            </a:r>
          </a:p>
        </p:txBody>
      </p:sp>
      <p:sp>
        <p:nvSpPr>
          <p:cNvPr id="40" name="">
            <a:extLst xmlns:a="http://schemas.openxmlformats.org/drawingml/2006/main">
              <a:ext uri="{FF2B5EF4-FFF2-40B4-BE49-F238E27FC236}">
                <a16:creationId xmlns:a16="http://schemas.microsoft.com/office/drawing/2014/main" id="{3574E270-CC96-47AA-9DF1-7CC6D8083BE0}"/>
              </a:ext>
            </a:extLst>
          </p:cNvPr>
          <p:cNvSpPr>
            <a:spLocks xmlns:a="http://schemas.openxmlformats.org/drawingml/2006/main" noGrp="1"/>
          </p:cNvSpPr>
          <p:nvPr/>
        </p:nvSpPr>
        <p:spPr>
          <a:xfrm xmlns:a="http://schemas.openxmlformats.org/drawingml/2006/main">
            <a:off x="6191250" y="34099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17B9828E-236D-4E76-987F-6290A8A5175B}"/>
              </a:ext>
            </a:extLst>
          </p:cNvPr>
          <p:cNvSpPr>
            <a:spLocks xmlns:a="http://schemas.openxmlformats.org/drawingml/2006/main" noGrp="1"/>
          </p:cNvSpPr>
          <p:nvPr/>
        </p:nvSpPr>
        <p:spPr>
          <a:xfrm xmlns:a="http://schemas.openxmlformats.org/drawingml/2006/main">
            <a:off x="6438900" y="33337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Ecosistema territorial.</a:t>
            </a:r>
          </a:p>
        </p:txBody>
      </p:sp>
      <p:sp>
        <p:nvSpPr>
          <p:cNvPr id="42" name="">
            <a:extLst xmlns:a="http://schemas.openxmlformats.org/drawingml/2006/main">
              <a:ext uri="{FF2B5EF4-FFF2-40B4-BE49-F238E27FC236}">
                <a16:creationId xmlns:a16="http://schemas.microsoft.com/office/drawing/2014/main" id="{2A35797F-36D6-4EBB-B952-234A7FDA10C1}"/>
              </a:ext>
            </a:extLst>
          </p:cNvPr>
          <p:cNvSpPr>
            <a:spLocks xmlns:a="http://schemas.openxmlformats.org/drawingml/2006/main" noGrp="1"/>
          </p:cNvSpPr>
          <p:nvPr/>
        </p:nvSpPr>
        <p:spPr>
          <a:xfrm xmlns:a="http://schemas.openxmlformats.org/drawingml/2006/main">
            <a:off x="6191250" y="3886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766A733C-AFD4-482C-B89B-3AF49967C223}"/>
              </a:ext>
            </a:extLst>
          </p:cNvPr>
          <p:cNvSpPr>
            <a:spLocks xmlns:a="http://schemas.openxmlformats.org/drawingml/2006/main" noGrp="1"/>
          </p:cNvSpPr>
          <p:nvPr/>
        </p:nvSpPr>
        <p:spPr>
          <a:xfrm xmlns:a="http://schemas.openxmlformats.org/drawingml/2006/main">
            <a:off x="6438900" y="3810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Ecosistema digital.</a:t>
            </a:r>
          </a:p>
        </p:txBody>
      </p:sp>
      <p:sp>
        <p:nvSpPr>
          <p:cNvPr id="44" name="">
            <a:extLst xmlns:a="http://schemas.openxmlformats.org/drawingml/2006/main">
              <a:ext uri="{FF2B5EF4-FFF2-40B4-BE49-F238E27FC236}">
                <a16:creationId xmlns:a16="http://schemas.microsoft.com/office/drawing/2014/main" id="{38EEFC5A-81BC-4FB2-B8E7-D1E828793CAD}"/>
              </a:ext>
            </a:extLst>
          </p:cNvPr>
          <p:cNvSpPr>
            <a:spLocks xmlns:a="http://schemas.openxmlformats.org/drawingml/2006/main" noGrp="1"/>
          </p:cNvSpPr>
          <p:nvPr/>
        </p:nvSpPr>
        <p:spPr>
          <a:xfrm xmlns:a="http://schemas.openxmlformats.org/drawingml/2006/main">
            <a:off x="6191250" y="43624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70424A8A-A561-463C-B809-6F47A046374E}"/>
              </a:ext>
            </a:extLst>
          </p:cNvPr>
          <p:cNvSpPr>
            <a:spLocks xmlns:a="http://schemas.openxmlformats.org/drawingml/2006/main" noGrp="1"/>
          </p:cNvSpPr>
          <p:nvPr/>
        </p:nvSpPr>
        <p:spPr>
          <a:xfrm xmlns:a="http://schemas.openxmlformats.org/drawingml/2006/main">
            <a:off x="6438900" y="42862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Ecosistema de datos y memoria cultural.</a:t>
            </a:r>
          </a:p>
        </p:txBody>
      </p:sp>
      <p:sp>
        <p:nvSpPr>
          <p:cNvPr id="46" name="">
            <a:extLst xmlns:a="http://schemas.openxmlformats.org/drawingml/2006/main">
              <a:ext uri="{FF2B5EF4-FFF2-40B4-BE49-F238E27FC236}">
                <a16:creationId xmlns:a16="http://schemas.microsoft.com/office/drawing/2014/main" id="{05817282-C2B2-471C-BD8D-3471C6012BE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6658BB31-8511-4A4F-BE62-2041A559F592}"/>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8" name="">
            <a:extLst xmlns:a="http://schemas.openxmlformats.org/drawingml/2006/main">
              <a:ext uri="{FF2B5EF4-FFF2-40B4-BE49-F238E27FC236}">
                <a16:creationId xmlns:a16="http://schemas.microsoft.com/office/drawing/2014/main" id="{45CFA724-1988-43A7-BE8F-F300F1C5D80E}"/>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04 / 20</a:t>
            </a:r>
          </a:p>
        </p:txBody>
      </p:sp>
    </p:spTree>
    <p:extLst>
      <p:ext uri="{BB962C8B-B14F-4D97-AF65-F5344CB8AC3E}">
        <p14:creationId xmlns:p14="http://schemas.microsoft.com/office/powerpoint/2010/main" val="948324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7EED3B-155B-492B-B5B4-3E9AB360BF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D8721B6-6CD4-4337-A49D-AC72D006373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C0BA879-422A-4AEC-99BF-08E5FC26934A}"/>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1E66E45-41A8-4606-B378-FA986B474895}"/>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C36564D-8008-450C-8ACA-357673C5BD5C}"/>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E03C36C-3C6F-4676-91A9-77B2E2B7A0DA}"/>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E8C4E28-5E60-4F89-A82F-D32575C0B01A}"/>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D2C42C4-C910-4B91-872B-37D2999B302B}"/>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02F594C-D731-42A0-8967-E8209068A2AA}"/>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EC78836-850A-4EC7-9682-5C6938E1CE42}"/>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C5540D1-0661-4DB0-9982-000E5C36EDB8}"/>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0795B13-9577-4A1D-85A5-B77079F17728}"/>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4DB6995-49A8-413D-9200-C306D6ADF17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C1ADBA9-5C8C-4DA1-975F-BFDAC0064EB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6AE370F-41FB-4828-BE3A-E31998E187C9}"/>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96486CF-B38A-4CB0-8A1D-3B6D5523BE8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80C93B6-788A-404D-B613-E6358A2E18B7}"/>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584D8E8-E174-45BC-98B6-7ED1BE880E60}"/>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7FBCD76-2E83-4442-B055-B950FA4595FB}"/>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7ED3728-ABD3-4ECB-8DDF-C9F0E9C80213}"/>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73900F1-A37C-43FD-94E6-58F9DE7CD6D2}"/>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9D8176AA-0189-4AB1-A2A4-815F779B8643}"/>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649FBCE-B069-40C6-BF66-1D2DF680EF07}"/>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EFFDA42-50FB-4843-B293-20F4B28A630D}"/>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B0CA888-0A7E-4E41-84E8-63D6A77B04F8}"/>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92DE07A-3149-4D01-9867-F70763970801}"/>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769A30F9-6075-4DC7-935B-A634F2445662}"/>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294CB20-15D8-406C-B840-B6FC605AC98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0DC4ACAE-6C0A-44DE-8962-9243C7000374}"/>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42B3D010-F874-4812-B4BF-28CEDDC893AD}"/>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05 · PROBLEMA DETECTADO</a:t>
            </a:r>
          </a:p>
        </p:txBody>
      </p:sp>
      <p:sp>
        <p:nvSpPr>
          <p:cNvPr id="31" name="">
            <a:extLst xmlns:a="http://schemas.openxmlformats.org/drawingml/2006/main">
              <a:ext uri="{FF2B5EF4-FFF2-40B4-BE49-F238E27FC236}">
                <a16:creationId xmlns:a16="http://schemas.microsoft.com/office/drawing/2014/main" id="{FB0BAD84-8ECB-4573-AF3B-8739A9F0CE3C}"/>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El problema central no es la falta de ideas, sino la falta de trazabilidad operativa.</a:t>
            </a:r>
          </a:p>
        </p:txBody>
      </p:sp>
      <p:sp>
        <p:nvSpPr>
          <p:cNvPr id="32" name="">
            <a:extLst xmlns:a="http://schemas.openxmlformats.org/drawingml/2006/main">
              <a:ext uri="{FF2B5EF4-FFF2-40B4-BE49-F238E27FC236}">
                <a16:creationId xmlns:a16="http://schemas.microsoft.com/office/drawing/2014/main" id="{1D04EDA5-10DF-4B2A-8A8D-E798296B8C7E}"/>
              </a:ext>
            </a:extLst>
          </p:cNvPr>
          <p:cNvSpPr>
            <a:spLocks xmlns:a="http://schemas.openxmlformats.org/drawingml/2006/main" noGrp="1"/>
          </p:cNvSpPr>
          <p:nvPr/>
        </p:nvSpPr>
        <p:spPr>
          <a:xfrm xmlns:a="http://schemas.openxmlformats.org/drawingml/2006/main">
            <a:off x="514350" y="1962150"/>
            <a:ext cx="4476750" cy="13716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12EC9243-74BF-4533-A81D-1EB6D049A11A}"/>
              </a:ext>
            </a:extLst>
          </p:cNvPr>
          <p:cNvSpPr>
            <a:spLocks xmlns:a="http://schemas.openxmlformats.org/drawingml/2006/main" noGrp="1"/>
          </p:cNvSpPr>
          <p:nvPr/>
        </p:nvSpPr>
        <p:spPr>
          <a:xfrm xmlns:a="http://schemas.openxmlformats.org/drawingml/2006/main">
            <a:off x="723900" y="2114550"/>
            <a:ext cx="4057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3C8EE"/>
                </a:solidFill>
                <a:latin typeface="Aptos"/>
                <a:ea typeface="Aptos"/>
                <a:cs typeface="Aptos"/>
              </a:defRPr>
            </a:pPr>
            <a:r>
              <a:rPr sz="1425" b="0">
                <a:solidFill>
                  <a:srgbClr val="B3C8EE"/>
                </a:solidFill>
                <a:latin typeface="Aptos"/>
                <a:ea typeface="Aptos"/>
                <a:cs typeface="Aptos"/>
              </a:rPr>
              <a:t>El principal problema no es la falta de ideas ni de voluntad. El problema esta en la gestion operacional: como ordenamos socios/as, acuerdos, documentos, comites, proyectos, datos, activos digitales, responsables, plazos y seguimiento.</a:t>
            </a:r>
          </a:p>
        </p:txBody>
      </p:sp>
      <p:sp>
        <p:nvSpPr>
          <p:cNvPr id="34" name="">
            <a:extLst xmlns:a="http://schemas.openxmlformats.org/drawingml/2006/main">
              <a:ext uri="{FF2B5EF4-FFF2-40B4-BE49-F238E27FC236}">
                <a16:creationId xmlns:a16="http://schemas.microsoft.com/office/drawing/2014/main" id="{3B4FA18A-7DAC-44E8-9CB7-687BAE878D5A}"/>
              </a:ext>
            </a:extLst>
          </p:cNvPr>
          <p:cNvSpPr>
            <a:spLocks xmlns:a="http://schemas.openxmlformats.org/drawingml/2006/main" noGrp="1"/>
          </p:cNvSpPr>
          <p:nvPr/>
        </p:nvSpPr>
        <p:spPr>
          <a:xfrm xmlns:a="http://schemas.openxmlformats.org/drawingml/2006/main">
            <a:off x="5524500" y="17907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BE54BC8C-E4A7-4451-B937-C00E8A000E2D}"/>
              </a:ext>
            </a:extLst>
          </p:cNvPr>
          <p:cNvSpPr>
            <a:spLocks xmlns:a="http://schemas.openxmlformats.org/drawingml/2006/main" noGrp="1"/>
          </p:cNvSpPr>
          <p:nvPr/>
        </p:nvSpPr>
        <p:spPr>
          <a:xfrm xmlns:a="http://schemas.openxmlformats.org/drawingml/2006/main">
            <a:off x="5657850" y="18859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Informacion dispersa.</a:t>
            </a:r>
          </a:p>
        </p:txBody>
      </p:sp>
      <p:sp>
        <p:nvSpPr>
          <p:cNvPr id="36" name="">
            <a:extLst xmlns:a="http://schemas.openxmlformats.org/drawingml/2006/main">
              <a:ext uri="{FF2B5EF4-FFF2-40B4-BE49-F238E27FC236}">
                <a16:creationId xmlns:a16="http://schemas.microsoft.com/office/drawing/2014/main" id="{0B9805D8-BCC5-46EF-9B64-D8CD67F5CED0}"/>
              </a:ext>
            </a:extLst>
          </p:cNvPr>
          <p:cNvSpPr>
            <a:spLocks xmlns:a="http://schemas.openxmlformats.org/drawingml/2006/main" noGrp="1"/>
          </p:cNvSpPr>
          <p:nvPr/>
        </p:nvSpPr>
        <p:spPr>
          <a:xfrm xmlns:a="http://schemas.openxmlformats.org/drawingml/2006/main">
            <a:off x="8439150" y="17907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37" name="">
            <a:extLst xmlns:a="http://schemas.openxmlformats.org/drawingml/2006/main">
              <a:ext uri="{FF2B5EF4-FFF2-40B4-BE49-F238E27FC236}">
                <a16:creationId xmlns:a16="http://schemas.microsoft.com/office/drawing/2014/main" id="{409A8E92-A068-40BB-A595-C7355CE8B8A9}"/>
              </a:ext>
            </a:extLst>
          </p:cNvPr>
          <p:cNvSpPr>
            <a:spLocks xmlns:a="http://schemas.openxmlformats.org/drawingml/2006/main" noGrp="1"/>
          </p:cNvSpPr>
          <p:nvPr/>
        </p:nvSpPr>
        <p:spPr>
          <a:xfrm xmlns:a="http://schemas.openxmlformats.org/drawingml/2006/main">
            <a:off x="8572500" y="18859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Acuerdos sin seguimiento.</a:t>
            </a:r>
          </a:p>
        </p:txBody>
      </p:sp>
      <p:sp>
        <p:nvSpPr>
          <p:cNvPr id="38" name="">
            <a:extLst xmlns:a="http://schemas.openxmlformats.org/drawingml/2006/main">
              <a:ext uri="{FF2B5EF4-FFF2-40B4-BE49-F238E27FC236}">
                <a16:creationId xmlns:a16="http://schemas.microsoft.com/office/drawing/2014/main" id="{6AB0CF1E-D2D8-4952-99F0-47F0286BCDA2}"/>
              </a:ext>
            </a:extLst>
          </p:cNvPr>
          <p:cNvSpPr>
            <a:spLocks xmlns:a="http://schemas.openxmlformats.org/drawingml/2006/main" noGrp="1"/>
          </p:cNvSpPr>
          <p:nvPr/>
        </p:nvSpPr>
        <p:spPr>
          <a:xfrm xmlns:a="http://schemas.openxmlformats.org/drawingml/2006/main">
            <a:off x="5524500" y="24384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39" name="">
            <a:extLst xmlns:a="http://schemas.openxmlformats.org/drawingml/2006/main">
              <a:ext uri="{FF2B5EF4-FFF2-40B4-BE49-F238E27FC236}">
                <a16:creationId xmlns:a16="http://schemas.microsoft.com/office/drawing/2014/main" id="{69A905B6-D6AB-412E-B011-E2E4983CEB67}"/>
              </a:ext>
            </a:extLst>
          </p:cNvPr>
          <p:cNvSpPr>
            <a:spLocks xmlns:a="http://schemas.openxmlformats.org/drawingml/2006/main" noGrp="1"/>
          </p:cNvSpPr>
          <p:nvPr/>
        </p:nvSpPr>
        <p:spPr>
          <a:xfrm xmlns:a="http://schemas.openxmlformats.org/drawingml/2006/main">
            <a:off x="5657850" y="25336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Sobrecarga del directorio.</a:t>
            </a:r>
          </a:p>
        </p:txBody>
      </p:sp>
      <p:sp>
        <p:nvSpPr>
          <p:cNvPr id="40" name="">
            <a:extLst xmlns:a="http://schemas.openxmlformats.org/drawingml/2006/main">
              <a:ext uri="{FF2B5EF4-FFF2-40B4-BE49-F238E27FC236}">
                <a16:creationId xmlns:a16="http://schemas.microsoft.com/office/drawing/2014/main" id="{35C47944-F60B-41AF-A3AD-0020C40D25D8}"/>
              </a:ext>
            </a:extLst>
          </p:cNvPr>
          <p:cNvSpPr>
            <a:spLocks xmlns:a="http://schemas.openxmlformats.org/drawingml/2006/main" noGrp="1"/>
          </p:cNvSpPr>
          <p:nvPr/>
        </p:nvSpPr>
        <p:spPr>
          <a:xfrm xmlns:a="http://schemas.openxmlformats.org/drawingml/2006/main">
            <a:off x="8439150" y="24384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1" name="">
            <a:extLst xmlns:a="http://schemas.openxmlformats.org/drawingml/2006/main">
              <a:ext uri="{FF2B5EF4-FFF2-40B4-BE49-F238E27FC236}">
                <a16:creationId xmlns:a16="http://schemas.microsoft.com/office/drawing/2014/main" id="{88570A35-C0D2-4EF2-A1F6-3759856B2D1D}"/>
              </a:ext>
            </a:extLst>
          </p:cNvPr>
          <p:cNvSpPr>
            <a:spLocks xmlns:a="http://schemas.openxmlformats.org/drawingml/2006/main" noGrp="1"/>
          </p:cNvSpPr>
          <p:nvPr/>
        </p:nvSpPr>
        <p:spPr>
          <a:xfrm xmlns:a="http://schemas.openxmlformats.org/drawingml/2006/main">
            <a:off x="8572500" y="25336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Datos personales sin politica.</a:t>
            </a:r>
          </a:p>
        </p:txBody>
      </p:sp>
      <p:sp>
        <p:nvSpPr>
          <p:cNvPr id="42" name="">
            <a:extLst xmlns:a="http://schemas.openxmlformats.org/drawingml/2006/main">
              <a:ext uri="{FF2B5EF4-FFF2-40B4-BE49-F238E27FC236}">
                <a16:creationId xmlns:a16="http://schemas.microsoft.com/office/drawing/2014/main" id="{3F79A949-1FC0-4C91-B64B-6EDF6C1CE8E2}"/>
              </a:ext>
            </a:extLst>
          </p:cNvPr>
          <p:cNvSpPr>
            <a:spLocks xmlns:a="http://schemas.openxmlformats.org/drawingml/2006/main" noGrp="1"/>
          </p:cNvSpPr>
          <p:nvPr/>
        </p:nvSpPr>
        <p:spPr>
          <a:xfrm xmlns:a="http://schemas.openxmlformats.org/drawingml/2006/main">
            <a:off x="5524500" y="30861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3" name="">
            <a:extLst xmlns:a="http://schemas.openxmlformats.org/drawingml/2006/main">
              <a:ext uri="{FF2B5EF4-FFF2-40B4-BE49-F238E27FC236}">
                <a16:creationId xmlns:a16="http://schemas.microsoft.com/office/drawing/2014/main" id="{5DFB4A0C-3D7B-4C62-97FA-A28AEB117076}"/>
              </a:ext>
            </a:extLst>
          </p:cNvPr>
          <p:cNvSpPr>
            <a:spLocks xmlns:a="http://schemas.openxmlformats.org/drawingml/2006/main" noGrp="1"/>
          </p:cNvSpPr>
          <p:nvPr/>
        </p:nvSpPr>
        <p:spPr>
          <a:xfrm xmlns:a="http://schemas.openxmlformats.org/drawingml/2006/main">
            <a:off x="5657850" y="31813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Proyectos sin priorizacion.</a:t>
            </a:r>
          </a:p>
        </p:txBody>
      </p:sp>
      <p:sp>
        <p:nvSpPr>
          <p:cNvPr id="44" name="">
            <a:extLst xmlns:a="http://schemas.openxmlformats.org/drawingml/2006/main">
              <a:ext uri="{FF2B5EF4-FFF2-40B4-BE49-F238E27FC236}">
                <a16:creationId xmlns:a16="http://schemas.microsoft.com/office/drawing/2014/main" id="{BE1DA3C3-3C0B-462E-90B0-6730E0578080}"/>
              </a:ext>
            </a:extLst>
          </p:cNvPr>
          <p:cNvSpPr>
            <a:spLocks xmlns:a="http://schemas.openxmlformats.org/drawingml/2006/main" noGrp="1"/>
          </p:cNvSpPr>
          <p:nvPr/>
        </p:nvSpPr>
        <p:spPr>
          <a:xfrm xmlns:a="http://schemas.openxmlformats.org/drawingml/2006/main">
            <a:off x="8439150" y="30861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5" name="">
            <a:extLst xmlns:a="http://schemas.openxmlformats.org/drawingml/2006/main">
              <a:ext uri="{FF2B5EF4-FFF2-40B4-BE49-F238E27FC236}">
                <a16:creationId xmlns:a16="http://schemas.microsoft.com/office/drawing/2014/main" id="{17AB1DE9-773D-4043-B5A2-472DEB6D142C}"/>
              </a:ext>
            </a:extLst>
          </p:cNvPr>
          <p:cNvSpPr>
            <a:spLocks xmlns:a="http://schemas.openxmlformats.org/drawingml/2006/main" noGrp="1"/>
          </p:cNvSpPr>
          <p:nvPr/>
        </p:nvSpPr>
        <p:spPr>
          <a:xfrm xmlns:a="http://schemas.openxmlformats.org/drawingml/2006/main">
            <a:off x="8572500" y="31813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Alianzas ambiguas.</a:t>
            </a:r>
          </a:p>
        </p:txBody>
      </p:sp>
      <p:sp>
        <p:nvSpPr>
          <p:cNvPr id="46" name="">
            <a:extLst xmlns:a="http://schemas.openxmlformats.org/drawingml/2006/main">
              <a:ext uri="{FF2B5EF4-FFF2-40B4-BE49-F238E27FC236}">
                <a16:creationId xmlns:a16="http://schemas.microsoft.com/office/drawing/2014/main" id="{DE99DC6F-5DD2-4523-9D45-2A168C5FCCE5}"/>
              </a:ext>
            </a:extLst>
          </p:cNvPr>
          <p:cNvSpPr>
            <a:spLocks xmlns:a="http://schemas.openxmlformats.org/drawingml/2006/main" noGrp="1"/>
          </p:cNvSpPr>
          <p:nvPr/>
        </p:nvSpPr>
        <p:spPr>
          <a:xfrm xmlns:a="http://schemas.openxmlformats.org/drawingml/2006/main">
            <a:off x="5524500" y="37338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7" name="">
            <a:extLst xmlns:a="http://schemas.openxmlformats.org/drawingml/2006/main">
              <a:ext uri="{FF2B5EF4-FFF2-40B4-BE49-F238E27FC236}">
                <a16:creationId xmlns:a16="http://schemas.microsoft.com/office/drawing/2014/main" id="{AC9CC500-A22B-4ECA-AD51-EF6F3C7968EA}"/>
              </a:ext>
            </a:extLst>
          </p:cNvPr>
          <p:cNvSpPr>
            <a:spLocks xmlns:a="http://schemas.openxmlformats.org/drawingml/2006/main" noGrp="1"/>
          </p:cNvSpPr>
          <p:nvPr/>
        </p:nvSpPr>
        <p:spPr>
          <a:xfrm xmlns:a="http://schemas.openxmlformats.org/drawingml/2006/main">
            <a:off x="5657850" y="38290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Trabajo operativo invisibilizado.</a:t>
            </a:r>
          </a:p>
        </p:txBody>
      </p:sp>
      <p:sp>
        <p:nvSpPr>
          <p:cNvPr id="48" name="">
            <a:extLst xmlns:a="http://schemas.openxmlformats.org/drawingml/2006/main">
              <a:ext uri="{FF2B5EF4-FFF2-40B4-BE49-F238E27FC236}">
                <a16:creationId xmlns:a16="http://schemas.microsoft.com/office/drawing/2014/main" id="{3EEDD3D4-7867-49E7-A4D1-7A0DBA04B37C}"/>
              </a:ext>
            </a:extLst>
          </p:cNvPr>
          <p:cNvSpPr>
            <a:spLocks xmlns:a="http://schemas.openxmlformats.org/drawingml/2006/main" noGrp="1"/>
          </p:cNvSpPr>
          <p:nvPr/>
        </p:nvSpPr>
        <p:spPr>
          <a:xfrm xmlns:a="http://schemas.openxmlformats.org/drawingml/2006/main">
            <a:off x="8439150" y="37338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9" name="">
            <a:extLst xmlns:a="http://schemas.openxmlformats.org/drawingml/2006/main">
              <a:ext uri="{FF2B5EF4-FFF2-40B4-BE49-F238E27FC236}">
                <a16:creationId xmlns:a16="http://schemas.microsoft.com/office/drawing/2014/main" id="{243299D8-0A44-4F84-9D4B-9CB26E4902CA}"/>
              </a:ext>
            </a:extLst>
          </p:cNvPr>
          <p:cNvSpPr>
            <a:spLocks xmlns:a="http://schemas.openxmlformats.org/drawingml/2006/main" noGrp="1"/>
          </p:cNvSpPr>
          <p:nvPr/>
        </p:nvSpPr>
        <p:spPr>
          <a:xfrm xmlns:a="http://schemas.openxmlformats.org/drawingml/2006/main">
            <a:off x="8572500" y="38290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Activos digitales sin inventario.</a:t>
            </a:r>
          </a:p>
        </p:txBody>
      </p:sp>
      <p:sp>
        <p:nvSpPr>
          <p:cNvPr id="50" name="">
            <a:extLst xmlns:a="http://schemas.openxmlformats.org/drawingml/2006/main">
              <a:ext uri="{FF2B5EF4-FFF2-40B4-BE49-F238E27FC236}">
                <a16:creationId xmlns:a16="http://schemas.microsoft.com/office/drawing/2014/main" id="{660E3DE8-EB1D-48C6-842B-3E3758ACE8C5}"/>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90EF9424-DCDA-4429-81AC-2D75A9482B4B}"/>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52" name="">
            <a:extLst xmlns:a="http://schemas.openxmlformats.org/drawingml/2006/main">
              <a:ext uri="{FF2B5EF4-FFF2-40B4-BE49-F238E27FC236}">
                <a16:creationId xmlns:a16="http://schemas.microsoft.com/office/drawing/2014/main" id="{2E61515A-4B4D-4DC6-AE2B-3F2C33F36137}"/>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05 / 20</a:t>
            </a:r>
          </a:p>
        </p:txBody>
      </p:sp>
    </p:spTree>
    <p:extLst>
      <p:ext uri="{BB962C8B-B14F-4D97-AF65-F5344CB8AC3E}">
        <p14:creationId xmlns:p14="http://schemas.microsoft.com/office/powerpoint/2010/main" val="12985524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DC7646-1280-46FC-B5EF-1B860F395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5FB957-5694-42E6-A54A-CEE6D95E5C7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8DD2091-0462-458C-AB1A-0E363C166AD5}"/>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0187795-75A3-42B3-B15B-570EFD518DD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DE72117-AB0D-43CC-B1C3-E0D5653C0F74}"/>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0920596-A879-4CAC-8243-965168BFCAB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29DC865-5360-44B1-8989-AB94DA820F50}"/>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3FB0FDE-7363-4F8B-8130-B6D20E434CD5}"/>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94F76E8-7633-437B-A45B-7D3901908BAF}"/>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02F3753-915A-4771-9D3C-0AEA7D961838}"/>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1FE0D73-0798-46F3-B2E7-3C4405795FCA}"/>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E3AF8BC-0BF6-4554-A5BD-3EBD1A91AC48}"/>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92103F6-5F0F-4310-BC84-E67F47B6FAEF}"/>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E7CC328-C783-4C5D-A607-367052CFFEEA}"/>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5AAB776-C844-4EA6-81E4-9CC63BF1B606}"/>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53C3EE4-EA90-484D-B36A-5EB89C2DDF9D}"/>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A503D25-B5C4-4FE6-946B-2875506EAE2E}"/>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E0825CD-A2A7-407F-AFE4-827E4DFA8E62}"/>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54CBC40-D3C1-4119-AF31-5AB125501133}"/>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A9AE1DE-05B9-47C2-B211-2E7691D3BF0B}"/>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184D790-BD70-443D-B238-C4BDCA330E27}"/>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999CCCC-DFFB-46B4-AC2B-A57DBA78D65D}"/>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5E9591F-0495-41D3-B912-1F3A87C520AA}"/>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C84FB5E-B113-4A3E-9145-B7D21B55C6B3}"/>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C98E7878-C879-4AD7-88DF-65FC479456E8}"/>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B6B5B72-19F1-4F9D-B74D-67B0F6B5F5F5}"/>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1A3F1F0E-2D6A-4AA8-86F4-09ADC4868F39}"/>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4109A41-BF9A-40CF-BA55-86352BE324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755D1"/>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C8E5DAE2-DF09-4D1B-A975-A40380265A5E}"/>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B9EFAA29-0B76-4F9A-9867-B17CB93F0F60}"/>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06 · ANALISIS OPERACIONAL</a:t>
            </a:r>
          </a:p>
        </p:txBody>
      </p:sp>
      <p:sp>
        <p:nvSpPr>
          <p:cNvPr id="31" name="">
            <a:extLst xmlns:a="http://schemas.openxmlformats.org/drawingml/2006/main">
              <a:ext uri="{FF2B5EF4-FFF2-40B4-BE49-F238E27FC236}">
                <a16:creationId xmlns:a16="http://schemas.microsoft.com/office/drawing/2014/main" id="{DD82CAFE-CBEA-45D3-95F9-7D3FBF11CC96}"/>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Cada dolor operacional requiere una respuesta de gestion concreta.</a:t>
            </a:r>
          </a:p>
        </p:txBody>
      </p:sp>
      <p:sp>
        <p:nvSpPr>
          <p:cNvPr id="32" name="">
            <a:extLst xmlns:a="http://schemas.openxmlformats.org/drawingml/2006/main">
              <a:ext uri="{FF2B5EF4-FFF2-40B4-BE49-F238E27FC236}">
                <a16:creationId xmlns:a16="http://schemas.microsoft.com/office/drawing/2014/main" id="{631A517B-5895-4925-8EC0-BA49C01FB195}"/>
              </a:ext>
            </a:extLst>
          </p:cNvPr>
          <p:cNvSpPr>
            <a:spLocks xmlns:a="http://schemas.openxmlformats.org/drawingml/2006/main" noGrp="1"/>
          </p:cNvSpPr>
          <p:nvPr/>
        </p:nvSpPr>
        <p:spPr>
          <a:xfrm xmlns:a="http://schemas.openxmlformats.org/drawingml/2006/main">
            <a:off x="514350" y="1962150"/>
            <a:ext cx="4476750" cy="13716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4473E635-E368-42F7-9AE9-57BA57AC6CA4}"/>
              </a:ext>
            </a:extLst>
          </p:cNvPr>
          <p:cNvSpPr>
            <a:spLocks xmlns:a="http://schemas.openxmlformats.org/drawingml/2006/main" noGrp="1"/>
          </p:cNvSpPr>
          <p:nvPr/>
        </p:nvSpPr>
        <p:spPr>
          <a:xfrm xmlns:a="http://schemas.openxmlformats.org/drawingml/2006/main">
            <a:off x="723900" y="2114550"/>
            <a:ext cx="4057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El cuello de botella no esta en la creatividad del gremio, sino en su capacidad de gestion operacional.</a:t>
            </a:r>
          </a:p>
        </p:txBody>
      </p:sp>
      <p:sp>
        <p:nvSpPr>
          <p:cNvPr id="34" name="">
            <a:extLst xmlns:a="http://schemas.openxmlformats.org/drawingml/2006/main">
              <a:ext uri="{FF2B5EF4-FFF2-40B4-BE49-F238E27FC236}">
                <a16:creationId xmlns:a16="http://schemas.microsoft.com/office/drawing/2014/main" id="{3EA4250B-4ACD-492E-820F-2A2607437522}"/>
              </a:ext>
            </a:extLst>
          </p:cNvPr>
          <p:cNvSpPr>
            <a:spLocks xmlns:a="http://schemas.openxmlformats.org/drawingml/2006/main" noGrp="1"/>
          </p:cNvSpPr>
          <p:nvPr/>
        </p:nvSpPr>
        <p:spPr>
          <a:xfrm xmlns:a="http://schemas.openxmlformats.org/drawingml/2006/main">
            <a:off x="5524500" y="1790700"/>
            <a:ext cx="29337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7AA7081D-5194-452D-98EE-D1908D73B1CA}"/>
              </a:ext>
            </a:extLst>
          </p:cNvPr>
          <p:cNvSpPr>
            <a:spLocks xmlns:a="http://schemas.openxmlformats.org/drawingml/2006/main" noGrp="1"/>
          </p:cNvSpPr>
          <p:nvPr/>
        </p:nvSpPr>
        <p:spPr>
          <a:xfrm xmlns:a="http://schemas.openxmlformats.org/drawingml/2006/main">
            <a:off x="5619750" y="1857375"/>
            <a:ext cx="2743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Problema detectado</a:t>
            </a:r>
          </a:p>
        </p:txBody>
      </p:sp>
      <p:sp>
        <p:nvSpPr>
          <p:cNvPr id="36" name="">
            <a:extLst xmlns:a="http://schemas.openxmlformats.org/drawingml/2006/main">
              <a:ext uri="{FF2B5EF4-FFF2-40B4-BE49-F238E27FC236}">
                <a16:creationId xmlns:a16="http://schemas.microsoft.com/office/drawing/2014/main" id="{D8D17502-EE2C-4207-9D35-101F77755E1B}"/>
              </a:ext>
            </a:extLst>
          </p:cNvPr>
          <p:cNvSpPr>
            <a:spLocks xmlns:a="http://schemas.openxmlformats.org/drawingml/2006/main" noGrp="1"/>
          </p:cNvSpPr>
          <p:nvPr/>
        </p:nvSpPr>
        <p:spPr>
          <a:xfrm xmlns:a="http://schemas.openxmlformats.org/drawingml/2006/main">
            <a:off x="8458200" y="1790700"/>
            <a:ext cx="29337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7" name="">
            <a:extLst xmlns:a="http://schemas.openxmlformats.org/drawingml/2006/main">
              <a:ext uri="{FF2B5EF4-FFF2-40B4-BE49-F238E27FC236}">
                <a16:creationId xmlns:a16="http://schemas.microsoft.com/office/drawing/2014/main" id="{4A25DD63-8856-4AED-8928-10EF7AE7CAA8}"/>
              </a:ext>
            </a:extLst>
          </p:cNvPr>
          <p:cNvSpPr>
            <a:spLocks xmlns:a="http://schemas.openxmlformats.org/drawingml/2006/main" noGrp="1"/>
          </p:cNvSpPr>
          <p:nvPr/>
        </p:nvSpPr>
        <p:spPr>
          <a:xfrm xmlns:a="http://schemas.openxmlformats.org/drawingml/2006/main">
            <a:off x="8553450" y="1857375"/>
            <a:ext cx="2743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Respuesta propuesta</a:t>
            </a:r>
          </a:p>
        </p:txBody>
      </p:sp>
      <p:sp>
        <p:nvSpPr>
          <p:cNvPr id="38" name="">
            <a:extLst xmlns:a="http://schemas.openxmlformats.org/drawingml/2006/main">
              <a:ext uri="{FF2B5EF4-FFF2-40B4-BE49-F238E27FC236}">
                <a16:creationId xmlns:a16="http://schemas.microsoft.com/office/drawing/2014/main" id="{937A67C2-DB44-4FF7-9EE0-6CB94F14A6C0}"/>
              </a:ext>
            </a:extLst>
          </p:cNvPr>
          <p:cNvSpPr>
            <a:spLocks xmlns:a="http://schemas.openxmlformats.org/drawingml/2006/main" noGrp="1"/>
          </p:cNvSpPr>
          <p:nvPr/>
        </p:nvSpPr>
        <p:spPr>
          <a:xfrm xmlns:a="http://schemas.openxmlformats.org/drawingml/2006/main">
            <a:off x="5524500" y="2190750"/>
            <a:ext cx="2933700" cy="57785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39" name="">
            <a:extLst xmlns:a="http://schemas.openxmlformats.org/drawingml/2006/main">
              <a:ext uri="{FF2B5EF4-FFF2-40B4-BE49-F238E27FC236}">
                <a16:creationId xmlns:a16="http://schemas.microsoft.com/office/drawing/2014/main" id="{1F43CC67-84DA-45EB-95DC-7F2951ABEDC7}"/>
              </a:ext>
            </a:extLst>
          </p:cNvPr>
          <p:cNvSpPr>
            <a:spLocks xmlns:a="http://schemas.openxmlformats.org/drawingml/2006/main" noGrp="1"/>
          </p:cNvSpPr>
          <p:nvPr/>
        </p:nvSpPr>
        <p:spPr>
          <a:xfrm xmlns:a="http://schemas.openxmlformats.org/drawingml/2006/main">
            <a:off x="5619750" y="226695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Informacion dispersa</a:t>
            </a:r>
          </a:p>
        </p:txBody>
      </p:sp>
      <p:sp>
        <p:nvSpPr>
          <p:cNvPr id="40" name="">
            <a:extLst xmlns:a="http://schemas.openxmlformats.org/drawingml/2006/main">
              <a:ext uri="{FF2B5EF4-FFF2-40B4-BE49-F238E27FC236}">
                <a16:creationId xmlns:a16="http://schemas.microsoft.com/office/drawing/2014/main" id="{B4DB34D0-6863-4E0B-BDCD-400A1018CCCB}"/>
              </a:ext>
            </a:extLst>
          </p:cNvPr>
          <p:cNvSpPr>
            <a:spLocks xmlns:a="http://schemas.openxmlformats.org/drawingml/2006/main" noGrp="1"/>
          </p:cNvSpPr>
          <p:nvPr/>
        </p:nvSpPr>
        <p:spPr>
          <a:xfrm xmlns:a="http://schemas.openxmlformats.org/drawingml/2006/main">
            <a:off x="8458200" y="2190750"/>
            <a:ext cx="2933700" cy="57785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1" name="">
            <a:extLst xmlns:a="http://schemas.openxmlformats.org/drawingml/2006/main">
              <a:ext uri="{FF2B5EF4-FFF2-40B4-BE49-F238E27FC236}">
                <a16:creationId xmlns:a16="http://schemas.microsoft.com/office/drawing/2014/main" id="{FA505CE5-36BC-4BEE-9782-F7F799E42662}"/>
              </a:ext>
            </a:extLst>
          </p:cNvPr>
          <p:cNvSpPr>
            <a:spLocks xmlns:a="http://schemas.openxmlformats.org/drawingml/2006/main" noGrp="1"/>
          </p:cNvSpPr>
          <p:nvPr/>
        </p:nvSpPr>
        <p:spPr>
          <a:xfrm xmlns:a="http://schemas.openxmlformats.org/drawingml/2006/main">
            <a:off x="8553450" y="226695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IME Conecta</a:t>
            </a:r>
          </a:p>
        </p:txBody>
      </p:sp>
      <p:sp>
        <p:nvSpPr>
          <p:cNvPr id="42" name="">
            <a:extLst xmlns:a="http://schemas.openxmlformats.org/drawingml/2006/main">
              <a:ext uri="{FF2B5EF4-FFF2-40B4-BE49-F238E27FC236}">
                <a16:creationId xmlns:a16="http://schemas.microsoft.com/office/drawing/2014/main" id="{CF3373CB-79CD-48CD-98A0-42A916B19D89}"/>
              </a:ext>
            </a:extLst>
          </p:cNvPr>
          <p:cNvSpPr>
            <a:spLocks xmlns:a="http://schemas.openxmlformats.org/drawingml/2006/main" noGrp="1"/>
          </p:cNvSpPr>
          <p:nvPr/>
        </p:nvSpPr>
        <p:spPr>
          <a:xfrm xmlns:a="http://schemas.openxmlformats.org/drawingml/2006/main">
            <a:off x="5524500" y="2768600"/>
            <a:ext cx="2933700" cy="57785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3" name="">
            <a:extLst xmlns:a="http://schemas.openxmlformats.org/drawingml/2006/main">
              <a:ext uri="{FF2B5EF4-FFF2-40B4-BE49-F238E27FC236}">
                <a16:creationId xmlns:a16="http://schemas.microsoft.com/office/drawing/2014/main" id="{D3C109EE-E35C-4046-AACA-96855CEC6D61}"/>
              </a:ext>
            </a:extLst>
          </p:cNvPr>
          <p:cNvSpPr>
            <a:spLocks xmlns:a="http://schemas.openxmlformats.org/drawingml/2006/main" noGrp="1"/>
          </p:cNvSpPr>
          <p:nvPr/>
        </p:nvSpPr>
        <p:spPr>
          <a:xfrm xmlns:a="http://schemas.openxmlformats.org/drawingml/2006/main">
            <a:off x="5619750" y="284480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Acuerdos sin seguimiento</a:t>
            </a:r>
          </a:p>
        </p:txBody>
      </p:sp>
      <p:sp>
        <p:nvSpPr>
          <p:cNvPr id="44" name="">
            <a:extLst xmlns:a="http://schemas.openxmlformats.org/drawingml/2006/main">
              <a:ext uri="{FF2B5EF4-FFF2-40B4-BE49-F238E27FC236}">
                <a16:creationId xmlns:a16="http://schemas.microsoft.com/office/drawing/2014/main" id="{70C61DA7-4D66-4C9B-8D02-17827BA8307B}"/>
              </a:ext>
            </a:extLst>
          </p:cNvPr>
          <p:cNvSpPr>
            <a:spLocks xmlns:a="http://schemas.openxmlformats.org/drawingml/2006/main" noGrp="1"/>
          </p:cNvSpPr>
          <p:nvPr/>
        </p:nvSpPr>
        <p:spPr>
          <a:xfrm xmlns:a="http://schemas.openxmlformats.org/drawingml/2006/main">
            <a:off x="8458200" y="2768600"/>
            <a:ext cx="2933700" cy="57785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5" name="">
            <a:extLst xmlns:a="http://schemas.openxmlformats.org/drawingml/2006/main">
              <a:ext uri="{FF2B5EF4-FFF2-40B4-BE49-F238E27FC236}">
                <a16:creationId xmlns:a16="http://schemas.microsoft.com/office/drawing/2014/main" id="{DD44A965-1D10-4470-BDFE-18B20632AB53}"/>
              </a:ext>
            </a:extLst>
          </p:cNvPr>
          <p:cNvSpPr>
            <a:spLocks xmlns:a="http://schemas.openxmlformats.org/drawingml/2006/main" noGrp="1"/>
          </p:cNvSpPr>
          <p:nvPr/>
        </p:nvSpPr>
        <p:spPr>
          <a:xfrm xmlns:a="http://schemas.openxmlformats.org/drawingml/2006/main">
            <a:off x="8553450" y="284480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Matriz de acuerdos</a:t>
            </a:r>
          </a:p>
        </p:txBody>
      </p:sp>
      <p:sp>
        <p:nvSpPr>
          <p:cNvPr id="46" name="">
            <a:extLst xmlns:a="http://schemas.openxmlformats.org/drawingml/2006/main">
              <a:ext uri="{FF2B5EF4-FFF2-40B4-BE49-F238E27FC236}">
                <a16:creationId xmlns:a16="http://schemas.microsoft.com/office/drawing/2014/main" id="{1F8238CF-1500-4A8B-8CCE-7E4212FF0E3A}"/>
              </a:ext>
            </a:extLst>
          </p:cNvPr>
          <p:cNvSpPr>
            <a:spLocks xmlns:a="http://schemas.openxmlformats.org/drawingml/2006/main" noGrp="1"/>
          </p:cNvSpPr>
          <p:nvPr/>
        </p:nvSpPr>
        <p:spPr>
          <a:xfrm xmlns:a="http://schemas.openxmlformats.org/drawingml/2006/main">
            <a:off x="5524500" y="3346450"/>
            <a:ext cx="2933700" cy="57785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7" name="">
            <a:extLst xmlns:a="http://schemas.openxmlformats.org/drawingml/2006/main">
              <a:ext uri="{FF2B5EF4-FFF2-40B4-BE49-F238E27FC236}">
                <a16:creationId xmlns:a16="http://schemas.microsoft.com/office/drawing/2014/main" id="{4649BFC5-B946-4B1D-95CF-1CE2D6E3C2FF}"/>
              </a:ext>
            </a:extLst>
          </p:cNvPr>
          <p:cNvSpPr>
            <a:spLocks xmlns:a="http://schemas.openxmlformats.org/drawingml/2006/main" noGrp="1"/>
          </p:cNvSpPr>
          <p:nvPr/>
        </p:nvSpPr>
        <p:spPr>
          <a:xfrm xmlns:a="http://schemas.openxmlformats.org/drawingml/2006/main">
            <a:off x="5619750" y="342265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Sobrecarga del directorio</a:t>
            </a:r>
          </a:p>
        </p:txBody>
      </p:sp>
      <p:sp>
        <p:nvSpPr>
          <p:cNvPr id="48" name="">
            <a:extLst xmlns:a="http://schemas.openxmlformats.org/drawingml/2006/main">
              <a:ext uri="{FF2B5EF4-FFF2-40B4-BE49-F238E27FC236}">
                <a16:creationId xmlns:a16="http://schemas.microsoft.com/office/drawing/2014/main" id="{388BB4FE-C0C6-4EDF-944C-988A4A2894FF}"/>
              </a:ext>
            </a:extLst>
          </p:cNvPr>
          <p:cNvSpPr>
            <a:spLocks xmlns:a="http://schemas.openxmlformats.org/drawingml/2006/main" noGrp="1"/>
          </p:cNvSpPr>
          <p:nvPr/>
        </p:nvSpPr>
        <p:spPr>
          <a:xfrm xmlns:a="http://schemas.openxmlformats.org/drawingml/2006/main">
            <a:off x="8458200" y="3346450"/>
            <a:ext cx="2933700" cy="57785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9" name="">
            <a:extLst xmlns:a="http://schemas.openxmlformats.org/drawingml/2006/main">
              <a:ext uri="{FF2B5EF4-FFF2-40B4-BE49-F238E27FC236}">
                <a16:creationId xmlns:a16="http://schemas.microsoft.com/office/drawing/2014/main" id="{68224A89-5D6C-4CE6-8D5E-B97C1EDAADE8}"/>
              </a:ext>
            </a:extLst>
          </p:cNvPr>
          <p:cNvSpPr>
            <a:spLocks xmlns:a="http://schemas.openxmlformats.org/drawingml/2006/main" noGrp="1"/>
          </p:cNvSpPr>
          <p:nvPr/>
        </p:nvSpPr>
        <p:spPr>
          <a:xfrm xmlns:a="http://schemas.openxmlformats.org/drawingml/2006/main">
            <a:off x="8553450" y="342265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Separacion directiva / operativa</a:t>
            </a:r>
          </a:p>
        </p:txBody>
      </p:sp>
      <p:sp>
        <p:nvSpPr>
          <p:cNvPr id="50" name="">
            <a:extLst xmlns:a="http://schemas.openxmlformats.org/drawingml/2006/main">
              <a:ext uri="{FF2B5EF4-FFF2-40B4-BE49-F238E27FC236}">
                <a16:creationId xmlns:a16="http://schemas.microsoft.com/office/drawing/2014/main" id="{3DC0F0E9-7681-4A0A-A1F0-10016C58BC24}"/>
              </a:ext>
            </a:extLst>
          </p:cNvPr>
          <p:cNvSpPr>
            <a:spLocks xmlns:a="http://schemas.openxmlformats.org/drawingml/2006/main" noGrp="1"/>
          </p:cNvSpPr>
          <p:nvPr/>
        </p:nvSpPr>
        <p:spPr>
          <a:xfrm xmlns:a="http://schemas.openxmlformats.org/drawingml/2006/main">
            <a:off x="5524500" y="3924300"/>
            <a:ext cx="2933700" cy="57785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1" name="">
            <a:extLst xmlns:a="http://schemas.openxmlformats.org/drawingml/2006/main">
              <a:ext uri="{FF2B5EF4-FFF2-40B4-BE49-F238E27FC236}">
                <a16:creationId xmlns:a16="http://schemas.microsoft.com/office/drawing/2014/main" id="{83AA5923-63D9-49D4-964C-81928145F343}"/>
              </a:ext>
            </a:extLst>
          </p:cNvPr>
          <p:cNvSpPr>
            <a:spLocks xmlns:a="http://schemas.openxmlformats.org/drawingml/2006/main" noGrp="1"/>
          </p:cNvSpPr>
          <p:nvPr/>
        </p:nvSpPr>
        <p:spPr>
          <a:xfrm xmlns:a="http://schemas.openxmlformats.org/drawingml/2006/main">
            <a:off x="5619750" y="400050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Directores sin area clara</a:t>
            </a:r>
          </a:p>
        </p:txBody>
      </p:sp>
      <p:sp>
        <p:nvSpPr>
          <p:cNvPr id="52" name="">
            <a:extLst xmlns:a="http://schemas.openxmlformats.org/drawingml/2006/main">
              <a:ext uri="{FF2B5EF4-FFF2-40B4-BE49-F238E27FC236}">
                <a16:creationId xmlns:a16="http://schemas.microsoft.com/office/drawing/2014/main" id="{98E374FB-4366-4204-BAC1-6DED9D1CF923}"/>
              </a:ext>
            </a:extLst>
          </p:cNvPr>
          <p:cNvSpPr>
            <a:spLocks xmlns:a="http://schemas.openxmlformats.org/drawingml/2006/main" noGrp="1"/>
          </p:cNvSpPr>
          <p:nvPr/>
        </p:nvSpPr>
        <p:spPr>
          <a:xfrm xmlns:a="http://schemas.openxmlformats.org/drawingml/2006/main">
            <a:off x="8458200" y="3924300"/>
            <a:ext cx="2933700" cy="57785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3" name="">
            <a:extLst xmlns:a="http://schemas.openxmlformats.org/drawingml/2006/main">
              <a:ext uri="{FF2B5EF4-FFF2-40B4-BE49-F238E27FC236}">
                <a16:creationId xmlns:a16="http://schemas.microsoft.com/office/drawing/2014/main" id="{790B310D-CD2D-487C-B932-0B1F37A3C779}"/>
              </a:ext>
            </a:extLst>
          </p:cNvPr>
          <p:cNvSpPr>
            <a:spLocks xmlns:a="http://schemas.openxmlformats.org/drawingml/2006/main" noGrp="1"/>
          </p:cNvSpPr>
          <p:nvPr/>
        </p:nvSpPr>
        <p:spPr>
          <a:xfrm xmlns:a="http://schemas.openxmlformats.org/drawingml/2006/main">
            <a:off x="8553450" y="400050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Carteras Directivas Estrategicas</a:t>
            </a:r>
          </a:p>
        </p:txBody>
      </p:sp>
      <p:sp>
        <p:nvSpPr>
          <p:cNvPr id="54" name="">
            <a:extLst xmlns:a="http://schemas.openxmlformats.org/drawingml/2006/main">
              <a:ext uri="{FF2B5EF4-FFF2-40B4-BE49-F238E27FC236}">
                <a16:creationId xmlns:a16="http://schemas.microsoft.com/office/drawing/2014/main" id="{0294446E-3977-4B1C-847E-09BF2E2719DE}"/>
              </a:ext>
            </a:extLst>
          </p:cNvPr>
          <p:cNvSpPr>
            <a:spLocks xmlns:a="http://schemas.openxmlformats.org/drawingml/2006/main" noGrp="1"/>
          </p:cNvSpPr>
          <p:nvPr/>
        </p:nvSpPr>
        <p:spPr>
          <a:xfrm xmlns:a="http://schemas.openxmlformats.org/drawingml/2006/main">
            <a:off x="5524500" y="4502150"/>
            <a:ext cx="2933700" cy="57785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5" name="">
            <a:extLst xmlns:a="http://schemas.openxmlformats.org/drawingml/2006/main">
              <a:ext uri="{FF2B5EF4-FFF2-40B4-BE49-F238E27FC236}">
                <a16:creationId xmlns:a16="http://schemas.microsoft.com/office/drawing/2014/main" id="{1F409372-37DD-491B-BB56-D126DB93D23E}"/>
              </a:ext>
            </a:extLst>
          </p:cNvPr>
          <p:cNvSpPr>
            <a:spLocks xmlns:a="http://schemas.openxmlformats.org/drawingml/2006/main" noGrp="1"/>
          </p:cNvSpPr>
          <p:nvPr/>
        </p:nvSpPr>
        <p:spPr>
          <a:xfrm xmlns:a="http://schemas.openxmlformats.org/drawingml/2006/main">
            <a:off x="5619750" y="457835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Proyectos sin priorizacion</a:t>
            </a:r>
          </a:p>
        </p:txBody>
      </p:sp>
      <p:sp>
        <p:nvSpPr>
          <p:cNvPr id="56" name="">
            <a:extLst xmlns:a="http://schemas.openxmlformats.org/drawingml/2006/main">
              <a:ext uri="{FF2B5EF4-FFF2-40B4-BE49-F238E27FC236}">
                <a16:creationId xmlns:a16="http://schemas.microsoft.com/office/drawing/2014/main" id="{3CAC00DA-681C-4A7F-9D1C-49B0DA7FCE2D}"/>
              </a:ext>
            </a:extLst>
          </p:cNvPr>
          <p:cNvSpPr>
            <a:spLocks xmlns:a="http://schemas.openxmlformats.org/drawingml/2006/main" noGrp="1"/>
          </p:cNvSpPr>
          <p:nvPr/>
        </p:nvSpPr>
        <p:spPr>
          <a:xfrm xmlns:a="http://schemas.openxmlformats.org/drawingml/2006/main">
            <a:off x="8458200" y="4502150"/>
            <a:ext cx="2933700" cy="57785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7" name="">
            <a:extLst xmlns:a="http://schemas.openxmlformats.org/drawingml/2006/main">
              <a:ext uri="{FF2B5EF4-FFF2-40B4-BE49-F238E27FC236}">
                <a16:creationId xmlns:a16="http://schemas.microsoft.com/office/drawing/2014/main" id="{CD6AD4FD-F17E-473C-A350-A8FBC60561DD}"/>
              </a:ext>
            </a:extLst>
          </p:cNvPr>
          <p:cNvSpPr>
            <a:spLocks xmlns:a="http://schemas.openxmlformats.org/drawingml/2006/main" noGrp="1"/>
          </p:cNvSpPr>
          <p:nvPr/>
        </p:nvSpPr>
        <p:spPr>
          <a:xfrm xmlns:a="http://schemas.openxmlformats.org/drawingml/2006/main">
            <a:off x="8553450" y="457835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Matriz de cartera y semaforo</a:t>
            </a:r>
          </a:p>
        </p:txBody>
      </p:sp>
      <p:sp>
        <p:nvSpPr>
          <p:cNvPr id="58" name="">
            <a:extLst xmlns:a="http://schemas.openxmlformats.org/drawingml/2006/main">
              <a:ext uri="{FF2B5EF4-FFF2-40B4-BE49-F238E27FC236}">
                <a16:creationId xmlns:a16="http://schemas.microsoft.com/office/drawing/2014/main" id="{8728249A-E3F9-4BF0-B3A9-69E43CCCA9CF}"/>
              </a:ext>
            </a:extLst>
          </p:cNvPr>
          <p:cNvSpPr>
            <a:spLocks xmlns:a="http://schemas.openxmlformats.org/drawingml/2006/main" noGrp="1"/>
          </p:cNvSpPr>
          <p:nvPr/>
        </p:nvSpPr>
        <p:spPr>
          <a:xfrm xmlns:a="http://schemas.openxmlformats.org/drawingml/2006/main">
            <a:off x="5524500" y="5080000"/>
            <a:ext cx="2933700" cy="57785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9" name="">
            <a:extLst xmlns:a="http://schemas.openxmlformats.org/drawingml/2006/main">
              <a:ext uri="{FF2B5EF4-FFF2-40B4-BE49-F238E27FC236}">
                <a16:creationId xmlns:a16="http://schemas.microsoft.com/office/drawing/2014/main" id="{88D99EC4-7F7C-47EF-B7C1-BE190EBC09EA}"/>
              </a:ext>
            </a:extLst>
          </p:cNvPr>
          <p:cNvSpPr>
            <a:spLocks xmlns:a="http://schemas.openxmlformats.org/drawingml/2006/main" noGrp="1"/>
          </p:cNvSpPr>
          <p:nvPr/>
        </p:nvSpPr>
        <p:spPr>
          <a:xfrm xmlns:a="http://schemas.openxmlformats.org/drawingml/2006/main">
            <a:off x="5619750" y="515620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Datos personales sin politica</a:t>
            </a:r>
          </a:p>
        </p:txBody>
      </p:sp>
      <p:sp>
        <p:nvSpPr>
          <p:cNvPr id="60" name="">
            <a:extLst xmlns:a="http://schemas.openxmlformats.org/drawingml/2006/main">
              <a:ext uri="{FF2B5EF4-FFF2-40B4-BE49-F238E27FC236}">
                <a16:creationId xmlns:a16="http://schemas.microsoft.com/office/drawing/2014/main" id="{B7213FD4-5AE0-414E-A26A-FE06E78C4AFB}"/>
              </a:ext>
            </a:extLst>
          </p:cNvPr>
          <p:cNvSpPr>
            <a:spLocks xmlns:a="http://schemas.openxmlformats.org/drawingml/2006/main" noGrp="1"/>
          </p:cNvSpPr>
          <p:nvPr/>
        </p:nvSpPr>
        <p:spPr>
          <a:xfrm xmlns:a="http://schemas.openxmlformats.org/drawingml/2006/main">
            <a:off x="8458200" y="5080000"/>
            <a:ext cx="2933700" cy="57785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1" name="">
            <a:extLst xmlns:a="http://schemas.openxmlformats.org/drawingml/2006/main">
              <a:ext uri="{FF2B5EF4-FFF2-40B4-BE49-F238E27FC236}">
                <a16:creationId xmlns:a16="http://schemas.microsoft.com/office/drawing/2014/main" id="{13967786-A32A-4D22-AB00-1952A6F90FC3}"/>
              </a:ext>
            </a:extLst>
          </p:cNvPr>
          <p:cNvSpPr>
            <a:spLocks xmlns:a="http://schemas.openxmlformats.org/drawingml/2006/main" noGrp="1"/>
          </p:cNvSpPr>
          <p:nvPr/>
        </p:nvSpPr>
        <p:spPr>
          <a:xfrm xmlns:a="http://schemas.openxmlformats.org/drawingml/2006/main">
            <a:off x="8553450" y="5156200"/>
            <a:ext cx="2743200" cy="42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Gobernanza de datos y Ley 21.719</a:t>
            </a:r>
          </a:p>
        </p:txBody>
      </p:sp>
      <p:sp>
        <p:nvSpPr>
          <p:cNvPr id="62" name="">
            <a:extLst xmlns:a="http://schemas.openxmlformats.org/drawingml/2006/main">
              <a:ext uri="{FF2B5EF4-FFF2-40B4-BE49-F238E27FC236}">
                <a16:creationId xmlns:a16="http://schemas.microsoft.com/office/drawing/2014/main" id="{E7F4C218-4A01-4943-A7E7-9AA4324DC654}"/>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2210D20E-15A5-439D-B937-DEB1217BB39D}"/>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64" name="">
            <a:extLst xmlns:a="http://schemas.openxmlformats.org/drawingml/2006/main">
              <a:ext uri="{FF2B5EF4-FFF2-40B4-BE49-F238E27FC236}">
                <a16:creationId xmlns:a16="http://schemas.microsoft.com/office/drawing/2014/main" id="{C956083E-2AE6-4096-8485-E6248450B573}"/>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06 / 20</a:t>
            </a:r>
          </a:p>
        </p:txBody>
      </p:sp>
    </p:spTree>
    <p:extLst>
      <p:ext uri="{BB962C8B-B14F-4D97-AF65-F5344CB8AC3E}">
        <p14:creationId xmlns:p14="http://schemas.microsoft.com/office/powerpoint/2010/main" val="4830857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48FAF1-CB4F-4710-9E5D-5DB6B7F48D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5B80D58-92CF-42DA-B932-2F968C4CA63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522E21-60A7-42ED-B842-E822AFFCCDD8}"/>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7712062-D5F2-46FA-9429-2D92F362FD5C}"/>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FC05233-0C75-4B0C-92CF-740D13AE6AA8}"/>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A1ABC99-84A9-4089-A6F2-71485CF53A28}"/>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9511893-A704-4322-A976-FCFA076F527F}"/>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99666B6-108E-4DA4-8EE8-6ACEF7A221A6}"/>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0A7F919-A677-4625-BD05-145F540A4CF8}"/>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B7CAC03-3AAB-4CAB-BA8B-980ED695629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E3C5D99-D29C-4E1A-AC0B-BA04526BC877}"/>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CE1F3B4-8F84-4474-A727-9DAA070E786F}"/>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DC8ECDA-852D-42F2-B7AE-23F92ECA65D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F52292F-15AA-4C53-BE08-0949B6643DE0}"/>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652D0EA-9251-47DA-A0A2-1C26035EE0F8}"/>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2A6CE12-C00D-413A-B91B-7BC0510A9B4E}"/>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576A0E5-AE5C-47FD-9678-9A6FAD27767A}"/>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B2CFA3B-C18E-4C79-AC87-6CE2761DA84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492A110-19F9-4A0B-8D11-EE8212442A6F}"/>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9FADBB5-0FBD-400D-A0EE-B69E3E48FBC9}"/>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14558F3-BE65-46E6-AA16-D02A71D9D091}"/>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B47D5DF-68F9-4973-BDE6-553DFF846C46}"/>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3C6A29D-73CC-49A6-9DE0-692537D9641E}"/>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C42C8E7-C26B-4618-88A4-2E8F77E6BFBC}"/>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CAC5BA1-F5BE-4BF4-8307-226760646983}"/>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3D7CDCE-039B-4299-8F65-972D5C8609FE}"/>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F5FB243-76A9-4EC2-832D-02CCB0175EEC}"/>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F247EB8-199F-43AF-825E-523A2308A1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5F32F4EA-EF2C-45AB-9BD1-68B98AA6E0CC}"/>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103B2C64-6AA9-4DF0-B42A-E68606B5308F}"/>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07 · CONCEPTO RECTOR</a:t>
            </a:r>
          </a:p>
        </p:txBody>
      </p:sp>
      <p:sp>
        <p:nvSpPr>
          <p:cNvPr id="31" name="">
            <a:extLst xmlns:a="http://schemas.openxmlformats.org/drawingml/2006/main">
              <a:ext uri="{FF2B5EF4-FFF2-40B4-BE49-F238E27FC236}">
                <a16:creationId xmlns:a16="http://schemas.microsoft.com/office/drawing/2014/main" id="{223EE781-B183-4C95-9AC3-06772B8C7196}"/>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Ordenar la infraestructura interna tambien es una decision estrategica.</a:t>
            </a:r>
          </a:p>
        </p:txBody>
      </p:sp>
      <p:sp>
        <p:nvSpPr>
          <p:cNvPr id="32" name="">
            <a:extLst xmlns:a="http://schemas.openxmlformats.org/drawingml/2006/main">
              <a:ext uri="{FF2B5EF4-FFF2-40B4-BE49-F238E27FC236}">
                <a16:creationId xmlns:a16="http://schemas.microsoft.com/office/drawing/2014/main" id="{6708938B-18D5-4E54-B636-3F24B71A7E07}"/>
              </a:ext>
            </a:extLst>
          </p:cNvPr>
          <p:cNvSpPr>
            <a:spLocks xmlns:a="http://schemas.openxmlformats.org/drawingml/2006/main" noGrp="1"/>
          </p:cNvSpPr>
          <p:nvPr/>
        </p:nvSpPr>
        <p:spPr>
          <a:xfrm xmlns:a="http://schemas.openxmlformats.org/drawingml/2006/main">
            <a:off x="838200" y="1809750"/>
            <a:ext cx="57150" cy="6667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28F23708-E2D0-4F87-9EFF-D61EAB820472}"/>
              </a:ext>
            </a:extLst>
          </p:cNvPr>
          <p:cNvSpPr>
            <a:spLocks xmlns:a="http://schemas.openxmlformats.org/drawingml/2006/main" noGrp="1"/>
          </p:cNvSpPr>
          <p:nvPr/>
        </p:nvSpPr>
        <p:spPr>
          <a:xfrm xmlns:a="http://schemas.openxmlformats.org/drawingml/2006/main">
            <a:off x="933450" y="18097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34" name="">
            <a:extLst xmlns:a="http://schemas.openxmlformats.org/drawingml/2006/main">
              <a:ext uri="{FF2B5EF4-FFF2-40B4-BE49-F238E27FC236}">
                <a16:creationId xmlns:a16="http://schemas.microsoft.com/office/drawing/2014/main" id="{D0677C69-2F1C-4773-B7DC-1EF805ED8C37}"/>
              </a:ext>
            </a:extLst>
          </p:cNvPr>
          <p:cNvSpPr>
            <a:spLocks xmlns:a="http://schemas.openxmlformats.org/drawingml/2006/main" noGrp="1"/>
          </p:cNvSpPr>
          <p:nvPr/>
        </p:nvSpPr>
        <p:spPr>
          <a:xfrm xmlns:a="http://schemas.openxmlformats.org/drawingml/2006/main">
            <a:off x="1104900" y="19621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Ordenar para crecer.</a:t>
            </a:r>
          </a:p>
        </p:txBody>
      </p:sp>
      <p:sp>
        <p:nvSpPr>
          <p:cNvPr id="35" name="">
            <a:extLst xmlns:a="http://schemas.openxmlformats.org/drawingml/2006/main">
              <a:ext uri="{FF2B5EF4-FFF2-40B4-BE49-F238E27FC236}">
                <a16:creationId xmlns:a16="http://schemas.microsoft.com/office/drawing/2014/main" id="{61DD968F-9116-4CC0-A343-AE6EFA4AB4C4}"/>
              </a:ext>
            </a:extLst>
          </p:cNvPr>
          <p:cNvSpPr>
            <a:spLocks xmlns:a="http://schemas.openxmlformats.org/drawingml/2006/main" noGrp="1"/>
          </p:cNvSpPr>
          <p:nvPr/>
        </p:nvSpPr>
        <p:spPr>
          <a:xfrm xmlns:a="http://schemas.openxmlformats.org/drawingml/2006/main">
            <a:off x="1066800" y="2724150"/>
            <a:ext cx="57150" cy="6667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610D27F6-D64D-4C7B-B196-4572E0F5D34F}"/>
              </a:ext>
            </a:extLst>
          </p:cNvPr>
          <p:cNvSpPr>
            <a:spLocks xmlns:a="http://schemas.openxmlformats.org/drawingml/2006/main" noGrp="1"/>
          </p:cNvSpPr>
          <p:nvPr/>
        </p:nvSpPr>
        <p:spPr>
          <a:xfrm xmlns:a="http://schemas.openxmlformats.org/drawingml/2006/main">
            <a:off x="1162050" y="27241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37" name="">
            <a:extLst xmlns:a="http://schemas.openxmlformats.org/drawingml/2006/main">
              <a:ext uri="{FF2B5EF4-FFF2-40B4-BE49-F238E27FC236}">
                <a16:creationId xmlns:a16="http://schemas.microsoft.com/office/drawing/2014/main" id="{869B50B6-47BE-4C07-8D2C-F35DAD160EF0}"/>
              </a:ext>
            </a:extLst>
          </p:cNvPr>
          <p:cNvSpPr>
            <a:spLocks xmlns:a="http://schemas.openxmlformats.org/drawingml/2006/main" noGrp="1"/>
          </p:cNvSpPr>
          <p:nvPr/>
        </p:nvSpPr>
        <p:spPr>
          <a:xfrm xmlns:a="http://schemas.openxmlformats.org/drawingml/2006/main">
            <a:off x="1333500" y="28765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370EF"/>
                </a:solidFill>
                <a:latin typeface="Aptos"/>
                <a:ea typeface="Aptos"/>
                <a:cs typeface="Aptos"/>
              </a:defRPr>
            </a:pPr>
            <a:r>
              <a:rPr sz="1500" b="1">
                <a:solidFill>
                  <a:srgbClr val="1370EF"/>
                </a:solidFill>
                <a:latin typeface="Aptos"/>
                <a:ea typeface="Aptos"/>
                <a:cs typeface="Aptos"/>
              </a:rPr>
              <a:t>La infraestructura interna tambien es estrategia.</a:t>
            </a:r>
          </a:p>
        </p:txBody>
      </p:sp>
      <p:sp>
        <p:nvSpPr>
          <p:cNvPr id="38" name="">
            <a:extLst xmlns:a="http://schemas.openxmlformats.org/drawingml/2006/main">
              <a:ext uri="{FF2B5EF4-FFF2-40B4-BE49-F238E27FC236}">
                <a16:creationId xmlns:a16="http://schemas.microsoft.com/office/drawing/2014/main" id="{92473657-E0A4-4DB4-94EC-69F4123739AC}"/>
              </a:ext>
            </a:extLst>
          </p:cNvPr>
          <p:cNvSpPr>
            <a:spLocks xmlns:a="http://schemas.openxmlformats.org/drawingml/2006/main" noGrp="1"/>
          </p:cNvSpPr>
          <p:nvPr/>
        </p:nvSpPr>
        <p:spPr>
          <a:xfrm xmlns:a="http://schemas.openxmlformats.org/drawingml/2006/main">
            <a:off x="1295400" y="3638550"/>
            <a:ext cx="57150" cy="6667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41573520-404F-4C6D-819A-E9CB244D02A7}"/>
              </a:ext>
            </a:extLst>
          </p:cNvPr>
          <p:cNvSpPr>
            <a:spLocks xmlns:a="http://schemas.openxmlformats.org/drawingml/2006/main" noGrp="1"/>
          </p:cNvSpPr>
          <p:nvPr/>
        </p:nvSpPr>
        <p:spPr>
          <a:xfrm xmlns:a="http://schemas.openxmlformats.org/drawingml/2006/main">
            <a:off x="1390650" y="36385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40" name="">
            <a:extLst xmlns:a="http://schemas.openxmlformats.org/drawingml/2006/main">
              <a:ext uri="{FF2B5EF4-FFF2-40B4-BE49-F238E27FC236}">
                <a16:creationId xmlns:a16="http://schemas.microsoft.com/office/drawing/2014/main" id="{6580882A-31E1-44CC-870A-89C07C368E43}"/>
              </a:ext>
            </a:extLst>
          </p:cNvPr>
          <p:cNvSpPr>
            <a:spLocks xmlns:a="http://schemas.openxmlformats.org/drawingml/2006/main" noGrp="1"/>
          </p:cNvSpPr>
          <p:nvPr/>
        </p:nvSpPr>
        <p:spPr>
          <a:xfrm xmlns:a="http://schemas.openxmlformats.org/drawingml/2006/main">
            <a:off x="1562100" y="37909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IME Conecta no compite con IME Link 2027: lo habilita.</a:t>
            </a:r>
          </a:p>
        </p:txBody>
      </p:sp>
      <p:sp>
        <p:nvSpPr>
          <p:cNvPr id="41" name="">
            <a:extLst xmlns:a="http://schemas.openxmlformats.org/drawingml/2006/main">
              <a:ext uri="{FF2B5EF4-FFF2-40B4-BE49-F238E27FC236}">
                <a16:creationId xmlns:a16="http://schemas.microsoft.com/office/drawing/2014/main" id="{0090BF31-CE5A-4373-810B-EDAC6A6F6754}"/>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97402F1C-3F05-477F-B84B-95F079A95D0D}"/>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3" name="">
            <a:extLst xmlns:a="http://schemas.openxmlformats.org/drawingml/2006/main">
              <a:ext uri="{FF2B5EF4-FFF2-40B4-BE49-F238E27FC236}">
                <a16:creationId xmlns:a16="http://schemas.microsoft.com/office/drawing/2014/main" id="{32DEC26D-545B-409D-8FB3-04463A9873B6}"/>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07 / 20</a:t>
            </a:r>
          </a:p>
        </p:txBody>
      </p:sp>
    </p:spTree>
    <p:extLst>
      <p:ext uri="{BB962C8B-B14F-4D97-AF65-F5344CB8AC3E}">
        <p14:creationId xmlns:p14="http://schemas.microsoft.com/office/powerpoint/2010/main" val="18949397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A8E08D-D66D-4545-B8E6-00E3727EE6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A039A0B-5FBA-4850-AC38-8E50C8A1D99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7E17830-EACD-40FE-82D0-D4177A04C098}"/>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B0766F4-75B6-4356-A6AF-D6C6FDDAF13A}"/>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666D773-D40C-40CD-B1D4-C34C207ABFA9}"/>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4CB071E-66FF-4021-91C4-EC78663675AF}"/>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DF3BCA3-317F-42A9-9565-23AF1E9FAEAF}"/>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4B62C98-EF08-42A0-9A65-AD7F46C4C526}"/>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0526FF8-EEB3-4AF5-A113-3A18E2D20142}"/>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E1D1611-4D58-4B23-A018-83B203336978}"/>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EB87291-A192-46D2-9A9A-728784AD239A}"/>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BD62A6A-E145-44C0-BA59-73067E9FAEE8}"/>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9E8B37A-56EB-4D8D-97B9-565DFDB0B462}"/>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749AE90-C5DF-49D9-A005-4818A8B0EED0}"/>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6BFC66C-4E8B-4AE5-82EB-7079F6DB3CB1}"/>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336CFAB-AB4E-4472-BB25-5B000EFBB2C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B9A62A8-613B-49D2-819F-01D343743183}"/>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24A1B5A-1DA0-4A7F-BBB5-3E87AFB60626}"/>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2DC6E1BC-0DD1-4854-AF51-C182CDEDFA17}"/>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6F0EE8F-97BB-4D06-8019-212EFA6B66A8}"/>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971B56D-8705-4ADE-A9AA-2CDB316C5261}"/>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291C47C-7900-4588-B11E-43E602251074}"/>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6964E9F-6C78-41D5-B43C-1DFE6C251AAA}"/>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8E4F32B-43CA-4958-8A9F-716F7E8CFE24}"/>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8638721-1064-4BA1-A0CA-2CAAD4FC5C4C}"/>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3DDCCFB2-2398-4E89-92AA-6766BAE0FDDE}"/>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4EBB601-2DF0-46B7-AC8C-8A9D6A630FF0}"/>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73D7296-0AF6-48AF-8E00-8EAD697B6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0D25F825-510A-4996-A789-7C76B1689145}"/>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C559FA2D-C387-4A9A-83BC-0B5F28ACC6AF}"/>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08 · IME CONECTA</a:t>
            </a:r>
          </a:p>
        </p:txBody>
      </p:sp>
      <p:sp>
        <p:nvSpPr>
          <p:cNvPr id="31" name="">
            <a:extLst xmlns:a="http://schemas.openxmlformats.org/drawingml/2006/main">
              <a:ext uri="{FF2B5EF4-FFF2-40B4-BE49-F238E27FC236}">
                <a16:creationId xmlns:a16="http://schemas.microsoft.com/office/drawing/2014/main" id="{7719F114-D9EB-4569-9092-2B885D302AC4}"/>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IME Conecta organiza personas, acuerdos, documentos y avance institucional.</a:t>
            </a:r>
          </a:p>
        </p:txBody>
      </p:sp>
      <p:sp>
        <p:nvSpPr>
          <p:cNvPr id="32" name="">
            <a:extLst xmlns:a="http://schemas.openxmlformats.org/drawingml/2006/main">
              <a:ext uri="{FF2B5EF4-FFF2-40B4-BE49-F238E27FC236}">
                <a16:creationId xmlns:a16="http://schemas.microsoft.com/office/drawing/2014/main" id="{6544249F-1699-4782-820B-B36B429E76AD}"/>
              </a:ext>
            </a:extLst>
          </p:cNvPr>
          <p:cNvSpPr>
            <a:spLocks xmlns:a="http://schemas.openxmlformats.org/drawingml/2006/main" noGrp="1"/>
          </p:cNvSpPr>
          <p:nvPr/>
        </p:nvSpPr>
        <p:spPr>
          <a:xfrm xmlns:a="http://schemas.openxmlformats.org/drawingml/2006/main">
            <a:off x="514350" y="1962150"/>
            <a:ext cx="4476750" cy="13716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E2CC9C80-8A67-40FC-81A4-63B337CE3184}"/>
              </a:ext>
            </a:extLst>
          </p:cNvPr>
          <p:cNvSpPr>
            <a:spLocks xmlns:a="http://schemas.openxmlformats.org/drawingml/2006/main" noGrp="1"/>
          </p:cNvSpPr>
          <p:nvPr/>
        </p:nvSpPr>
        <p:spPr>
          <a:xfrm xmlns:a="http://schemas.openxmlformats.org/drawingml/2006/main">
            <a:off x="723900" y="2114550"/>
            <a:ext cx="4057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3C8EE"/>
                </a:solidFill>
                <a:latin typeface="Aptos"/>
                <a:ea typeface="Aptos"/>
                <a:cs typeface="Aptos"/>
              </a:defRPr>
            </a:pPr>
            <a:r>
              <a:rPr sz="1425" b="0">
                <a:solidFill>
                  <a:srgbClr val="B3C8EE"/>
                </a:solidFill>
                <a:latin typeface="Aptos"/>
                <a:ea typeface="Aptos"/>
                <a:cs typeface="Aptos"/>
              </a:rPr>
              <a:t>IME Conecta sera la plataforma interna y modelo de coordinacion gremial orientado a ordenar la base de socios/as, comites de trabajo, acuerdos de directorio, documentos institucionales, proyectos estrategicos, responsables, plazos, activos digitales y avances.</a:t>
            </a:r>
          </a:p>
        </p:txBody>
      </p:sp>
      <p:sp>
        <p:nvSpPr>
          <p:cNvPr id="34" name="">
            <a:extLst xmlns:a="http://schemas.openxmlformats.org/drawingml/2006/main">
              <a:ext uri="{FF2B5EF4-FFF2-40B4-BE49-F238E27FC236}">
                <a16:creationId xmlns:a16="http://schemas.microsoft.com/office/drawing/2014/main" id="{73B5673A-248F-49F9-9792-9A8FC7CDE887}"/>
              </a:ext>
            </a:extLst>
          </p:cNvPr>
          <p:cNvSpPr>
            <a:spLocks xmlns:a="http://schemas.openxmlformats.org/drawingml/2006/main" noGrp="1"/>
          </p:cNvSpPr>
          <p:nvPr/>
        </p:nvSpPr>
        <p:spPr>
          <a:xfrm xmlns:a="http://schemas.openxmlformats.org/drawingml/2006/main">
            <a:off x="5524500" y="17907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C9D584E7-F9FC-4977-BB5E-98E881B2EAA5}"/>
              </a:ext>
            </a:extLst>
          </p:cNvPr>
          <p:cNvSpPr>
            <a:spLocks xmlns:a="http://schemas.openxmlformats.org/drawingml/2006/main" noGrp="1"/>
          </p:cNvSpPr>
          <p:nvPr/>
        </p:nvSpPr>
        <p:spPr>
          <a:xfrm xmlns:a="http://schemas.openxmlformats.org/drawingml/2006/main">
            <a:off x="5657850" y="18859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Socios/as</a:t>
            </a:r>
          </a:p>
        </p:txBody>
      </p:sp>
      <p:sp>
        <p:nvSpPr>
          <p:cNvPr id="36" name="">
            <a:extLst xmlns:a="http://schemas.openxmlformats.org/drawingml/2006/main">
              <a:ext uri="{FF2B5EF4-FFF2-40B4-BE49-F238E27FC236}">
                <a16:creationId xmlns:a16="http://schemas.microsoft.com/office/drawing/2014/main" id="{87C327A5-CDB5-47B0-9DA7-9E1FAC5CE807}"/>
              </a:ext>
            </a:extLst>
          </p:cNvPr>
          <p:cNvSpPr>
            <a:spLocks xmlns:a="http://schemas.openxmlformats.org/drawingml/2006/main" noGrp="1"/>
          </p:cNvSpPr>
          <p:nvPr/>
        </p:nvSpPr>
        <p:spPr>
          <a:xfrm xmlns:a="http://schemas.openxmlformats.org/drawingml/2006/main">
            <a:off x="8439150" y="17907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37" name="">
            <a:extLst xmlns:a="http://schemas.openxmlformats.org/drawingml/2006/main">
              <a:ext uri="{FF2B5EF4-FFF2-40B4-BE49-F238E27FC236}">
                <a16:creationId xmlns:a16="http://schemas.microsoft.com/office/drawing/2014/main" id="{D63FBB38-9EBF-462A-BA9F-1BA7B595D0C3}"/>
              </a:ext>
            </a:extLst>
          </p:cNvPr>
          <p:cNvSpPr>
            <a:spLocks xmlns:a="http://schemas.openxmlformats.org/drawingml/2006/main" noGrp="1"/>
          </p:cNvSpPr>
          <p:nvPr/>
        </p:nvSpPr>
        <p:spPr>
          <a:xfrm xmlns:a="http://schemas.openxmlformats.org/drawingml/2006/main">
            <a:off x="8572500" y="18859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Comites</a:t>
            </a:r>
          </a:p>
        </p:txBody>
      </p:sp>
      <p:sp>
        <p:nvSpPr>
          <p:cNvPr id="38" name="">
            <a:extLst xmlns:a="http://schemas.openxmlformats.org/drawingml/2006/main">
              <a:ext uri="{FF2B5EF4-FFF2-40B4-BE49-F238E27FC236}">
                <a16:creationId xmlns:a16="http://schemas.microsoft.com/office/drawing/2014/main" id="{0B797510-D056-483D-A48E-6CBAC359C3E0}"/>
              </a:ext>
            </a:extLst>
          </p:cNvPr>
          <p:cNvSpPr>
            <a:spLocks xmlns:a="http://schemas.openxmlformats.org/drawingml/2006/main" noGrp="1"/>
          </p:cNvSpPr>
          <p:nvPr/>
        </p:nvSpPr>
        <p:spPr>
          <a:xfrm xmlns:a="http://schemas.openxmlformats.org/drawingml/2006/main">
            <a:off x="5524500" y="24384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39" name="">
            <a:extLst xmlns:a="http://schemas.openxmlformats.org/drawingml/2006/main">
              <a:ext uri="{FF2B5EF4-FFF2-40B4-BE49-F238E27FC236}">
                <a16:creationId xmlns:a16="http://schemas.microsoft.com/office/drawing/2014/main" id="{59F9DF57-15E9-498E-B464-6772807F1225}"/>
              </a:ext>
            </a:extLst>
          </p:cNvPr>
          <p:cNvSpPr>
            <a:spLocks xmlns:a="http://schemas.openxmlformats.org/drawingml/2006/main" noGrp="1"/>
          </p:cNvSpPr>
          <p:nvPr/>
        </p:nvSpPr>
        <p:spPr>
          <a:xfrm xmlns:a="http://schemas.openxmlformats.org/drawingml/2006/main">
            <a:off x="5657850" y="25336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Acuerdos</a:t>
            </a:r>
          </a:p>
        </p:txBody>
      </p:sp>
      <p:sp>
        <p:nvSpPr>
          <p:cNvPr id="40" name="">
            <a:extLst xmlns:a="http://schemas.openxmlformats.org/drawingml/2006/main">
              <a:ext uri="{FF2B5EF4-FFF2-40B4-BE49-F238E27FC236}">
                <a16:creationId xmlns:a16="http://schemas.microsoft.com/office/drawing/2014/main" id="{4FE8458B-2DD7-4F58-8F87-50E1BD952BE1}"/>
              </a:ext>
            </a:extLst>
          </p:cNvPr>
          <p:cNvSpPr>
            <a:spLocks xmlns:a="http://schemas.openxmlformats.org/drawingml/2006/main" noGrp="1"/>
          </p:cNvSpPr>
          <p:nvPr/>
        </p:nvSpPr>
        <p:spPr>
          <a:xfrm xmlns:a="http://schemas.openxmlformats.org/drawingml/2006/main">
            <a:off x="8439150" y="24384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1" name="">
            <a:extLst xmlns:a="http://schemas.openxmlformats.org/drawingml/2006/main">
              <a:ext uri="{FF2B5EF4-FFF2-40B4-BE49-F238E27FC236}">
                <a16:creationId xmlns:a16="http://schemas.microsoft.com/office/drawing/2014/main" id="{D4DF7291-657F-416D-A66D-A2604646BFFD}"/>
              </a:ext>
            </a:extLst>
          </p:cNvPr>
          <p:cNvSpPr>
            <a:spLocks xmlns:a="http://schemas.openxmlformats.org/drawingml/2006/main" noGrp="1"/>
          </p:cNvSpPr>
          <p:nvPr/>
        </p:nvSpPr>
        <p:spPr>
          <a:xfrm xmlns:a="http://schemas.openxmlformats.org/drawingml/2006/main">
            <a:off x="8572500" y="25336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Documentos</a:t>
            </a:r>
          </a:p>
        </p:txBody>
      </p:sp>
      <p:sp>
        <p:nvSpPr>
          <p:cNvPr id="42" name="">
            <a:extLst xmlns:a="http://schemas.openxmlformats.org/drawingml/2006/main">
              <a:ext uri="{FF2B5EF4-FFF2-40B4-BE49-F238E27FC236}">
                <a16:creationId xmlns:a16="http://schemas.microsoft.com/office/drawing/2014/main" id="{76FE1DE3-8596-4F53-8AAD-47781AC79C1C}"/>
              </a:ext>
            </a:extLst>
          </p:cNvPr>
          <p:cNvSpPr>
            <a:spLocks xmlns:a="http://schemas.openxmlformats.org/drawingml/2006/main" noGrp="1"/>
          </p:cNvSpPr>
          <p:nvPr/>
        </p:nvSpPr>
        <p:spPr>
          <a:xfrm xmlns:a="http://schemas.openxmlformats.org/drawingml/2006/main">
            <a:off x="5524500" y="30861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3" name="">
            <a:extLst xmlns:a="http://schemas.openxmlformats.org/drawingml/2006/main">
              <a:ext uri="{FF2B5EF4-FFF2-40B4-BE49-F238E27FC236}">
                <a16:creationId xmlns:a16="http://schemas.microsoft.com/office/drawing/2014/main" id="{70510D96-5A02-4793-A81D-3AA95B84445C}"/>
              </a:ext>
            </a:extLst>
          </p:cNvPr>
          <p:cNvSpPr>
            <a:spLocks xmlns:a="http://schemas.openxmlformats.org/drawingml/2006/main" noGrp="1"/>
          </p:cNvSpPr>
          <p:nvPr/>
        </p:nvSpPr>
        <p:spPr>
          <a:xfrm xmlns:a="http://schemas.openxmlformats.org/drawingml/2006/main">
            <a:off x="5657850" y="31813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Proyectos</a:t>
            </a:r>
          </a:p>
        </p:txBody>
      </p:sp>
      <p:sp>
        <p:nvSpPr>
          <p:cNvPr id="44" name="">
            <a:extLst xmlns:a="http://schemas.openxmlformats.org/drawingml/2006/main">
              <a:ext uri="{FF2B5EF4-FFF2-40B4-BE49-F238E27FC236}">
                <a16:creationId xmlns:a16="http://schemas.microsoft.com/office/drawing/2014/main" id="{6A2B7990-D744-4E12-8698-705E4CD3142E}"/>
              </a:ext>
            </a:extLst>
          </p:cNvPr>
          <p:cNvSpPr>
            <a:spLocks xmlns:a="http://schemas.openxmlformats.org/drawingml/2006/main" noGrp="1"/>
          </p:cNvSpPr>
          <p:nvPr/>
        </p:nvSpPr>
        <p:spPr>
          <a:xfrm xmlns:a="http://schemas.openxmlformats.org/drawingml/2006/main">
            <a:off x="8439150" y="30861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5" name="">
            <a:extLst xmlns:a="http://schemas.openxmlformats.org/drawingml/2006/main">
              <a:ext uri="{FF2B5EF4-FFF2-40B4-BE49-F238E27FC236}">
                <a16:creationId xmlns:a16="http://schemas.microsoft.com/office/drawing/2014/main" id="{0DEA6544-6491-477D-AD4E-9B6887C5CD79}"/>
              </a:ext>
            </a:extLst>
          </p:cNvPr>
          <p:cNvSpPr>
            <a:spLocks xmlns:a="http://schemas.openxmlformats.org/drawingml/2006/main" noGrp="1"/>
          </p:cNvSpPr>
          <p:nvPr/>
        </p:nvSpPr>
        <p:spPr>
          <a:xfrm xmlns:a="http://schemas.openxmlformats.org/drawingml/2006/main">
            <a:off x="8572500" y="31813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Activos digitales</a:t>
            </a:r>
          </a:p>
        </p:txBody>
      </p:sp>
      <p:sp>
        <p:nvSpPr>
          <p:cNvPr id="46" name="">
            <a:extLst xmlns:a="http://schemas.openxmlformats.org/drawingml/2006/main">
              <a:ext uri="{FF2B5EF4-FFF2-40B4-BE49-F238E27FC236}">
                <a16:creationId xmlns:a16="http://schemas.microsoft.com/office/drawing/2014/main" id="{086CA550-E3F1-4F74-B3C3-5E80573D4A07}"/>
              </a:ext>
            </a:extLst>
          </p:cNvPr>
          <p:cNvSpPr>
            <a:spLocks xmlns:a="http://schemas.openxmlformats.org/drawingml/2006/main" noGrp="1"/>
          </p:cNvSpPr>
          <p:nvPr/>
        </p:nvSpPr>
        <p:spPr>
          <a:xfrm xmlns:a="http://schemas.openxmlformats.org/drawingml/2006/main">
            <a:off x="5524500" y="37338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47" name="">
            <a:extLst xmlns:a="http://schemas.openxmlformats.org/drawingml/2006/main">
              <a:ext uri="{FF2B5EF4-FFF2-40B4-BE49-F238E27FC236}">
                <a16:creationId xmlns:a16="http://schemas.microsoft.com/office/drawing/2014/main" id="{515090ED-0C10-4112-BAB8-CC91E9526035}"/>
              </a:ext>
            </a:extLst>
          </p:cNvPr>
          <p:cNvSpPr>
            <a:spLocks xmlns:a="http://schemas.openxmlformats.org/drawingml/2006/main" noGrp="1"/>
          </p:cNvSpPr>
          <p:nvPr/>
        </p:nvSpPr>
        <p:spPr>
          <a:xfrm xmlns:a="http://schemas.openxmlformats.org/drawingml/2006/main">
            <a:off x="5657850" y="38290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Datos personales</a:t>
            </a:r>
          </a:p>
        </p:txBody>
      </p:sp>
      <p:sp>
        <p:nvSpPr>
          <p:cNvPr id="48" name="">
            <a:extLst xmlns:a="http://schemas.openxmlformats.org/drawingml/2006/main">
              <a:ext uri="{FF2B5EF4-FFF2-40B4-BE49-F238E27FC236}">
                <a16:creationId xmlns:a16="http://schemas.microsoft.com/office/drawing/2014/main" id="{FEBA79E0-1B91-47CD-9F53-195348CA9A0D}"/>
              </a:ext>
            </a:extLst>
          </p:cNvPr>
          <p:cNvSpPr>
            <a:spLocks xmlns:a="http://schemas.openxmlformats.org/drawingml/2006/main" noGrp="1"/>
          </p:cNvSpPr>
          <p:nvPr/>
        </p:nvSpPr>
        <p:spPr>
          <a:xfrm xmlns:a="http://schemas.openxmlformats.org/drawingml/2006/main">
            <a:off x="8439150" y="37338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49" name="">
            <a:extLst xmlns:a="http://schemas.openxmlformats.org/drawingml/2006/main">
              <a:ext uri="{FF2B5EF4-FFF2-40B4-BE49-F238E27FC236}">
                <a16:creationId xmlns:a16="http://schemas.microsoft.com/office/drawing/2014/main" id="{24C55E2E-1643-4A81-AB02-8DEFF27A4DA8}"/>
              </a:ext>
            </a:extLst>
          </p:cNvPr>
          <p:cNvSpPr>
            <a:spLocks xmlns:a="http://schemas.openxmlformats.org/drawingml/2006/main" noGrp="1"/>
          </p:cNvSpPr>
          <p:nvPr/>
        </p:nvSpPr>
        <p:spPr>
          <a:xfrm xmlns:a="http://schemas.openxmlformats.org/drawingml/2006/main">
            <a:off x="8572500" y="38290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Trazabilidad</a:t>
            </a:r>
          </a:p>
        </p:txBody>
      </p:sp>
      <p:sp>
        <p:nvSpPr>
          <p:cNvPr id="50" name="">
            <a:extLst xmlns:a="http://schemas.openxmlformats.org/drawingml/2006/main">
              <a:ext uri="{FF2B5EF4-FFF2-40B4-BE49-F238E27FC236}">
                <a16:creationId xmlns:a16="http://schemas.microsoft.com/office/drawing/2014/main" id="{5BAC89A6-50D5-40E4-BF3C-8DADFA114EF3}"/>
              </a:ext>
            </a:extLst>
          </p:cNvPr>
          <p:cNvSpPr>
            <a:spLocks xmlns:a="http://schemas.openxmlformats.org/drawingml/2006/main" noGrp="1"/>
          </p:cNvSpPr>
          <p:nvPr/>
        </p:nvSpPr>
        <p:spPr>
          <a:xfrm xmlns:a="http://schemas.openxmlformats.org/drawingml/2006/main">
            <a:off x="5524500" y="43815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5E9CD"/>
            </a:solidFill>
            <a:prstDash val="solid"/>
          </a:ln>
        </p:spPr>
      </p:sp>
      <p:sp>
        <p:nvSpPr>
          <p:cNvPr id="51" name="">
            <a:extLst xmlns:a="http://schemas.openxmlformats.org/drawingml/2006/main">
              <a:ext uri="{FF2B5EF4-FFF2-40B4-BE49-F238E27FC236}">
                <a16:creationId xmlns:a16="http://schemas.microsoft.com/office/drawing/2014/main" id="{F36AB279-9B24-4C98-8FB3-FDCC8A883EC2}"/>
              </a:ext>
            </a:extLst>
          </p:cNvPr>
          <p:cNvSpPr>
            <a:spLocks xmlns:a="http://schemas.openxmlformats.org/drawingml/2006/main" noGrp="1"/>
          </p:cNvSpPr>
          <p:nvPr/>
        </p:nvSpPr>
        <p:spPr>
          <a:xfrm xmlns:a="http://schemas.openxmlformats.org/drawingml/2006/main">
            <a:off x="5657850" y="44767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Comunicaciones internas</a:t>
            </a:r>
          </a:p>
        </p:txBody>
      </p:sp>
      <p:sp>
        <p:nvSpPr>
          <p:cNvPr id="52" name="">
            <a:extLst xmlns:a="http://schemas.openxmlformats.org/drawingml/2006/main">
              <a:ext uri="{FF2B5EF4-FFF2-40B4-BE49-F238E27FC236}">
                <a16:creationId xmlns:a16="http://schemas.microsoft.com/office/drawing/2014/main" id="{F7ED3812-FB20-47B1-8A72-8859706E8DF0}"/>
              </a:ext>
            </a:extLst>
          </p:cNvPr>
          <p:cNvSpPr>
            <a:spLocks xmlns:a="http://schemas.openxmlformats.org/drawingml/2006/main" noGrp="1"/>
          </p:cNvSpPr>
          <p:nvPr/>
        </p:nvSpPr>
        <p:spPr>
          <a:xfrm xmlns:a="http://schemas.openxmlformats.org/drawingml/2006/main">
            <a:off x="8439150" y="4381500"/>
            <a:ext cx="2800350" cy="533400"/>
          </a:xfrm>
          <a:prstGeom xmlns:a="http://schemas.openxmlformats.org/drawingml/2006/main" prst="rect">
            <a:avLst/>
          </a:prstGeom>
          <a:solidFill xmlns:a="http://schemas.openxmlformats.org/drawingml/2006/main">
            <a:srgbClr val="111B23"/>
          </a:solidFill>
          <a:ln xmlns:a="http://schemas.openxmlformats.org/drawingml/2006/main" w="9525">
            <a:solidFill>
              <a:srgbClr val="1370EF"/>
            </a:solidFill>
            <a:prstDash val="solid"/>
          </a:ln>
        </p:spPr>
      </p:sp>
      <p:sp>
        <p:nvSpPr>
          <p:cNvPr id="53" name="">
            <a:extLst xmlns:a="http://schemas.openxmlformats.org/drawingml/2006/main">
              <a:ext uri="{FF2B5EF4-FFF2-40B4-BE49-F238E27FC236}">
                <a16:creationId xmlns:a16="http://schemas.microsoft.com/office/drawing/2014/main" id="{BA948A77-10AD-4D76-AB60-5D4D5EF9F441}"/>
              </a:ext>
            </a:extLst>
          </p:cNvPr>
          <p:cNvSpPr>
            <a:spLocks xmlns:a="http://schemas.openxmlformats.org/drawingml/2006/main" noGrp="1"/>
          </p:cNvSpPr>
          <p:nvPr/>
        </p:nvSpPr>
        <p:spPr>
          <a:xfrm xmlns:a="http://schemas.openxmlformats.org/drawingml/2006/main">
            <a:off x="8572500" y="4476750"/>
            <a:ext cx="2533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EFF1F5"/>
                </a:solidFill>
                <a:latin typeface="Aptos"/>
                <a:ea typeface="Aptos"/>
                <a:cs typeface="Aptos"/>
              </a:defRPr>
            </a:pPr>
            <a:r>
              <a:rPr sz="1200" b="1">
                <a:solidFill>
                  <a:srgbClr val="EFF1F5"/>
                </a:solidFill>
                <a:latin typeface="Aptos"/>
                <a:ea typeface="Aptos"/>
                <a:cs typeface="Aptos"/>
              </a:rPr>
              <a:t>Reportes</a:t>
            </a:r>
          </a:p>
        </p:txBody>
      </p:sp>
      <p:sp>
        <p:nvSpPr>
          <p:cNvPr id="54" name="">
            <a:extLst xmlns:a="http://schemas.openxmlformats.org/drawingml/2006/main">
              <a:ext uri="{FF2B5EF4-FFF2-40B4-BE49-F238E27FC236}">
                <a16:creationId xmlns:a16="http://schemas.microsoft.com/office/drawing/2014/main" id="{7555A078-19E1-4F5E-9A8B-87EE5F6D66EE}"/>
              </a:ext>
            </a:extLst>
          </p:cNvPr>
          <p:cNvSpPr>
            <a:spLocks xmlns:a="http://schemas.openxmlformats.org/drawingml/2006/main" noGrp="1"/>
          </p:cNvSpPr>
          <p:nvPr/>
        </p:nvSpPr>
        <p:spPr>
          <a:xfrm xmlns:a="http://schemas.openxmlformats.org/drawingml/2006/main">
            <a:off x="514350" y="5314950"/>
            <a:ext cx="57150" cy="685800"/>
          </a:xfrm>
          <a:prstGeom xmlns:a="http://schemas.openxmlformats.org/drawingml/2006/main" prst="rect">
            <a:avLst/>
          </a:prstGeom>
          <a:solidFill xmlns:a="http://schemas.openxmlformats.org/drawingml/2006/main">
            <a:srgbClr val="83F0E2"/>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8681D633-F98C-4C79-84C5-2323F42D2C03}"/>
              </a:ext>
            </a:extLst>
          </p:cNvPr>
          <p:cNvSpPr>
            <a:spLocks xmlns:a="http://schemas.openxmlformats.org/drawingml/2006/main" noGrp="1"/>
          </p:cNvSpPr>
          <p:nvPr/>
        </p:nvSpPr>
        <p:spPr>
          <a:xfrm xmlns:a="http://schemas.openxmlformats.org/drawingml/2006/main">
            <a:off x="609600" y="5314950"/>
            <a:ext cx="10172700" cy="68580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56" name="">
            <a:extLst xmlns:a="http://schemas.openxmlformats.org/drawingml/2006/main">
              <a:ext uri="{FF2B5EF4-FFF2-40B4-BE49-F238E27FC236}">
                <a16:creationId xmlns:a16="http://schemas.microsoft.com/office/drawing/2014/main" id="{FA2833AF-ED05-4BF2-8BBE-65B68F69470A}"/>
              </a:ext>
            </a:extLst>
          </p:cNvPr>
          <p:cNvSpPr>
            <a:spLocks xmlns:a="http://schemas.openxmlformats.org/drawingml/2006/main" noGrp="1"/>
          </p:cNvSpPr>
          <p:nvPr/>
        </p:nvSpPr>
        <p:spPr>
          <a:xfrm xmlns:a="http://schemas.openxmlformats.org/drawingml/2006/main">
            <a:off x="781050" y="5467350"/>
            <a:ext cx="98298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83F0E2"/>
                </a:solidFill>
                <a:latin typeface="Aptos"/>
                <a:ea typeface="Aptos"/>
                <a:cs typeface="Aptos"/>
              </a:defRPr>
            </a:pPr>
            <a:r>
              <a:rPr sz="1500" b="1">
                <a:solidFill>
                  <a:srgbClr val="83F0E2"/>
                </a:solidFill>
                <a:latin typeface="Aptos"/>
                <a:ea typeface="Aptos"/>
                <a:cs typeface="Aptos"/>
              </a:rPr>
              <a:t>No se presenta como simple software, sino como infraestructura de gestion.</a:t>
            </a:r>
          </a:p>
        </p:txBody>
      </p:sp>
      <p:sp>
        <p:nvSpPr>
          <p:cNvPr id="57" name="">
            <a:extLst xmlns:a="http://schemas.openxmlformats.org/drawingml/2006/main">
              <a:ext uri="{FF2B5EF4-FFF2-40B4-BE49-F238E27FC236}">
                <a16:creationId xmlns:a16="http://schemas.microsoft.com/office/drawing/2014/main" id="{61F588F0-94CF-419D-ABB0-211FE285619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CBC75F87-6A32-4E79-A272-76DBA4B0D4A3}"/>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59" name="">
            <a:extLst xmlns:a="http://schemas.openxmlformats.org/drawingml/2006/main">
              <a:ext uri="{FF2B5EF4-FFF2-40B4-BE49-F238E27FC236}">
                <a16:creationId xmlns:a16="http://schemas.microsoft.com/office/drawing/2014/main" id="{B878C1C0-0B4A-41CE-9850-8852C31C8FE6}"/>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08 / 20</a:t>
            </a:r>
          </a:p>
        </p:txBody>
      </p:sp>
    </p:spTree>
    <p:extLst>
      <p:ext uri="{BB962C8B-B14F-4D97-AF65-F5344CB8AC3E}">
        <p14:creationId xmlns:p14="http://schemas.microsoft.com/office/powerpoint/2010/main" val="20642624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609E39-46E3-41DA-8E90-0257B390D4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108AD85-88E0-4E60-8BE1-BA23232D19C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8B9B832-E7B8-47B5-8CCE-3CC4DC0B8230}"/>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A3C2FA0-E787-44AB-909F-4B3E5F24FD02}"/>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3981CF3-F8BE-44FD-BB1F-89CD669F10D7}"/>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62A3E60-0D5C-41BA-A6BC-CCC716006BC3}"/>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3A3FBCE-DB9D-4465-9296-CAA0B3C23295}"/>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071CC79-09FE-49D8-9C82-28450952B50A}"/>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960CFBE-AD55-4172-A2BF-FE444FD42AFF}"/>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3F8F0CD-1EA2-445F-AF82-66138E54AAED}"/>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DB7AD70-FD6D-45AF-8636-4E03EE8AA62A}"/>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5E755E3-B209-49A8-A909-AB758A3CB3DF}"/>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A458FA8-1EA1-4E58-8DDA-AD4B0A2CB9B9}"/>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A414DA2-46C3-4393-9390-A85685BA019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2715D78-999E-4EC1-92E8-9D0C38B93789}"/>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C8E25A9-CB02-4480-B8F7-78524C3E907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F356A24-2B6A-4DD0-8C68-315B86D35F6C}"/>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CBB9BE0-80C5-46F1-A877-57454ABEEBA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7ABCD17-776A-4A79-90B3-F42C3027116A}"/>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96581CD-9F38-44E8-ADFE-EC8C640CDFD9}"/>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1753BAC-F2DE-4F3D-9EBE-2B1937847011}"/>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40D3AE6-C63B-4A89-B99C-01702DB8B2F7}"/>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709F136E-1EE3-4AC1-A239-EF9F3532FC80}"/>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E510F80-617E-49B6-960E-128893ACB8E0}"/>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92883D5-4BCC-4D28-8D21-1C0B43AF3D3B}"/>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CE97163-F294-4346-A420-0BA94B43530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1509B4C7-F655-4473-BE9E-16D02BA4DFD5}"/>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3056B7B-E82F-449D-BD47-E371E11CBA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755D1"/>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874B7529-185D-4B24-A005-7F632449302B}"/>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9921E585-9B4C-4AF4-84AB-C58C22FBEA24}"/>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09 · USABILIDAD WEB</a:t>
            </a:r>
          </a:p>
        </p:txBody>
      </p:sp>
      <p:sp>
        <p:nvSpPr>
          <p:cNvPr id="31" name="">
            <a:extLst xmlns:a="http://schemas.openxmlformats.org/drawingml/2006/main">
              <a:ext uri="{FF2B5EF4-FFF2-40B4-BE49-F238E27FC236}">
                <a16:creationId xmlns:a16="http://schemas.microsoft.com/office/drawing/2014/main" id="{67B94450-BCC6-4996-B334-01A18EDC2635}"/>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Web-Video API puede resolver tareas operativas simples sin backend.</a:t>
            </a:r>
          </a:p>
        </p:txBody>
      </p:sp>
      <p:sp>
        <p:nvSpPr>
          <p:cNvPr id="32" name="">
            <a:extLst xmlns:a="http://schemas.openxmlformats.org/drawingml/2006/main">
              <a:ext uri="{FF2B5EF4-FFF2-40B4-BE49-F238E27FC236}">
                <a16:creationId xmlns:a16="http://schemas.microsoft.com/office/drawing/2014/main" id="{CD7BE7FD-B531-4A46-BDB6-51C2C56ABF5B}"/>
              </a:ext>
            </a:extLst>
          </p:cNvPr>
          <p:cNvSpPr>
            <a:spLocks xmlns:a="http://schemas.openxmlformats.org/drawingml/2006/main" noGrp="1"/>
          </p:cNvSpPr>
          <p:nvPr/>
        </p:nvSpPr>
        <p:spPr>
          <a:xfrm xmlns:a="http://schemas.openxmlformats.org/drawingml/2006/main">
            <a:off x="514350" y="1962150"/>
            <a:ext cx="4572000" cy="14859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F4D9814E-D3D5-4429-B128-A07DB806ADE0}"/>
              </a:ext>
            </a:extLst>
          </p:cNvPr>
          <p:cNvSpPr>
            <a:spLocks xmlns:a="http://schemas.openxmlformats.org/drawingml/2006/main" noGrp="1"/>
          </p:cNvSpPr>
          <p:nvPr/>
        </p:nvSpPr>
        <p:spPr>
          <a:xfrm xmlns:a="http://schemas.openxmlformats.org/drawingml/2006/main">
            <a:off x="723900" y="2114550"/>
            <a:ext cx="41529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3C8EE"/>
                </a:solidFill>
                <a:latin typeface="Aptos"/>
                <a:ea typeface="Aptos"/>
                <a:cs typeface="Aptos"/>
              </a:defRPr>
            </a:pPr>
            <a:r>
              <a:rPr sz="1425" b="0">
                <a:solidFill>
                  <a:srgbClr val="B3C8EE"/>
                </a:solidFill>
                <a:latin typeface="Aptos"/>
                <a:ea typeface="Aptos"/>
                <a:cs typeface="Aptos"/>
              </a:rPr>
              <a:t>IME Conecta puede usar capacidades nativas del navegador para resolver tareas operativas simples sin agregar friccion: registrar una foto de avatar, respaldar una rendicion de gastos o dejar evidencia visual de una accion administrativa.</a:t>
            </a:r>
          </a:p>
        </p:txBody>
      </p:sp>
      <p:sp>
        <p:nvSpPr>
          <p:cNvPr id="34" name="">
            <a:extLst xmlns:a="http://schemas.openxmlformats.org/drawingml/2006/main">
              <a:ext uri="{FF2B5EF4-FFF2-40B4-BE49-F238E27FC236}">
                <a16:creationId xmlns:a16="http://schemas.microsoft.com/office/drawing/2014/main" id="{F1DA9AF5-CE7F-4940-B16C-14C0EC01903C}"/>
              </a:ext>
            </a:extLst>
          </p:cNvPr>
          <p:cNvSpPr>
            <a:spLocks xmlns:a="http://schemas.openxmlformats.org/drawingml/2006/main" noGrp="1"/>
          </p:cNvSpPr>
          <p:nvPr/>
        </p:nvSpPr>
        <p:spPr>
          <a:xfrm xmlns:a="http://schemas.openxmlformats.org/drawingml/2006/main">
            <a:off x="609600" y="39243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16159EA-7694-46D4-BCCA-216DEE4C26EB}"/>
              </a:ext>
            </a:extLst>
          </p:cNvPr>
          <p:cNvSpPr>
            <a:spLocks xmlns:a="http://schemas.openxmlformats.org/drawingml/2006/main" noGrp="1"/>
          </p:cNvSpPr>
          <p:nvPr/>
        </p:nvSpPr>
        <p:spPr>
          <a:xfrm xmlns:a="http://schemas.openxmlformats.org/drawingml/2006/main">
            <a:off x="857250" y="3848100"/>
            <a:ext cx="4229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Foto de avatar para ficha de socio/a, comite o responsable operativo.</a:t>
            </a:r>
          </a:p>
        </p:txBody>
      </p:sp>
      <p:sp>
        <p:nvSpPr>
          <p:cNvPr id="36" name="">
            <a:extLst xmlns:a="http://schemas.openxmlformats.org/drawingml/2006/main">
              <a:ext uri="{FF2B5EF4-FFF2-40B4-BE49-F238E27FC236}">
                <a16:creationId xmlns:a16="http://schemas.microsoft.com/office/drawing/2014/main" id="{F3E14C46-85DF-49B3-BB3B-554F9AB0539A}"/>
              </a:ext>
            </a:extLst>
          </p:cNvPr>
          <p:cNvSpPr>
            <a:spLocks xmlns:a="http://schemas.openxmlformats.org/drawingml/2006/main" noGrp="1"/>
          </p:cNvSpPr>
          <p:nvPr/>
        </p:nvSpPr>
        <p:spPr>
          <a:xfrm xmlns:a="http://schemas.openxmlformats.org/drawingml/2006/main">
            <a:off x="609600" y="44005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34970DB3-0681-427A-940D-11993088A355}"/>
              </a:ext>
            </a:extLst>
          </p:cNvPr>
          <p:cNvSpPr>
            <a:spLocks xmlns:a="http://schemas.openxmlformats.org/drawingml/2006/main" noGrp="1"/>
          </p:cNvSpPr>
          <p:nvPr/>
        </p:nvSpPr>
        <p:spPr>
          <a:xfrm xmlns:a="http://schemas.openxmlformats.org/drawingml/2006/main">
            <a:off x="857250" y="4324350"/>
            <a:ext cx="4229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Foto de boleta para rendicion de gastos y respaldo documental.</a:t>
            </a:r>
          </a:p>
        </p:txBody>
      </p:sp>
      <p:sp>
        <p:nvSpPr>
          <p:cNvPr id="38" name="">
            <a:extLst xmlns:a="http://schemas.openxmlformats.org/drawingml/2006/main">
              <a:ext uri="{FF2B5EF4-FFF2-40B4-BE49-F238E27FC236}">
                <a16:creationId xmlns:a16="http://schemas.microsoft.com/office/drawing/2014/main" id="{EBE52E6B-9BB4-4C41-B393-1657420749E9}"/>
              </a:ext>
            </a:extLst>
          </p:cNvPr>
          <p:cNvSpPr>
            <a:spLocks xmlns:a="http://schemas.openxmlformats.org/drawingml/2006/main" noGrp="1"/>
          </p:cNvSpPr>
          <p:nvPr/>
        </p:nvSpPr>
        <p:spPr>
          <a:xfrm xmlns:a="http://schemas.openxmlformats.org/drawingml/2006/main">
            <a:off x="609600" y="48768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C1CB07F7-2810-414F-9E6D-F8D632BA883B}"/>
              </a:ext>
            </a:extLst>
          </p:cNvPr>
          <p:cNvSpPr>
            <a:spLocks xmlns:a="http://schemas.openxmlformats.org/drawingml/2006/main" noGrp="1"/>
          </p:cNvSpPr>
          <p:nvPr/>
        </p:nvSpPr>
        <p:spPr>
          <a:xfrm xmlns:a="http://schemas.openxmlformats.org/drawingml/2006/main">
            <a:off x="857250" y="4800600"/>
            <a:ext cx="4229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Captura local descargable para adjuntar luego al flujo interno que corresponda.</a:t>
            </a:r>
          </a:p>
        </p:txBody>
      </p:sp>
      <p:sp>
        <p:nvSpPr>
          <p:cNvPr id="40" name="">
            <a:extLst xmlns:a="http://schemas.openxmlformats.org/drawingml/2006/main">
              <a:ext uri="{FF2B5EF4-FFF2-40B4-BE49-F238E27FC236}">
                <a16:creationId xmlns:a16="http://schemas.microsoft.com/office/drawing/2014/main" id="{8204D465-B7FC-40C9-95F0-74A1CDAEE9D5}"/>
              </a:ext>
            </a:extLst>
          </p:cNvPr>
          <p:cNvSpPr>
            <a:spLocks xmlns:a="http://schemas.openxmlformats.org/drawingml/2006/main" noGrp="1"/>
          </p:cNvSpPr>
          <p:nvPr/>
        </p:nvSpPr>
        <p:spPr>
          <a:xfrm xmlns:a="http://schemas.openxmlformats.org/drawingml/2006/main">
            <a:off x="609600" y="53530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BC0688C2-3CCF-4AF1-B658-9A8153B96B97}"/>
              </a:ext>
            </a:extLst>
          </p:cNvPr>
          <p:cNvSpPr>
            <a:spLocks xmlns:a="http://schemas.openxmlformats.org/drawingml/2006/main" noGrp="1"/>
          </p:cNvSpPr>
          <p:nvPr/>
        </p:nvSpPr>
        <p:spPr>
          <a:xfrm xmlns:a="http://schemas.openxmlformats.org/drawingml/2006/main">
            <a:off x="857250" y="5276850"/>
            <a:ext cx="4229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Procesamiento visual en Canvas para validar encuadre y origen de la captura.</a:t>
            </a:r>
          </a:p>
        </p:txBody>
      </p:sp>
      <p:sp>
        <p:nvSpPr>
          <p:cNvPr id="42" name="">
            <a:extLst xmlns:a="http://schemas.openxmlformats.org/drawingml/2006/main">
              <a:ext uri="{FF2B5EF4-FFF2-40B4-BE49-F238E27FC236}">
                <a16:creationId xmlns:a16="http://schemas.microsoft.com/office/drawing/2014/main" id="{6F9ED361-C841-4A82-BDE0-ED98BFE5A185}"/>
              </a:ext>
            </a:extLst>
          </p:cNvPr>
          <p:cNvSpPr>
            <a:spLocks xmlns:a="http://schemas.openxmlformats.org/drawingml/2006/main" noGrp="1"/>
          </p:cNvSpPr>
          <p:nvPr/>
        </p:nvSpPr>
        <p:spPr>
          <a:xfrm xmlns:a="http://schemas.openxmlformats.org/drawingml/2006/main">
            <a:off x="5943600" y="1600200"/>
            <a:ext cx="5219700" cy="2781300"/>
          </a:xfrm>
          <a:prstGeom xmlns:a="http://schemas.openxmlformats.org/drawingml/2006/main" prst="rect">
            <a:avLst/>
          </a:prstGeom>
          <a:solidFill xmlns:a="http://schemas.openxmlformats.org/drawingml/2006/main">
            <a:srgbClr val="05090D"/>
          </a:solidFill>
          <a:ln xmlns:a="http://schemas.openxmlformats.org/drawingml/2006/main" w="19050">
            <a:solidFill>
              <a:srgbClr val="15E9CD"/>
            </a:solidFill>
            <a:prstDash val="solid"/>
          </a:ln>
        </p:spPr>
      </p:sp>
      <p:sp>
        <p:nvSpPr>
          <p:cNvPr id="43" name="">
            <a:extLst xmlns:a="http://schemas.openxmlformats.org/drawingml/2006/main">
              <a:ext uri="{FF2B5EF4-FFF2-40B4-BE49-F238E27FC236}">
                <a16:creationId xmlns:a16="http://schemas.microsoft.com/office/drawing/2014/main" id="{0E48C074-F6D5-4270-8CDD-3A0E90A80B8E}"/>
              </a:ext>
            </a:extLst>
          </p:cNvPr>
          <p:cNvSpPr>
            <a:spLocks xmlns:a="http://schemas.openxmlformats.org/drawingml/2006/main" noGrp="1"/>
          </p:cNvSpPr>
          <p:nvPr/>
        </p:nvSpPr>
        <p:spPr>
          <a:xfrm xmlns:a="http://schemas.openxmlformats.org/drawingml/2006/main">
            <a:off x="622935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46C233B4-5002-4C06-9411-58525D7C8BE9}"/>
              </a:ext>
            </a:extLst>
          </p:cNvPr>
          <p:cNvSpPr>
            <a:spLocks xmlns:a="http://schemas.openxmlformats.org/drawingml/2006/main" noGrp="1"/>
          </p:cNvSpPr>
          <p:nvPr/>
        </p:nvSpPr>
        <p:spPr>
          <a:xfrm xmlns:a="http://schemas.openxmlformats.org/drawingml/2006/main">
            <a:off x="678180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B65800FF-0952-44F1-B6F9-58FD9784BED8}"/>
              </a:ext>
            </a:extLst>
          </p:cNvPr>
          <p:cNvSpPr>
            <a:spLocks xmlns:a="http://schemas.openxmlformats.org/drawingml/2006/main" noGrp="1"/>
          </p:cNvSpPr>
          <p:nvPr/>
        </p:nvSpPr>
        <p:spPr>
          <a:xfrm xmlns:a="http://schemas.openxmlformats.org/drawingml/2006/main">
            <a:off x="733425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A23CD083-9C5B-488A-8BE2-51F2E8C9752C}"/>
              </a:ext>
            </a:extLst>
          </p:cNvPr>
          <p:cNvSpPr>
            <a:spLocks xmlns:a="http://schemas.openxmlformats.org/drawingml/2006/main" noGrp="1"/>
          </p:cNvSpPr>
          <p:nvPr/>
        </p:nvSpPr>
        <p:spPr>
          <a:xfrm xmlns:a="http://schemas.openxmlformats.org/drawingml/2006/main">
            <a:off x="788670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C606BE0E-1771-4B34-B148-AA68E9EB79D0}"/>
              </a:ext>
            </a:extLst>
          </p:cNvPr>
          <p:cNvSpPr>
            <a:spLocks xmlns:a="http://schemas.openxmlformats.org/drawingml/2006/main" noGrp="1"/>
          </p:cNvSpPr>
          <p:nvPr/>
        </p:nvSpPr>
        <p:spPr>
          <a:xfrm xmlns:a="http://schemas.openxmlformats.org/drawingml/2006/main">
            <a:off x="843915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8E41D2C9-6BEA-4F8C-A66E-71A71A30F8FF}"/>
              </a:ext>
            </a:extLst>
          </p:cNvPr>
          <p:cNvSpPr>
            <a:spLocks xmlns:a="http://schemas.openxmlformats.org/drawingml/2006/main" noGrp="1"/>
          </p:cNvSpPr>
          <p:nvPr/>
        </p:nvSpPr>
        <p:spPr>
          <a:xfrm xmlns:a="http://schemas.openxmlformats.org/drawingml/2006/main">
            <a:off x="899160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F4ACA81F-98FA-449F-A789-7D0FCE551C92}"/>
              </a:ext>
            </a:extLst>
          </p:cNvPr>
          <p:cNvSpPr>
            <a:spLocks xmlns:a="http://schemas.openxmlformats.org/drawingml/2006/main" noGrp="1"/>
          </p:cNvSpPr>
          <p:nvPr/>
        </p:nvSpPr>
        <p:spPr>
          <a:xfrm xmlns:a="http://schemas.openxmlformats.org/drawingml/2006/main">
            <a:off x="954405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DCF5A964-F8F9-4F18-A027-A03F0984D478}"/>
              </a:ext>
            </a:extLst>
          </p:cNvPr>
          <p:cNvSpPr>
            <a:spLocks xmlns:a="http://schemas.openxmlformats.org/drawingml/2006/main" noGrp="1"/>
          </p:cNvSpPr>
          <p:nvPr/>
        </p:nvSpPr>
        <p:spPr>
          <a:xfrm xmlns:a="http://schemas.openxmlformats.org/drawingml/2006/main">
            <a:off x="1009650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12B4DE16-E846-4079-B3B6-3488221E51C4}"/>
              </a:ext>
            </a:extLst>
          </p:cNvPr>
          <p:cNvSpPr>
            <a:spLocks xmlns:a="http://schemas.openxmlformats.org/drawingml/2006/main" noGrp="1"/>
          </p:cNvSpPr>
          <p:nvPr/>
        </p:nvSpPr>
        <p:spPr>
          <a:xfrm xmlns:a="http://schemas.openxmlformats.org/drawingml/2006/main">
            <a:off x="10648950" y="1600200"/>
            <a:ext cx="9525" cy="2781300"/>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C751D730-B962-4E8F-AFD6-B6CC7E76222B}"/>
              </a:ext>
            </a:extLst>
          </p:cNvPr>
          <p:cNvSpPr>
            <a:spLocks xmlns:a="http://schemas.openxmlformats.org/drawingml/2006/main" noGrp="1"/>
          </p:cNvSpPr>
          <p:nvPr/>
        </p:nvSpPr>
        <p:spPr>
          <a:xfrm xmlns:a="http://schemas.openxmlformats.org/drawingml/2006/main">
            <a:off x="5943600" y="1943100"/>
            <a:ext cx="5219700" cy="9525"/>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5A206B1E-1E39-4AEF-9D2A-6CDF48EFC8EC}"/>
              </a:ext>
            </a:extLst>
          </p:cNvPr>
          <p:cNvSpPr>
            <a:spLocks xmlns:a="http://schemas.openxmlformats.org/drawingml/2006/main" noGrp="1"/>
          </p:cNvSpPr>
          <p:nvPr/>
        </p:nvSpPr>
        <p:spPr>
          <a:xfrm xmlns:a="http://schemas.openxmlformats.org/drawingml/2006/main">
            <a:off x="5943600" y="2438400"/>
            <a:ext cx="5219700" cy="9525"/>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5125AA8B-08EB-4F77-A71C-825D1F0AAA7A}"/>
              </a:ext>
            </a:extLst>
          </p:cNvPr>
          <p:cNvSpPr>
            <a:spLocks xmlns:a="http://schemas.openxmlformats.org/drawingml/2006/main" noGrp="1"/>
          </p:cNvSpPr>
          <p:nvPr/>
        </p:nvSpPr>
        <p:spPr>
          <a:xfrm xmlns:a="http://schemas.openxmlformats.org/drawingml/2006/main">
            <a:off x="5943600" y="2933700"/>
            <a:ext cx="5219700" cy="9525"/>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FB20E83C-9E36-4664-A7E4-ACAF4BC208AB}"/>
              </a:ext>
            </a:extLst>
          </p:cNvPr>
          <p:cNvSpPr>
            <a:spLocks xmlns:a="http://schemas.openxmlformats.org/drawingml/2006/main" noGrp="1"/>
          </p:cNvSpPr>
          <p:nvPr/>
        </p:nvSpPr>
        <p:spPr>
          <a:xfrm xmlns:a="http://schemas.openxmlformats.org/drawingml/2006/main">
            <a:off x="5943600" y="3429000"/>
            <a:ext cx="5219700" cy="9525"/>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10EEEA02-A6AB-4B33-9F8B-C42C0D79962A}"/>
              </a:ext>
            </a:extLst>
          </p:cNvPr>
          <p:cNvSpPr>
            <a:spLocks xmlns:a="http://schemas.openxmlformats.org/drawingml/2006/main" noGrp="1"/>
          </p:cNvSpPr>
          <p:nvPr/>
        </p:nvSpPr>
        <p:spPr>
          <a:xfrm xmlns:a="http://schemas.openxmlformats.org/drawingml/2006/main">
            <a:off x="5943600" y="3924300"/>
            <a:ext cx="5219700" cy="9525"/>
          </a:xfrm>
          <a:prstGeom xmlns:a="http://schemas.openxmlformats.org/drawingml/2006/main" prst="rect">
            <a:avLst/>
          </a:prstGeom>
          <a:solidFill xmlns:a="http://schemas.openxmlformats.org/drawingml/2006/main">
            <a:srgbClr val="12313C"/>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FF1165F3-DCBA-4750-8AC9-58CC9C14D61D}"/>
              </a:ext>
            </a:extLst>
          </p:cNvPr>
          <p:cNvSpPr>
            <a:spLocks xmlns:a="http://schemas.openxmlformats.org/drawingml/2006/main" noGrp="1"/>
          </p:cNvSpPr>
          <p:nvPr/>
        </p:nvSpPr>
        <p:spPr>
          <a:xfrm xmlns:a="http://schemas.openxmlformats.org/drawingml/2006/main">
            <a:off x="6248400" y="1866900"/>
            <a:ext cx="1790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5E9CD"/>
                </a:solidFill>
                <a:latin typeface="Aptos"/>
                <a:ea typeface="Aptos"/>
                <a:cs typeface="Aptos"/>
              </a:defRPr>
            </a:pPr>
            <a:r>
              <a:rPr sz="1200" b="1">
                <a:solidFill>
                  <a:srgbClr val="15E9CD"/>
                </a:solidFill>
                <a:latin typeface="Aptos"/>
                <a:ea typeface="Aptos"/>
                <a:cs typeface="Aptos"/>
              </a:rPr>
              <a:t>Canvas local</a:t>
            </a:r>
          </a:p>
        </p:txBody>
      </p:sp>
      <p:sp>
        <p:nvSpPr>
          <p:cNvPr id="58" name="">
            <a:extLst xmlns:a="http://schemas.openxmlformats.org/drawingml/2006/main">
              <a:ext uri="{FF2B5EF4-FFF2-40B4-BE49-F238E27FC236}">
                <a16:creationId xmlns:a16="http://schemas.microsoft.com/office/drawing/2014/main" id="{0E0EEDB4-EB36-47DC-8088-CC64D4E5A169}"/>
              </a:ext>
            </a:extLst>
          </p:cNvPr>
          <p:cNvSpPr>
            <a:spLocks xmlns:a="http://schemas.openxmlformats.org/drawingml/2006/main" noGrp="1"/>
          </p:cNvSpPr>
          <p:nvPr/>
        </p:nvSpPr>
        <p:spPr>
          <a:xfrm xmlns:a="http://schemas.openxmlformats.org/drawingml/2006/main">
            <a:off x="8115300" y="2286000"/>
            <a:ext cx="895350" cy="895350"/>
          </a:xfrm>
          <a:prstGeom xmlns:a="http://schemas.openxmlformats.org/drawingml/2006/main" prst="rect">
            <a:avLst/>
          </a:prstGeom>
          <a:solidFill xmlns:a="http://schemas.openxmlformats.org/drawingml/2006/main">
            <a:srgbClr val="14252D"/>
          </a:solidFill>
          <a:ln xmlns:a="http://schemas.openxmlformats.org/drawingml/2006/main" w="19050">
            <a:solidFill>
              <a:srgbClr val="83F0E2"/>
            </a:solidFill>
            <a:prstDash val="solid"/>
          </a:ln>
        </p:spPr>
      </p:sp>
      <p:sp>
        <p:nvSpPr>
          <p:cNvPr id="59" name="">
            <a:extLst xmlns:a="http://schemas.openxmlformats.org/drawingml/2006/main">
              <a:ext uri="{FF2B5EF4-FFF2-40B4-BE49-F238E27FC236}">
                <a16:creationId xmlns:a16="http://schemas.microsoft.com/office/drawing/2014/main" id="{0CC9462A-1168-4A5E-BD08-E797F1535E7B}"/>
              </a:ext>
            </a:extLst>
          </p:cNvPr>
          <p:cNvSpPr>
            <a:spLocks xmlns:a="http://schemas.openxmlformats.org/drawingml/2006/main" noGrp="1"/>
          </p:cNvSpPr>
          <p:nvPr/>
        </p:nvSpPr>
        <p:spPr>
          <a:xfrm xmlns:a="http://schemas.openxmlformats.org/drawingml/2006/main">
            <a:off x="8210550" y="2619375"/>
            <a:ext cx="704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EFF1F5"/>
                </a:solidFill>
                <a:latin typeface="Aptos"/>
                <a:ea typeface="Aptos"/>
                <a:cs typeface="Aptos"/>
              </a:defRPr>
            </a:pPr>
            <a:r>
              <a:rPr sz="1200" b="1">
                <a:solidFill>
                  <a:srgbClr val="EFF1F5"/>
                </a:solidFill>
                <a:latin typeface="Aptos"/>
                <a:ea typeface="Aptos"/>
                <a:cs typeface="Aptos"/>
              </a:rPr>
              <a:t>Avatar</a:t>
            </a:r>
          </a:p>
        </p:txBody>
      </p:sp>
      <p:sp>
        <p:nvSpPr>
          <p:cNvPr id="60" name="">
            <a:extLst xmlns:a="http://schemas.openxmlformats.org/drawingml/2006/main">
              <a:ext uri="{FF2B5EF4-FFF2-40B4-BE49-F238E27FC236}">
                <a16:creationId xmlns:a16="http://schemas.microsoft.com/office/drawing/2014/main" id="{FE7A037C-07F2-4A2D-A481-0C6B57931C85}"/>
              </a:ext>
            </a:extLst>
          </p:cNvPr>
          <p:cNvSpPr>
            <a:spLocks xmlns:a="http://schemas.openxmlformats.org/drawingml/2006/main" noGrp="1"/>
          </p:cNvSpPr>
          <p:nvPr/>
        </p:nvSpPr>
        <p:spPr>
          <a:xfrm xmlns:a="http://schemas.openxmlformats.org/drawingml/2006/main">
            <a:off x="9353550" y="2152650"/>
            <a:ext cx="1104900" cy="1428750"/>
          </a:xfrm>
          <a:prstGeom xmlns:a="http://schemas.openxmlformats.org/drawingml/2006/main" prst="rect">
            <a:avLst/>
          </a:prstGeom>
          <a:solidFill xmlns:a="http://schemas.openxmlformats.org/drawingml/2006/main">
            <a:srgbClr val="182128"/>
          </a:solidFill>
          <a:ln xmlns:a="http://schemas.openxmlformats.org/drawingml/2006/main" w="19050">
            <a:solidFill>
              <a:srgbClr val="FFF8AF"/>
            </a:solidFill>
            <a:prstDash val="solid"/>
          </a:ln>
        </p:spPr>
      </p:sp>
      <p:sp>
        <p:nvSpPr>
          <p:cNvPr id="61" name="">
            <a:extLst xmlns:a="http://schemas.openxmlformats.org/drawingml/2006/main">
              <a:ext uri="{FF2B5EF4-FFF2-40B4-BE49-F238E27FC236}">
                <a16:creationId xmlns:a16="http://schemas.microsoft.com/office/drawing/2014/main" id="{7D72156C-BF66-473C-A0ED-17D3033B0007}"/>
              </a:ext>
            </a:extLst>
          </p:cNvPr>
          <p:cNvSpPr>
            <a:spLocks xmlns:a="http://schemas.openxmlformats.org/drawingml/2006/main" noGrp="1"/>
          </p:cNvSpPr>
          <p:nvPr/>
        </p:nvSpPr>
        <p:spPr>
          <a:xfrm xmlns:a="http://schemas.openxmlformats.org/drawingml/2006/main">
            <a:off x="9505950" y="2714625"/>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EFF1F5"/>
                </a:solidFill>
                <a:latin typeface="Aptos"/>
                <a:ea typeface="Aptos"/>
                <a:cs typeface="Aptos"/>
              </a:defRPr>
            </a:pPr>
            <a:r>
              <a:rPr sz="1200" b="1">
                <a:solidFill>
                  <a:srgbClr val="EFF1F5"/>
                </a:solidFill>
                <a:latin typeface="Aptos"/>
                <a:ea typeface="Aptos"/>
                <a:cs typeface="Aptos"/>
              </a:rPr>
              <a:t>Boleta</a:t>
            </a:r>
          </a:p>
        </p:txBody>
      </p:sp>
      <p:sp>
        <p:nvSpPr>
          <p:cNvPr id="62" name="">
            <a:extLst xmlns:a="http://schemas.openxmlformats.org/drawingml/2006/main">
              <a:ext uri="{FF2B5EF4-FFF2-40B4-BE49-F238E27FC236}">
                <a16:creationId xmlns:a16="http://schemas.microsoft.com/office/drawing/2014/main" id="{5584F0F5-6C10-4B29-85C8-92F47508D502}"/>
              </a:ext>
            </a:extLst>
          </p:cNvPr>
          <p:cNvSpPr>
            <a:spLocks xmlns:a="http://schemas.openxmlformats.org/drawingml/2006/main" noGrp="1"/>
          </p:cNvSpPr>
          <p:nvPr/>
        </p:nvSpPr>
        <p:spPr>
          <a:xfrm xmlns:a="http://schemas.openxmlformats.org/drawingml/2006/main">
            <a:off x="5943600" y="4629150"/>
            <a:ext cx="57150" cy="685800"/>
          </a:xfrm>
          <a:prstGeom xmlns:a="http://schemas.openxmlformats.org/drawingml/2006/main" prst="rect">
            <a:avLst/>
          </a:prstGeom>
          <a:solidFill xmlns:a="http://schemas.openxmlformats.org/drawingml/2006/main">
            <a:srgbClr val="83F0E2"/>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6EF6E41F-2ECE-45E6-8987-EC6F080EB19A}"/>
              </a:ext>
            </a:extLst>
          </p:cNvPr>
          <p:cNvSpPr>
            <a:spLocks xmlns:a="http://schemas.openxmlformats.org/drawingml/2006/main" noGrp="1"/>
          </p:cNvSpPr>
          <p:nvPr/>
        </p:nvSpPr>
        <p:spPr>
          <a:xfrm xmlns:a="http://schemas.openxmlformats.org/drawingml/2006/main">
            <a:off x="6038850" y="4629150"/>
            <a:ext cx="5124450" cy="68580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64" name="">
            <a:extLst xmlns:a="http://schemas.openxmlformats.org/drawingml/2006/main">
              <a:ext uri="{FF2B5EF4-FFF2-40B4-BE49-F238E27FC236}">
                <a16:creationId xmlns:a16="http://schemas.microsoft.com/office/drawing/2014/main" id="{5651C7BB-7E70-424E-989A-9D5A594C0310}"/>
              </a:ext>
            </a:extLst>
          </p:cNvPr>
          <p:cNvSpPr>
            <a:spLocks xmlns:a="http://schemas.openxmlformats.org/drawingml/2006/main" noGrp="1"/>
          </p:cNvSpPr>
          <p:nvPr/>
        </p:nvSpPr>
        <p:spPr>
          <a:xfrm xmlns:a="http://schemas.openxmlformats.org/drawingml/2006/main">
            <a:off x="6210300" y="4781550"/>
            <a:ext cx="4781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83F0E2"/>
                </a:solidFill>
                <a:latin typeface="Aptos"/>
                <a:ea typeface="Aptos"/>
                <a:cs typeface="Aptos"/>
              </a:defRPr>
            </a:pPr>
            <a:r>
              <a:rPr sz="1500" b="1">
                <a:solidFill>
                  <a:srgbClr val="83F0E2"/>
                </a:solidFill>
                <a:latin typeface="Aptos"/>
                <a:ea typeface="Aptos"/>
                <a:cs typeface="Aptos"/>
              </a:rPr>
              <a:t>Captura PNG local. No se sube a servidor.</a:t>
            </a:r>
          </a:p>
        </p:txBody>
      </p:sp>
      <p:sp>
        <p:nvSpPr>
          <p:cNvPr id="65" name="">
            <a:extLst xmlns:a="http://schemas.openxmlformats.org/drawingml/2006/main">
              <a:ext uri="{FF2B5EF4-FFF2-40B4-BE49-F238E27FC236}">
                <a16:creationId xmlns:a16="http://schemas.microsoft.com/office/drawing/2014/main" id="{4BDEA265-9495-4424-9C08-12D8D95E725A}"/>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D8993165-01C6-428C-9966-6565740AF478}"/>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67" name="">
            <a:extLst xmlns:a="http://schemas.openxmlformats.org/drawingml/2006/main">
              <a:ext uri="{FF2B5EF4-FFF2-40B4-BE49-F238E27FC236}">
                <a16:creationId xmlns:a16="http://schemas.microsoft.com/office/drawing/2014/main" id="{487FBCF8-E512-4385-9E6A-56B9E229F17A}"/>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09 / 20</a:t>
            </a:r>
          </a:p>
        </p:txBody>
      </p:sp>
    </p:spTree>
    <p:extLst>
      <p:ext uri="{BB962C8B-B14F-4D97-AF65-F5344CB8AC3E}">
        <p14:creationId xmlns:p14="http://schemas.microsoft.com/office/powerpoint/2010/main" val="4795080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3C50BA-D60B-4280-B03A-0D34AB32A2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0DA315E-73E1-48CD-9105-ABF0823DE95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A4E54BC-4A6B-4858-9FD9-87C97BDA6729}"/>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365DF5F-04FC-4FEB-A8B5-849938036053}"/>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238D0A4-F38E-4784-927D-9DCBECF94D0D}"/>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CE92884-ADBE-4B5F-8AC6-C047626E693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14A76D3-6860-4932-A6A8-D22F41A1C28B}"/>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C9DA96D-C9B4-4BA1-96E5-A9A8D01088E7}"/>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B538AE0-5B75-4B73-9BD0-1BAEE056050C}"/>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C1592EB-DF31-49B2-9388-78A837E27C6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569FDBC-346E-4AD0-AC2B-3DF2E8DCECFB}"/>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DE50F88-411D-41A2-A6B1-FFEFA55C3356}"/>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1EEEFE6-1616-4405-808E-0AE6FC5629AA}"/>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DE43D4E-1F7A-47CD-9E6E-F4582808E65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4480992-ECF2-458D-9386-0D3F97ACA8F8}"/>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F378C95-5607-4BDF-AE6D-07568538894E}"/>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E2E476D-A6EB-419D-87E7-6C19F8889380}"/>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AB3996D-2E0C-4371-B0F5-ACCC2087523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F197DF8-E266-46DE-955F-12EADB2C5CE2}"/>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0E1B477-467F-43AB-B80A-E362E92B26D1}"/>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9BE572F-1832-497E-84E0-433C3B237624}"/>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7C095F6-9701-43B8-BC26-E9A072FE2625}"/>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E615EBE-0290-4C39-8C53-2B234C4EB15A}"/>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4F850E0-DAB7-45E2-87EB-4573ED18F520}"/>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8BCE4839-F4B0-4E77-9ADB-B57C574B6F08}"/>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32C5A51-2EBC-4986-8F4E-01AF99F40FF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0519019-8F71-40FA-B41F-FF897FA65346}"/>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9809670-A776-41EF-ABC0-5BFBD761AE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7F6B989F-9B32-4472-8B63-6AA0D34BB86A}"/>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92C29F71-3BCF-45FF-BB45-364351F896E5}"/>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10 · SERCOTEC</a:t>
            </a:r>
          </a:p>
        </p:txBody>
      </p:sp>
      <p:sp>
        <p:nvSpPr>
          <p:cNvPr id="31" name="">
            <a:extLst xmlns:a="http://schemas.openxmlformats.org/drawingml/2006/main">
              <a:ext uri="{FF2B5EF4-FFF2-40B4-BE49-F238E27FC236}">
                <a16:creationId xmlns:a16="http://schemas.microsoft.com/office/drawing/2014/main" id="{7D0E280D-6EA5-4495-BB62-DA1F480B2D81}"/>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Sercotec permite financiar una primera etapa concreta de IME Conecta.</a:t>
            </a:r>
          </a:p>
        </p:txBody>
      </p:sp>
      <p:sp>
        <p:nvSpPr>
          <p:cNvPr id="32" name="">
            <a:extLst xmlns:a="http://schemas.openxmlformats.org/drawingml/2006/main">
              <a:ext uri="{FF2B5EF4-FFF2-40B4-BE49-F238E27FC236}">
                <a16:creationId xmlns:a16="http://schemas.microsoft.com/office/drawing/2014/main" id="{13AA0D7F-8464-4C17-85FE-79432BDC9789}"/>
              </a:ext>
            </a:extLst>
          </p:cNvPr>
          <p:cNvSpPr>
            <a:spLocks xmlns:a="http://schemas.openxmlformats.org/drawingml/2006/main" noGrp="1"/>
          </p:cNvSpPr>
          <p:nvPr/>
        </p:nvSpPr>
        <p:spPr>
          <a:xfrm xmlns:a="http://schemas.openxmlformats.org/drawingml/2006/main">
            <a:off x="514350" y="2000250"/>
            <a:ext cx="5143500" cy="17145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B7546E14-CD7B-48AB-92FC-8F5133ECFB67}"/>
              </a:ext>
            </a:extLst>
          </p:cNvPr>
          <p:cNvSpPr>
            <a:spLocks xmlns:a="http://schemas.openxmlformats.org/drawingml/2006/main" noGrp="1"/>
          </p:cNvSpPr>
          <p:nvPr/>
        </p:nvSpPr>
        <p:spPr>
          <a:xfrm xmlns:a="http://schemas.openxmlformats.org/drawingml/2006/main">
            <a:off x="723900" y="2152650"/>
            <a:ext cx="47244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El fondo Sercotec Fortalecimiento Gremial representa una oportunidad tactica inmediata para financiar una primera etapa de IME Conecta.</a:t>
            </a:r>
          </a:p>
        </p:txBody>
      </p:sp>
      <p:sp>
        <p:nvSpPr>
          <p:cNvPr id="34" name="">
            <a:extLst xmlns:a="http://schemas.openxmlformats.org/drawingml/2006/main">
              <a:ext uri="{FF2B5EF4-FFF2-40B4-BE49-F238E27FC236}">
                <a16:creationId xmlns:a16="http://schemas.microsoft.com/office/drawing/2014/main" id="{F155ACD4-85ED-49E3-8EDA-813828EBD100}"/>
              </a:ext>
            </a:extLst>
          </p:cNvPr>
          <p:cNvSpPr>
            <a:spLocks xmlns:a="http://schemas.openxmlformats.org/drawingml/2006/main" noGrp="1"/>
          </p:cNvSpPr>
          <p:nvPr/>
        </p:nvSpPr>
        <p:spPr>
          <a:xfrm xmlns:a="http://schemas.openxmlformats.org/drawingml/2006/main">
            <a:off x="6191250" y="1981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AEDC5777-A8BA-41B4-974D-DEB936A8F54F}"/>
              </a:ext>
            </a:extLst>
          </p:cNvPr>
          <p:cNvSpPr>
            <a:spLocks xmlns:a="http://schemas.openxmlformats.org/drawingml/2006/main" noGrp="1"/>
          </p:cNvSpPr>
          <p:nvPr/>
        </p:nvSpPr>
        <p:spPr>
          <a:xfrm xmlns:a="http://schemas.openxmlformats.org/drawingml/2006/main">
            <a:off x="6438900" y="1905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Proyecto principal de corto plazo.</a:t>
            </a:r>
          </a:p>
        </p:txBody>
      </p:sp>
      <p:sp>
        <p:nvSpPr>
          <p:cNvPr id="36" name="">
            <a:extLst xmlns:a="http://schemas.openxmlformats.org/drawingml/2006/main">
              <a:ext uri="{FF2B5EF4-FFF2-40B4-BE49-F238E27FC236}">
                <a16:creationId xmlns:a16="http://schemas.microsoft.com/office/drawing/2014/main" id="{81F23E94-EBB6-45D7-B40D-5A2DB6F54EC8}"/>
              </a:ext>
            </a:extLst>
          </p:cNvPr>
          <p:cNvSpPr>
            <a:spLocks xmlns:a="http://schemas.openxmlformats.org/drawingml/2006/main" noGrp="1"/>
          </p:cNvSpPr>
          <p:nvPr/>
        </p:nvSpPr>
        <p:spPr>
          <a:xfrm xmlns:a="http://schemas.openxmlformats.org/drawingml/2006/main">
            <a:off x="6191250" y="24574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3106219B-0C11-4A24-A657-9DF0E21EE93D}"/>
              </a:ext>
            </a:extLst>
          </p:cNvPr>
          <p:cNvSpPr>
            <a:spLocks xmlns:a="http://schemas.openxmlformats.org/drawingml/2006/main" noGrp="1"/>
          </p:cNvSpPr>
          <p:nvPr/>
        </p:nvSpPr>
        <p:spPr>
          <a:xfrm xmlns:a="http://schemas.openxmlformats.org/drawingml/2006/main">
            <a:off x="6438900" y="23812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Pertinente con fortalecimiento gremial.</a:t>
            </a:r>
          </a:p>
        </p:txBody>
      </p:sp>
      <p:sp>
        <p:nvSpPr>
          <p:cNvPr id="38" name="">
            <a:extLst xmlns:a="http://schemas.openxmlformats.org/drawingml/2006/main">
              <a:ext uri="{FF2B5EF4-FFF2-40B4-BE49-F238E27FC236}">
                <a16:creationId xmlns:a16="http://schemas.microsoft.com/office/drawing/2014/main" id="{DF5D5012-79A3-413F-B86F-85CE54117582}"/>
              </a:ext>
            </a:extLst>
          </p:cNvPr>
          <p:cNvSpPr>
            <a:spLocks xmlns:a="http://schemas.openxmlformats.org/drawingml/2006/main" noGrp="1"/>
          </p:cNvSpPr>
          <p:nvPr/>
        </p:nvSpPr>
        <p:spPr>
          <a:xfrm xmlns:a="http://schemas.openxmlformats.org/drawingml/2006/main">
            <a:off x="6191250" y="29337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A9827A43-461B-45B7-AB5D-8A56791510E8}"/>
              </a:ext>
            </a:extLst>
          </p:cNvPr>
          <p:cNvSpPr>
            <a:spLocks xmlns:a="http://schemas.openxmlformats.org/drawingml/2006/main" noGrp="1"/>
          </p:cNvSpPr>
          <p:nvPr/>
        </p:nvSpPr>
        <p:spPr>
          <a:xfrm xmlns:a="http://schemas.openxmlformats.org/drawingml/2006/main">
            <a:off x="6438900" y="28575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Permite financiar ordenamiento interno.</a:t>
            </a:r>
          </a:p>
        </p:txBody>
      </p:sp>
      <p:sp>
        <p:nvSpPr>
          <p:cNvPr id="40" name="">
            <a:extLst xmlns:a="http://schemas.openxmlformats.org/drawingml/2006/main">
              <a:ext uri="{FF2B5EF4-FFF2-40B4-BE49-F238E27FC236}">
                <a16:creationId xmlns:a16="http://schemas.microsoft.com/office/drawing/2014/main" id="{E4425EFA-5C2A-4C33-9626-0C5598D85EEC}"/>
              </a:ext>
            </a:extLst>
          </p:cNvPr>
          <p:cNvSpPr>
            <a:spLocks xmlns:a="http://schemas.openxmlformats.org/drawingml/2006/main" noGrp="1"/>
          </p:cNvSpPr>
          <p:nvPr/>
        </p:nvSpPr>
        <p:spPr>
          <a:xfrm xmlns:a="http://schemas.openxmlformats.org/drawingml/2006/main">
            <a:off x="6191250" y="34099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4E925276-EB43-4F21-9302-2D0D9032E783}"/>
              </a:ext>
            </a:extLst>
          </p:cNvPr>
          <p:cNvSpPr>
            <a:spLocks xmlns:a="http://schemas.openxmlformats.org/drawingml/2006/main" noGrp="1"/>
          </p:cNvSpPr>
          <p:nvPr/>
        </p:nvSpPr>
        <p:spPr>
          <a:xfrm xmlns:a="http://schemas.openxmlformats.org/drawingml/2006/main">
            <a:off x="6438900" y="33337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Puede apoyar catastro, asesorias, plataforma, gobernanza y vinculacion.</a:t>
            </a:r>
          </a:p>
        </p:txBody>
      </p:sp>
      <p:sp>
        <p:nvSpPr>
          <p:cNvPr id="42" name="">
            <a:extLst xmlns:a="http://schemas.openxmlformats.org/drawingml/2006/main">
              <a:ext uri="{FF2B5EF4-FFF2-40B4-BE49-F238E27FC236}">
                <a16:creationId xmlns:a16="http://schemas.microsoft.com/office/drawing/2014/main" id="{73F5EE7B-0D4B-4B41-A433-54ACECDFCB5E}"/>
              </a:ext>
            </a:extLst>
          </p:cNvPr>
          <p:cNvSpPr>
            <a:spLocks xmlns:a="http://schemas.openxmlformats.org/drawingml/2006/main" noGrp="1"/>
          </p:cNvSpPr>
          <p:nvPr/>
        </p:nvSpPr>
        <p:spPr>
          <a:xfrm xmlns:a="http://schemas.openxmlformats.org/drawingml/2006/main">
            <a:off x="6191250" y="3886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A561ED8F-EBE2-409A-8B70-5B2946DE3933}"/>
              </a:ext>
            </a:extLst>
          </p:cNvPr>
          <p:cNvSpPr>
            <a:spLocks xmlns:a="http://schemas.openxmlformats.org/drawingml/2006/main" noGrp="1"/>
          </p:cNvSpPr>
          <p:nvPr/>
        </p:nvSpPr>
        <p:spPr>
          <a:xfrm xmlns:a="http://schemas.openxmlformats.org/drawingml/2006/main">
            <a:off x="6438900" y="3810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Cierra pronto, por lo que requiere decision rapida.</a:t>
            </a:r>
          </a:p>
        </p:txBody>
      </p:sp>
      <p:sp>
        <p:nvSpPr>
          <p:cNvPr id="44" name="">
            <a:extLst xmlns:a="http://schemas.openxmlformats.org/drawingml/2006/main">
              <a:ext uri="{FF2B5EF4-FFF2-40B4-BE49-F238E27FC236}">
                <a16:creationId xmlns:a16="http://schemas.microsoft.com/office/drawing/2014/main" id="{F56117AE-88E3-491B-8107-4211975ACA82}"/>
              </a:ext>
            </a:extLst>
          </p:cNvPr>
          <p:cNvSpPr>
            <a:spLocks xmlns:a="http://schemas.openxmlformats.org/drawingml/2006/main" noGrp="1"/>
          </p:cNvSpPr>
          <p:nvPr/>
        </p:nvSpPr>
        <p:spPr>
          <a:xfrm xmlns:a="http://schemas.openxmlformats.org/drawingml/2006/main">
            <a:off x="514350" y="5314950"/>
            <a:ext cx="57150" cy="685800"/>
          </a:xfrm>
          <a:prstGeom xmlns:a="http://schemas.openxmlformats.org/drawingml/2006/main" prst="rect">
            <a:avLst/>
          </a:prstGeom>
          <a:solidFill xmlns:a="http://schemas.openxmlformats.org/drawingml/2006/main">
            <a:srgbClr val="83F0E2"/>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CD5EC9B5-C671-42DA-B377-0F69FD21E126}"/>
              </a:ext>
            </a:extLst>
          </p:cNvPr>
          <p:cNvSpPr>
            <a:spLocks xmlns:a="http://schemas.openxmlformats.org/drawingml/2006/main" noGrp="1"/>
          </p:cNvSpPr>
          <p:nvPr/>
        </p:nvSpPr>
        <p:spPr>
          <a:xfrm xmlns:a="http://schemas.openxmlformats.org/drawingml/2006/main">
            <a:off x="609600" y="5314950"/>
            <a:ext cx="10172700" cy="68580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46" name="">
            <a:extLst xmlns:a="http://schemas.openxmlformats.org/drawingml/2006/main">
              <a:ext uri="{FF2B5EF4-FFF2-40B4-BE49-F238E27FC236}">
                <a16:creationId xmlns:a16="http://schemas.microsoft.com/office/drawing/2014/main" id="{609B259E-F281-4445-BBBA-3747BC7DAAE9}"/>
              </a:ext>
            </a:extLst>
          </p:cNvPr>
          <p:cNvSpPr>
            <a:spLocks xmlns:a="http://schemas.openxmlformats.org/drawingml/2006/main" noGrp="1"/>
          </p:cNvSpPr>
          <p:nvPr/>
        </p:nvSpPr>
        <p:spPr>
          <a:xfrm xmlns:a="http://schemas.openxmlformats.org/drawingml/2006/main">
            <a:off x="781050" y="5467350"/>
            <a:ext cx="98298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83F0E2"/>
                </a:solidFill>
                <a:latin typeface="Aptos"/>
                <a:ea typeface="Aptos"/>
                <a:cs typeface="Aptos"/>
              </a:defRPr>
            </a:pPr>
            <a:r>
              <a:rPr sz="1500" b="1">
                <a:solidFill>
                  <a:srgbClr val="83F0E2"/>
                </a:solidFill>
                <a:latin typeface="Aptos"/>
                <a:ea typeface="Aptos"/>
                <a:cs typeface="Aptos"/>
              </a:rPr>
              <a:t>Foco de postulacion: IME Conecta.</a:t>
            </a:r>
          </a:p>
        </p:txBody>
      </p:sp>
      <p:sp>
        <p:nvSpPr>
          <p:cNvPr id="47" name="">
            <a:extLst xmlns:a="http://schemas.openxmlformats.org/drawingml/2006/main">
              <a:ext uri="{FF2B5EF4-FFF2-40B4-BE49-F238E27FC236}">
                <a16:creationId xmlns:a16="http://schemas.microsoft.com/office/drawing/2014/main" id="{0B3562A1-29C0-49D4-B0E8-2D126E9960B7}"/>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DDD77711-54A3-4D3E-BC34-CFF076409640}"/>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9" name="">
            <a:extLst xmlns:a="http://schemas.openxmlformats.org/drawingml/2006/main">
              <a:ext uri="{FF2B5EF4-FFF2-40B4-BE49-F238E27FC236}">
                <a16:creationId xmlns:a16="http://schemas.microsoft.com/office/drawing/2014/main" id="{8AA48FE1-27C2-4000-8558-FAF04BE3BF5F}"/>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10 / 20</a:t>
            </a:r>
          </a:p>
        </p:txBody>
      </p:sp>
    </p:spTree>
    <p:extLst>
      <p:ext uri="{BB962C8B-B14F-4D97-AF65-F5344CB8AC3E}">
        <p14:creationId xmlns:p14="http://schemas.microsoft.com/office/powerpoint/2010/main" val="12416727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7610AA-EA28-4453-B5EA-5BEB167F99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3B3B9B6-E956-4F0C-8EA8-041C5856302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5F5BFB6-8FA4-406F-B8AE-9391FDF93887}"/>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2889EC4-25C2-43B3-8F5C-7C07C95C93FE}"/>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39FBF64-544E-44B4-8717-833D67639F6A}"/>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A7AE04F-7B60-469B-B11F-78DB5204227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9A6C9F4-2F05-4C78-A5B8-4CCFE2A2545C}"/>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7607F44-F63F-469D-82BD-CCA78C703335}"/>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EFAB598-B97E-4854-B0EE-B599D2356418}"/>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AD5A8AC-CE5A-4D42-A0AB-DF6154F4E14D}"/>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00C8946-43C7-49CA-A7B5-24158B3DA2DF}"/>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B37DD5E-F77A-433E-8374-17799ECA076B}"/>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D6918A2-983E-4C5C-AD85-9324E2B442B9}"/>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7B83967-31D2-44E9-814F-58E7D8AD21D9}"/>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F8777A2-3C09-419E-855B-47925337F5CC}"/>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90D5847-C891-4BFD-B8D0-2E43B36592C5}"/>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7F71ED0-E09F-4A5A-A61B-BB8FF07AE717}"/>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E314573-DE84-4AE3-8D6F-72AC383A04C6}"/>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1536306-3052-414E-94D9-21184E881BEC}"/>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06E17EE-8319-4587-912E-3CE780556271}"/>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5505830-905C-4433-855D-B7E7AEE7BEC5}"/>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B6408B8-548A-4B6A-A00B-94636A44742E}"/>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F36F1EB-3116-4456-A06B-36D59B7A21D7}"/>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3270656-9570-4497-A03B-6DB8CD70F6CA}"/>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B66B3FF-A32D-44E4-9D9A-058780B8BB91}"/>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F6A9AA0-D0A2-41E5-A72E-C410B882D5C5}"/>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1B538D0-E07A-4498-B0EC-B47638C93B0F}"/>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AD9F280-63CA-47ED-B0BC-A76F49C04D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FD4F2D58-0707-488B-89F8-6795F73C91AF}"/>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F6061B51-FEAA-4C25-862C-223A19622B98}"/>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11 · IME LINK 2027</a:t>
            </a:r>
          </a:p>
        </p:txBody>
      </p:sp>
      <p:sp>
        <p:nvSpPr>
          <p:cNvPr id="31" name="">
            <a:extLst xmlns:a="http://schemas.openxmlformats.org/drawingml/2006/main">
              <a:ext uri="{FF2B5EF4-FFF2-40B4-BE49-F238E27FC236}">
                <a16:creationId xmlns:a16="http://schemas.microsoft.com/office/drawing/2014/main" id="{9FAD7D87-135A-495C-ABEC-0B1CB8B5DCE4}"/>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IME Link 2027 funciona como caso real para probar la infraestructura.</a:t>
            </a:r>
          </a:p>
        </p:txBody>
      </p:sp>
      <p:sp>
        <p:nvSpPr>
          <p:cNvPr id="32" name="">
            <a:extLst xmlns:a="http://schemas.openxmlformats.org/drawingml/2006/main">
              <a:ext uri="{FF2B5EF4-FFF2-40B4-BE49-F238E27FC236}">
                <a16:creationId xmlns:a16="http://schemas.microsoft.com/office/drawing/2014/main" id="{79162B0D-5FA6-40F0-9A7C-BAE643760917}"/>
              </a:ext>
            </a:extLst>
          </p:cNvPr>
          <p:cNvSpPr>
            <a:spLocks xmlns:a="http://schemas.openxmlformats.org/drawingml/2006/main" noGrp="1"/>
          </p:cNvSpPr>
          <p:nvPr/>
        </p:nvSpPr>
        <p:spPr>
          <a:xfrm xmlns:a="http://schemas.openxmlformats.org/drawingml/2006/main">
            <a:off x="514350" y="1962150"/>
            <a:ext cx="4476750" cy="16002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78460AC9-E76B-4854-9C05-3CF074508B7E}"/>
              </a:ext>
            </a:extLst>
          </p:cNvPr>
          <p:cNvSpPr>
            <a:spLocks xmlns:a="http://schemas.openxmlformats.org/drawingml/2006/main" noGrp="1"/>
          </p:cNvSpPr>
          <p:nvPr/>
        </p:nvSpPr>
        <p:spPr>
          <a:xfrm xmlns:a="http://schemas.openxmlformats.org/drawingml/2006/main">
            <a:off x="723900" y="2114550"/>
            <a:ext cx="405765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B3C8EE"/>
                </a:solidFill>
                <a:latin typeface="Aptos"/>
                <a:ea typeface="Aptos"/>
                <a:cs typeface="Aptos"/>
              </a:defRPr>
            </a:pPr>
            <a:r>
              <a:rPr sz="1350" b="0">
                <a:solidFill>
                  <a:srgbClr val="B3C8EE"/>
                </a:solidFill>
                <a:latin typeface="Aptos"/>
                <a:ea typeface="Aptos"/>
                <a:cs typeface="Aptos"/>
              </a:rPr>
              <a:t>Esto permite que IME Link 2027 no sea tratado como una prioridad aislada, sino como un caso real para probar la nueva infraestructura de gestion gremial: planificacion, comites, alianzas, trazabilidad, activos digitales, comunicacion, presupuesto y seguimiento.</a:t>
            </a:r>
          </a:p>
        </p:txBody>
      </p:sp>
      <p:sp>
        <p:nvSpPr>
          <p:cNvPr id="34" name="">
            <a:extLst xmlns:a="http://schemas.openxmlformats.org/drawingml/2006/main">
              <a:ext uri="{FF2B5EF4-FFF2-40B4-BE49-F238E27FC236}">
                <a16:creationId xmlns:a16="http://schemas.microsoft.com/office/drawing/2014/main" id="{483FEFB1-31F1-4BBC-891C-F5A8B357DB09}"/>
              </a:ext>
            </a:extLst>
          </p:cNvPr>
          <p:cNvSpPr>
            <a:spLocks xmlns:a="http://schemas.openxmlformats.org/drawingml/2006/main" noGrp="1"/>
          </p:cNvSpPr>
          <p:nvPr/>
        </p:nvSpPr>
        <p:spPr>
          <a:xfrm xmlns:a="http://schemas.openxmlformats.org/drawingml/2006/main">
            <a:off x="5524500" y="1809750"/>
            <a:ext cx="29337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C4015453-0CD7-4E6D-BFA2-48F9D287DDD8}"/>
              </a:ext>
            </a:extLst>
          </p:cNvPr>
          <p:cNvSpPr>
            <a:spLocks xmlns:a="http://schemas.openxmlformats.org/drawingml/2006/main" noGrp="1"/>
          </p:cNvSpPr>
          <p:nvPr/>
        </p:nvSpPr>
        <p:spPr>
          <a:xfrm xmlns:a="http://schemas.openxmlformats.org/drawingml/2006/main">
            <a:off x="5619750" y="1876425"/>
            <a:ext cx="2743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IME Conecta</a:t>
            </a:r>
          </a:p>
        </p:txBody>
      </p:sp>
      <p:sp>
        <p:nvSpPr>
          <p:cNvPr id="36" name="">
            <a:extLst xmlns:a="http://schemas.openxmlformats.org/drawingml/2006/main">
              <a:ext uri="{FF2B5EF4-FFF2-40B4-BE49-F238E27FC236}">
                <a16:creationId xmlns:a16="http://schemas.microsoft.com/office/drawing/2014/main" id="{98E2FBF0-66A1-447C-A942-877A9634FC5D}"/>
              </a:ext>
            </a:extLst>
          </p:cNvPr>
          <p:cNvSpPr>
            <a:spLocks xmlns:a="http://schemas.openxmlformats.org/drawingml/2006/main" noGrp="1"/>
          </p:cNvSpPr>
          <p:nvPr/>
        </p:nvSpPr>
        <p:spPr>
          <a:xfrm xmlns:a="http://schemas.openxmlformats.org/drawingml/2006/main">
            <a:off x="8458200" y="1809750"/>
            <a:ext cx="29337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7" name="">
            <a:extLst xmlns:a="http://schemas.openxmlformats.org/drawingml/2006/main">
              <a:ext uri="{FF2B5EF4-FFF2-40B4-BE49-F238E27FC236}">
                <a16:creationId xmlns:a16="http://schemas.microsoft.com/office/drawing/2014/main" id="{3555AC45-2952-4F16-8F53-F9564619EF52}"/>
              </a:ext>
            </a:extLst>
          </p:cNvPr>
          <p:cNvSpPr>
            <a:spLocks xmlns:a="http://schemas.openxmlformats.org/drawingml/2006/main" noGrp="1"/>
          </p:cNvSpPr>
          <p:nvPr/>
        </p:nvSpPr>
        <p:spPr>
          <a:xfrm xmlns:a="http://schemas.openxmlformats.org/drawingml/2006/main">
            <a:off x="8553450" y="1876425"/>
            <a:ext cx="2743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IME Link 2027</a:t>
            </a:r>
          </a:p>
        </p:txBody>
      </p:sp>
      <p:sp>
        <p:nvSpPr>
          <p:cNvPr id="38" name="">
            <a:extLst xmlns:a="http://schemas.openxmlformats.org/drawingml/2006/main">
              <a:ext uri="{FF2B5EF4-FFF2-40B4-BE49-F238E27FC236}">
                <a16:creationId xmlns:a16="http://schemas.microsoft.com/office/drawing/2014/main" id="{D88DEE4D-2DEA-4FFB-A97A-762E0232BA7E}"/>
              </a:ext>
            </a:extLst>
          </p:cNvPr>
          <p:cNvSpPr>
            <a:spLocks xmlns:a="http://schemas.openxmlformats.org/drawingml/2006/main" noGrp="1"/>
          </p:cNvSpPr>
          <p:nvPr/>
        </p:nvSpPr>
        <p:spPr>
          <a:xfrm xmlns:a="http://schemas.openxmlformats.org/drawingml/2006/main">
            <a:off x="5524500" y="2209800"/>
            <a:ext cx="2933700" cy="574675"/>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39" name="">
            <a:extLst xmlns:a="http://schemas.openxmlformats.org/drawingml/2006/main">
              <a:ext uri="{FF2B5EF4-FFF2-40B4-BE49-F238E27FC236}">
                <a16:creationId xmlns:a16="http://schemas.microsoft.com/office/drawing/2014/main" id="{EB0BBF35-9AD2-47BB-AC48-04408EB07968}"/>
              </a:ext>
            </a:extLst>
          </p:cNvPr>
          <p:cNvSpPr>
            <a:spLocks xmlns:a="http://schemas.openxmlformats.org/drawingml/2006/main" noGrp="1"/>
          </p:cNvSpPr>
          <p:nvPr/>
        </p:nvSpPr>
        <p:spPr>
          <a:xfrm xmlns:a="http://schemas.openxmlformats.org/drawingml/2006/main">
            <a:off x="5619750" y="2286000"/>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Infraestructura interna</a:t>
            </a:r>
          </a:p>
        </p:txBody>
      </p:sp>
      <p:sp>
        <p:nvSpPr>
          <p:cNvPr id="40" name="">
            <a:extLst xmlns:a="http://schemas.openxmlformats.org/drawingml/2006/main">
              <a:ext uri="{FF2B5EF4-FFF2-40B4-BE49-F238E27FC236}">
                <a16:creationId xmlns:a16="http://schemas.microsoft.com/office/drawing/2014/main" id="{52DABE31-935D-441E-8272-6AB04854B4B8}"/>
              </a:ext>
            </a:extLst>
          </p:cNvPr>
          <p:cNvSpPr>
            <a:spLocks xmlns:a="http://schemas.openxmlformats.org/drawingml/2006/main" noGrp="1"/>
          </p:cNvSpPr>
          <p:nvPr/>
        </p:nvSpPr>
        <p:spPr>
          <a:xfrm xmlns:a="http://schemas.openxmlformats.org/drawingml/2006/main">
            <a:off x="8458200" y="2209800"/>
            <a:ext cx="2933700" cy="574675"/>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1" name="">
            <a:extLst xmlns:a="http://schemas.openxmlformats.org/drawingml/2006/main">
              <a:ext uri="{FF2B5EF4-FFF2-40B4-BE49-F238E27FC236}">
                <a16:creationId xmlns:a16="http://schemas.microsoft.com/office/drawing/2014/main" id="{85D282C6-3AC2-4AE3-8678-EE53B03C2D0F}"/>
              </a:ext>
            </a:extLst>
          </p:cNvPr>
          <p:cNvSpPr>
            <a:spLocks xmlns:a="http://schemas.openxmlformats.org/drawingml/2006/main" noGrp="1"/>
          </p:cNvSpPr>
          <p:nvPr/>
        </p:nvSpPr>
        <p:spPr>
          <a:xfrm xmlns:a="http://schemas.openxmlformats.org/drawingml/2006/main">
            <a:off x="8553450" y="2286000"/>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Caso de prueba estrategico</a:t>
            </a:r>
          </a:p>
        </p:txBody>
      </p:sp>
      <p:sp>
        <p:nvSpPr>
          <p:cNvPr id="42" name="">
            <a:extLst xmlns:a="http://schemas.openxmlformats.org/drawingml/2006/main">
              <a:ext uri="{FF2B5EF4-FFF2-40B4-BE49-F238E27FC236}">
                <a16:creationId xmlns:a16="http://schemas.microsoft.com/office/drawing/2014/main" id="{0F2EAB57-9DB9-46AB-84EB-AE2A38A3C140}"/>
              </a:ext>
            </a:extLst>
          </p:cNvPr>
          <p:cNvSpPr>
            <a:spLocks xmlns:a="http://schemas.openxmlformats.org/drawingml/2006/main" noGrp="1"/>
          </p:cNvSpPr>
          <p:nvPr/>
        </p:nvSpPr>
        <p:spPr>
          <a:xfrm xmlns:a="http://schemas.openxmlformats.org/drawingml/2006/main">
            <a:off x="5524500" y="2784475"/>
            <a:ext cx="2933700" cy="574675"/>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3" name="">
            <a:extLst xmlns:a="http://schemas.openxmlformats.org/drawingml/2006/main">
              <a:ext uri="{FF2B5EF4-FFF2-40B4-BE49-F238E27FC236}">
                <a16:creationId xmlns:a16="http://schemas.microsoft.com/office/drawing/2014/main" id="{B2EF2C08-F729-4692-B150-D7750402D711}"/>
              </a:ext>
            </a:extLst>
          </p:cNvPr>
          <p:cNvSpPr>
            <a:spLocks xmlns:a="http://schemas.openxmlformats.org/drawingml/2006/main" noGrp="1"/>
          </p:cNvSpPr>
          <p:nvPr/>
        </p:nvSpPr>
        <p:spPr>
          <a:xfrm xmlns:a="http://schemas.openxmlformats.org/drawingml/2006/main">
            <a:off x="5619750" y="2860675"/>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Gestion gremial</a:t>
            </a:r>
          </a:p>
        </p:txBody>
      </p:sp>
      <p:sp>
        <p:nvSpPr>
          <p:cNvPr id="44" name="">
            <a:extLst xmlns:a="http://schemas.openxmlformats.org/drawingml/2006/main">
              <a:ext uri="{FF2B5EF4-FFF2-40B4-BE49-F238E27FC236}">
                <a16:creationId xmlns:a16="http://schemas.microsoft.com/office/drawing/2014/main" id="{49042AB1-89CC-4144-BFF3-E690198ABE5F}"/>
              </a:ext>
            </a:extLst>
          </p:cNvPr>
          <p:cNvSpPr>
            <a:spLocks xmlns:a="http://schemas.openxmlformats.org/drawingml/2006/main" noGrp="1"/>
          </p:cNvSpPr>
          <p:nvPr/>
        </p:nvSpPr>
        <p:spPr>
          <a:xfrm xmlns:a="http://schemas.openxmlformats.org/drawingml/2006/main">
            <a:off x="8458200" y="2784475"/>
            <a:ext cx="2933700" cy="574675"/>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5" name="">
            <a:extLst xmlns:a="http://schemas.openxmlformats.org/drawingml/2006/main">
              <a:ext uri="{FF2B5EF4-FFF2-40B4-BE49-F238E27FC236}">
                <a16:creationId xmlns:a16="http://schemas.microsoft.com/office/drawing/2014/main" id="{F0CA5FF7-4371-4755-9FC6-B8BE4A67E4EA}"/>
              </a:ext>
            </a:extLst>
          </p:cNvPr>
          <p:cNvSpPr>
            <a:spLocks xmlns:a="http://schemas.openxmlformats.org/drawingml/2006/main" noGrp="1"/>
          </p:cNvSpPr>
          <p:nvPr/>
        </p:nvSpPr>
        <p:spPr>
          <a:xfrm xmlns:a="http://schemas.openxmlformats.org/drawingml/2006/main">
            <a:off x="8553450" y="2860675"/>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Hito publico-cultural</a:t>
            </a:r>
          </a:p>
        </p:txBody>
      </p:sp>
      <p:sp>
        <p:nvSpPr>
          <p:cNvPr id="46" name="">
            <a:extLst xmlns:a="http://schemas.openxmlformats.org/drawingml/2006/main">
              <a:ext uri="{FF2B5EF4-FFF2-40B4-BE49-F238E27FC236}">
                <a16:creationId xmlns:a16="http://schemas.microsoft.com/office/drawing/2014/main" id="{674A1A68-63B2-456D-BD47-F85EB30D50B7}"/>
              </a:ext>
            </a:extLst>
          </p:cNvPr>
          <p:cNvSpPr>
            <a:spLocks xmlns:a="http://schemas.openxmlformats.org/drawingml/2006/main" noGrp="1"/>
          </p:cNvSpPr>
          <p:nvPr/>
        </p:nvSpPr>
        <p:spPr>
          <a:xfrm xmlns:a="http://schemas.openxmlformats.org/drawingml/2006/main">
            <a:off x="5524500" y="3359150"/>
            <a:ext cx="2933700" cy="574675"/>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7" name="">
            <a:extLst xmlns:a="http://schemas.openxmlformats.org/drawingml/2006/main">
              <a:ext uri="{FF2B5EF4-FFF2-40B4-BE49-F238E27FC236}">
                <a16:creationId xmlns:a16="http://schemas.microsoft.com/office/drawing/2014/main" id="{25F85368-C7FA-4ED6-9ED1-1D4F8050401B}"/>
              </a:ext>
            </a:extLst>
          </p:cNvPr>
          <p:cNvSpPr>
            <a:spLocks xmlns:a="http://schemas.openxmlformats.org/drawingml/2006/main" noGrp="1"/>
          </p:cNvSpPr>
          <p:nvPr/>
        </p:nvSpPr>
        <p:spPr>
          <a:xfrm xmlns:a="http://schemas.openxmlformats.org/drawingml/2006/main">
            <a:off x="5619750" y="3435350"/>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Matrices y trazabilidad</a:t>
            </a:r>
          </a:p>
        </p:txBody>
      </p:sp>
      <p:sp>
        <p:nvSpPr>
          <p:cNvPr id="48" name="">
            <a:extLst xmlns:a="http://schemas.openxmlformats.org/drawingml/2006/main">
              <a:ext uri="{FF2B5EF4-FFF2-40B4-BE49-F238E27FC236}">
                <a16:creationId xmlns:a16="http://schemas.microsoft.com/office/drawing/2014/main" id="{24C03DA3-FC26-408F-8C05-B5326E4F0868}"/>
              </a:ext>
            </a:extLst>
          </p:cNvPr>
          <p:cNvSpPr>
            <a:spLocks xmlns:a="http://schemas.openxmlformats.org/drawingml/2006/main" noGrp="1"/>
          </p:cNvSpPr>
          <p:nvPr/>
        </p:nvSpPr>
        <p:spPr>
          <a:xfrm xmlns:a="http://schemas.openxmlformats.org/drawingml/2006/main">
            <a:off x="8458200" y="3359150"/>
            <a:ext cx="2933700" cy="574675"/>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9" name="">
            <a:extLst xmlns:a="http://schemas.openxmlformats.org/drawingml/2006/main">
              <a:ext uri="{FF2B5EF4-FFF2-40B4-BE49-F238E27FC236}">
                <a16:creationId xmlns:a16="http://schemas.microsoft.com/office/drawing/2014/main" id="{2C7930E9-F8F8-486C-A10E-C2BA85732B84}"/>
              </a:ext>
            </a:extLst>
          </p:cNvPr>
          <p:cNvSpPr>
            <a:spLocks xmlns:a="http://schemas.openxmlformats.org/drawingml/2006/main" noGrp="1"/>
          </p:cNvSpPr>
          <p:nvPr/>
        </p:nvSpPr>
        <p:spPr>
          <a:xfrm xmlns:a="http://schemas.openxmlformats.org/drawingml/2006/main">
            <a:off x="8553450" y="3435350"/>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Aplicacion real</a:t>
            </a:r>
          </a:p>
        </p:txBody>
      </p:sp>
      <p:sp>
        <p:nvSpPr>
          <p:cNvPr id="50" name="">
            <a:extLst xmlns:a="http://schemas.openxmlformats.org/drawingml/2006/main">
              <a:ext uri="{FF2B5EF4-FFF2-40B4-BE49-F238E27FC236}">
                <a16:creationId xmlns:a16="http://schemas.microsoft.com/office/drawing/2014/main" id="{2F36D476-EBEF-4264-B4F1-9C7B78C7C339}"/>
              </a:ext>
            </a:extLst>
          </p:cNvPr>
          <p:cNvSpPr>
            <a:spLocks xmlns:a="http://schemas.openxmlformats.org/drawingml/2006/main" noGrp="1"/>
          </p:cNvSpPr>
          <p:nvPr/>
        </p:nvSpPr>
        <p:spPr>
          <a:xfrm xmlns:a="http://schemas.openxmlformats.org/drawingml/2006/main">
            <a:off x="5524500" y="3933825"/>
            <a:ext cx="2933700" cy="574675"/>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1" name="">
            <a:extLst xmlns:a="http://schemas.openxmlformats.org/drawingml/2006/main">
              <a:ext uri="{FF2B5EF4-FFF2-40B4-BE49-F238E27FC236}">
                <a16:creationId xmlns:a16="http://schemas.microsoft.com/office/drawing/2014/main" id="{3A3237AF-E486-46A8-8343-FF35A3F1B988}"/>
              </a:ext>
            </a:extLst>
          </p:cNvPr>
          <p:cNvSpPr>
            <a:spLocks xmlns:a="http://schemas.openxmlformats.org/drawingml/2006/main" noGrp="1"/>
          </p:cNvSpPr>
          <p:nvPr/>
        </p:nvSpPr>
        <p:spPr>
          <a:xfrm xmlns:a="http://schemas.openxmlformats.org/drawingml/2006/main">
            <a:off x="5619750" y="4010025"/>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Gobernanza de datos</a:t>
            </a:r>
          </a:p>
        </p:txBody>
      </p:sp>
      <p:sp>
        <p:nvSpPr>
          <p:cNvPr id="52" name="">
            <a:extLst xmlns:a="http://schemas.openxmlformats.org/drawingml/2006/main">
              <a:ext uri="{FF2B5EF4-FFF2-40B4-BE49-F238E27FC236}">
                <a16:creationId xmlns:a16="http://schemas.microsoft.com/office/drawing/2014/main" id="{1BCB6D85-DBDE-4420-8375-C3707C4364FE}"/>
              </a:ext>
            </a:extLst>
          </p:cNvPr>
          <p:cNvSpPr>
            <a:spLocks xmlns:a="http://schemas.openxmlformats.org/drawingml/2006/main" noGrp="1"/>
          </p:cNvSpPr>
          <p:nvPr/>
        </p:nvSpPr>
        <p:spPr>
          <a:xfrm xmlns:a="http://schemas.openxmlformats.org/drawingml/2006/main">
            <a:off x="8458200" y="3933825"/>
            <a:ext cx="2933700" cy="574675"/>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3" name="">
            <a:extLst xmlns:a="http://schemas.openxmlformats.org/drawingml/2006/main">
              <a:ext uri="{FF2B5EF4-FFF2-40B4-BE49-F238E27FC236}">
                <a16:creationId xmlns:a16="http://schemas.microsoft.com/office/drawing/2014/main" id="{56897A9B-1C1F-40B5-AA0C-52599EC96B67}"/>
              </a:ext>
            </a:extLst>
          </p:cNvPr>
          <p:cNvSpPr>
            <a:spLocks xmlns:a="http://schemas.openxmlformats.org/drawingml/2006/main" noGrp="1"/>
          </p:cNvSpPr>
          <p:nvPr/>
        </p:nvSpPr>
        <p:spPr>
          <a:xfrm xmlns:a="http://schemas.openxmlformats.org/drawingml/2006/main">
            <a:off x="8553450" y="4010025"/>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Registro y memoria del proyecto</a:t>
            </a:r>
          </a:p>
        </p:txBody>
      </p:sp>
      <p:sp>
        <p:nvSpPr>
          <p:cNvPr id="54" name="">
            <a:extLst xmlns:a="http://schemas.openxmlformats.org/drawingml/2006/main">
              <a:ext uri="{FF2B5EF4-FFF2-40B4-BE49-F238E27FC236}">
                <a16:creationId xmlns:a16="http://schemas.microsoft.com/office/drawing/2014/main" id="{84973356-CC3F-443F-A6D7-86A200CB4C39}"/>
              </a:ext>
            </a:extLst>
          </p:cNvPr>
          <p:cNvSpPr>
            <a:spLocks xmlns:a="http://schemas.openxmlformats.org/drawingml/2006/main" noGrp="1"/>
          </p:cNvSpPr>
          <p:nvPr/>
        </p:nvSpPr>
        <p:spPr>
          <a:xfrm xmlns:a="http://schemas.openxmlformats.org/drawingml/2006/main">
            <a:off x="5524500" y="4508500"/>
            <a:ext cx="2933700" cy="574675"/>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5" name="">
            <a:extLst xmlns:a="http://schemas.openxmlformats.org/drawingml/2006/main">
              <a:ext uri="{FF2B5EF4-FFF2-40B4-BE49-F238E27FC236}">
                <a16:creationId xmlns:a16="http://schemas.microsoft.com/office/drawing/2014/main" id="{85CC4855-3E72-4995-8EFA-9B84FB67D48A}"/>
              </a:ext>
            </a:extLst>
          </p:cNvPr>
          <p:cNvSpPr>
            <a:spLocks xmlns:a="http://schemas.openxmlformats.org/drawingml/2006/main" noGrp="1"/>
          </p:cNvSpPr>
          <p:nvPr/>
        </p:nvSpPr>
        <p:spPr>
          <a:xfrm xmlns:a="http://schemas.openxmlformats.org/drawingml/2006/main">
            <a:off x="5619750" y="4584700"/>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Comites y roles</a:t>
            </a:r>
          </a:p>
        </p:txBody>
      </p:sp>
      <p:sp>
        <p:nvSpPr>
          <p:cNvPr id="56" name="">
            <a:extLst xmlns:a="http://schemas.openxmlformats.org/drawingml/2006/main">
              <a:ext uri="{FF2B5EF4-FFF2-40B4-BE49-F238E27FC236}">
                <a16:creationId xmlns:a16="http://schemas.microsoft.com/office/drawing/2014/main" id="{91D92D1A-44C4-4BDA-ACE3-9B6E848D15E8}"/>
              </a:ext>
            </a:extLst>
          </p:cNvPr>
          <p:cNvSpPr>
            <a:spLocks xmlns:a="http://schemas.openxmlformats.org/drawingml/2006/main" noGrp="1"/>
          </p:cNvSpPr>
          <p:nvPr/>
        </p:nvSpPr>
        <p:spPr>
          <a:xfrm xmlns:a="http://schemas.openxmlformats.org/drawingml/2006/main">
            <a:off x="8458200" y="4508500"/>
            <a:ext cx="2933700" cy="574675"/>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7" name="">
            <a:extLst xmlns:a="http://schemas.openxmlformats.org/drawingml/2006/main">
              <a:ext uri="{FF2B5EF4-FFF2-40B4-BE49-F238E27FC236}">
                <a16:creationId xmlns:a16="http://schemas.microsoft.com/office/drawing/2014/main" id="{53ED9FDF-00C4-456A-8C68-031BBC3F80B6}"/>
              </a:ext>
            </a:extLst>
          </p:cNvPr>
          <p:cNvSpPr>
            <a:spLocks xmlns:a="http://schemas.openxmlformats.org/drawingml/2006/main" noGrp="1"/>
          </p:cNvSpPr>
          <p:nvPr/>
        </p:nvSpPr>
        <p:spPr>
          <a:xfrm xmlns:a="http://schemas.openxmlformats.org/drawingml/2006/main">
            <a:off x="8553450" y="4584700"/>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Produccion y articulacion validada</a:t>
            </a:r>
          </a:p>
        </p:txBody>
      </p:sp>
      <p:sp>
        <p:nvSpPr>
          <p:cNvPr id="58" name="">
            <a:extLst xmlns:a="http://schemas.openxmlformats.org/drawingml/2006/main">
              <a:ext uri="{FF2B5EF4-FFF2-40B4-BE49-F238E27FC236}">
                <a16:creationId xmlns:a16="http://schemas.microsoft.com/office/drawing/2014/main" id="{A779ADE9-E76B-4FCC-8F29-55682335ED92}"/>
              </a:ext>
            </a:extLst>
          </p:cNvPr>
          <p:cNvSpPr>
            <a:spLocks xmlns:a="http://schemas.openxmlformats.org/drawingml/2006/main" noGrp="1"/>
          </p:cNvSpPr>
          <p:nvPr/>
        </p:nvSpPr>
        <p:spPr>
          <a:xfrm xmlns:a="http://schemas.openxmlformats.org/drawingml/2006/main">
            <a:off x="5524500" y="5083175"/>
            <a:ext cx="2933700" cy="574675"/>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9" name="">
            <a:extLst xmlns:a="http://schemas.openxmlformats.org/drawingml/2006/main">
              <a:ext uri="{FF2B5EF4-FFF2-40B4-BE49-F238E27FC236}">
                <a16:creationId xmlns:a16="http://schemas.microsoft.com/office/drawing/2014/main" id="{80832DEE-AB72-4A5E-9B1F-4559C535D2AE}"/>
              </a:ext>
            </a:extLst>
          </p:cNvPr>
          <p:cNvSpPr>
            <a:spLocks xmlns:a="http://schemas.openxmlformats.org/drawingml/2006/main" noGrp="1"/>
          </p:cNvSpPr>
          <p:nvPr/>
        </p:nvSpPr>
        <p:spPr>
          <a:xfrm xmlns:a="http://schemas.openxmlformats.org/drawingml/2006/main">
            <a:off x="5619750" y="5159375"/>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Orden interno</a:t>
            </a:r>
          </a:p>
        </p:txBody>
      </p:sp>
      <p:sp>
        <p:nvSpPr>
          <p:cNvPr id="60" name="">
            <a:extLst xmlns:a="http://schemas.openxmlformats.org/drawingml/2006/main">
              <a:ext uri="{FF2B5EF4-FFF2-40B4-BE49-F238E27FC236}">
                <a16:creationId xmlns:a16="http://schemas.microsoft.com/office/drawing/2014/main" id="{43CAC385-B1D2-4241-B89C-002591D395F8}"/>
              </a:ext>
            </a:extLst>
          </p:cNvPr>
          <p:cNvSpPr>
            <a:spLocks xmlns:a="http://schemas.openxmlformats.org/drawingml/2006/main" noGrp="1"/>
          </p:cNvSpPr>
          <p:nvPr/>
        </p:nvSpPr>
        <p:spPr>
          <a:xfrm xmlns:a="http://schemas.openxmlformats.org/drawingml/2006/main">
            <a:off x="8458200" y="5083175"/>
            <a:ext cx="2933700" cy="574675"/>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1" name="">
            <a:extLst xmlns:a="http://schemas.openxmlformats.org/drawingml/2006/main">
              <a:ext uri="{FF2B5EF4-FFF2-40B4-BE49-F238E27FC236}">
                <a16:creationId xmlns:a16="http://schemas.microsoft.com/office/drawing/2014/main" id="{2697A0F6-DF30-473C-A6F8-834ED58C3188}"/>
              </a:ext>
            </a:extLst>
          </p:cNvPr>
          <p:cNvSpPr>
            <a:spLocks xmlns:a="http://schemas.openxmlformats.org/drawingml/2006/main" noGrp="1"/>
          </p:cNvSpPr>
          <p:nvPr/>
        </p:nvSpPr>
        <p:spPr>
          <a:xfrm xmlns:a="http://schemas.openxmlformats.org/drawingml/2006/main">
            <a:off x="8553450" y="5159375"/>
            <a:ext cx="2743200" cy="422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Proyeccion externa</a:t>
            </a:r>
          </a:p>
        </p:txBody>
      </p:sp>
      <p:sp>
        <p:nvSpPr>
          <p:cNvPr id="62" name="">
            <a:extLst xmlns:a="http://schemas.openxmlformats.org/drawingml/2006/main">
              <a:ext uri="{FF2B5EF4-FFF2-40B4-BE49-F238E27FC236}">
                <a16:creationId xmlns:a16="http://schemas.microsoft.com/office/drawing/2014/main" id="{6BEC67C5-45DE-4153-B149-80AEF86DF895}"/>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CA24C6E7-00B4-46CA-A004-78D8AE544339}"/>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64" name="">
            <a:extLst xmlns:a="http://schemas.openxmlformats.org/drawingml/2006/main">
              <a:ext uri="{FF2B5EF4-FFF2-40B4-BE49-F238E27FC236}">
                <a16:creationId xmlns:a16="http://schemas.microsoft.com/office/drawing/2014/main" id="{D41BC0BA-F984-4DBC-A623-95DAA4E00BF5}"/>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11 / 20</a:t>
            </a:r>
          </a:p>
        </p:txBody>
      </p:sp>
    </p:spTree>
    <p:extLst>
      <p:ext uri="{BB962C8B-B14F-4D97-AF65-F5344CB8AC3E}">
        <p14:creationId xmlns:p14="http://schemas.microsoft.com/office/powerpoint/2010/main" val="5315096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905F7A-13E6-49B6-8E07-D7E59DFB1E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29D55B8-A9FB-4776-81DC-30AC69B0509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BAE6BF4-ED73-4BB6-98F1-CC97481999B6}"/>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8C71CFF-B3F1-4690-89B8-F80D3D16FD0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D5A0F54-F186-4BF9-86B6-4CF4117635D0}"/>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34C12D6-7D17-4E00-8BA5-02DFD71CB84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150CC32-C7EC-4DF4-B1E8-C4FD94D7349E}"/>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7F714A2-D788-4352-AAE4-C2ACC51016E4}"/>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EFFD7A5-4176-4BA7-A8DF-CA4C8B848B85}"/>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629F9D6-F722-463D-893C-6C20AA17CC9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A12152F-B0D4-49CE-8A28-E097A866F17E}"/>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A71EBD4-CDC9-452B-9B39-637853073680}"/>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880929D-59AD-423D-BF14-12AA219A05DD}"/>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EC6FF6D-1D50-4662-9AA4-99CBA0197BEC}"/>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AA9A613-1650-4547-9ECC-734FB1FF07FA}"/>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A200477-48A6-4025-8706-2BB3901F0720}"/>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BBF98C4-A975-4A42-863D-FF27CD9F4A21}"/>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17B6945-6BD6-43BE-8BA3-05DA38EAE7D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F3D9621-0836-4DC2-BB21-F8B283C6FC20}"/>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7BE71E4-14DC-4AC0-99A9-A52428D668AB}"/>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39B92E8-4E7F-4AB3-821F-2B90848B326B}"/>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5F9EFBCC-9EEE-4494-8DE5-206484D8473B}"/>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D7DC725A-E548-4F67-A7D3-8B4224D66E80}"/>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10E5B996-42C4-4E3F-83B7-01ED716A5FF1}"/>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5C01EA9-AA5E-4F3C-9532-560AD1C8725A}"/>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366B152-F8CD-4F34-A895-619097C68FA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38D0A70-80E5-4BD9-B778-B443368853EA}"/>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A5A3804-2979-45E7-855B-33EE866F574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755D1"/>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AE4E6F80-BE62-4B2C-8825-C7AC2811D626}"/>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AB93805A-F393-43E1-9209-EAFCC2C21AA1}"/>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12 · GOBERNANZA</a:t>
            </a:r>
          </a:p>
        </p:txBody>
      </p:sp>
      <p:sp>
        <p:nvSpPr>
          <p:cNvPr id="31" name="">
            <a:extLst xmlns:a="http://schemas.openxmlformats.org/drawingml/2006/main">
              <a:ext uri="{FF2B5EF4-FFF2-40B4-BE49-F238E27FC236}">
                <a16:creationId xmlns:a16="http://schemas.microsoft.com/office/drawing/2014/main" id="{3467718C-2335-4BE7-85A9-192599FEE59E}"/>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El modelo separa estrategia, carteras, comites y operacion valorizable.</a:t>
            </a:r>
          </a:p>
        </p:txBody>
      </p:sp>
      <p:sp>
        <p:nvSpPr>
          <p:cNvPr id="32" name="">
            <a:extLst xmlns:a="http://schemas.openxmlformats.org/drawingml/2006/main">
              <a:ext uri="{FF2B5EF4-FFF2-40B4-BE49-F238E27FC236}">
                <a16:creationId xmlns:a16="http://schemas.microsoft.com/office/drawing/2014/main" id="{456D12B5-2302-4321-ACE3-E56422BB20E9}"/>
              </a:ext>
            </a:extLst>
          </p:cNvPr>
          <p:cNvSpPr>
            <a:spLocks xmlns:a="http://schemas.openxmlformats.org/drawingml/2006/main" noGrp="1"/>
          </p:cNvSpPr>
          <p:nvPr/>
        </p:nvSpPr>
        <p:spPr>
          <a:xfrm xmlns:a="http://schemas.openxmlformats.org/drawingml/2006/main">
            <a:off x="514350" y="1962150"/>
            <a:ext cx="4857750" cy="139065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F3871F0F-55C9-4A34-B13E-1628E149B651}"/>
              </a:ext>
            </a:extLst>
          </p:cNvPr>
          <p:cNvSpPr>
            <a:spLocks xmlns:a="http://schemas.openxmlformats.org/drawingml/2006/main" noGrp="1"/>
          </p:cNvSpPr>
          <p:nvPr/>
        </p:nvSpPr>
        <p:spPr>
          <a:xfrm xmlns:a="http://schemas.openxmlformats.org/drawingml/2006/main">
            <a:off x="723900" y="2114550"/>
            <a:ext cx="44386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El directorio define estrategia. Las carteras directivas conducen areas. Los comites ejecutan y colaboran.</a:t>
            </a:r>
          </a:p>
        </p:txBody>
      </p:sp>
      <p:sp>
        <p:nvSpPr>
          <p:cNvPr id="34" name="">
            <a:extLst xmlns:a="http://schemas.openxmlformats.org/drawingml/2006/main">
              <a:ext uri="{FF2B5EF4-FFF2-40B4-BE49-F238E27FC236}">
                <a16:creationId xmlns:a16="http://schemas.microsoft.com/office/drawing/2014/main" id="{55F46A34-CC4D-4AE0-945D-99822C493014}"/>
              </a:ext>
            </a:extLst>
          </p:cNvPr>
          <p:cNvSpPr>
            <a:spLocks xmlns:a="http://schemas.openxmlformats.org/drawingml/2006/main" noGrp="1"/>
          </p:cNvSpPr>
          <p:nvPr/>
        </p:nvSpPr>
        <p:spPr>
          <a:xfrm xmlns:a="http://schemas.openxmlformats.org/drawingml/2006/main">
            <a:off x="666750" y="4038600"/>
            <a:ext cx="1988820" cy="1104900"/>
          </a:xfrm>
          <a:prstGeom xmlns:a="http://schemas.openxmlformats.org/drawingml/2006/main" prst="rect">
            <a:avLst/>
          </a:prstGeom>
          <a:solidFill xmlns:a="http://schemas.openxmlformats.org/drawingml/2006/main">
            <a:srgbClr val="111D25"/>
          </a:solidFill>
          <a:ln xmlns:a="http://schemas.openxmlformats.org/drawingml/2006/main" w="11430">
            <a:solidFill>
              <a:srgbClr val="15E9CD"/>
            </a:solidFill>
            <a:prstDash val="solid"/>
          </a:ln>
        </p:spPr>
      </p:sp>
      <p:sp>
        <p:nvSpPr>
          <p:cNvPr id="35" name="">
            <a:extLst xmlns:a="http://schemas.openxmlformats.org/drawingml/2006/main">
              <a:ext uri="{FF2B5EF4-FFF2-40B4-BE49-F238E27FC236}">
                <a16:creationId xmlns:a16="http://schemas.microsoft.com/office/drawing/2014/main" id="{34FC8472-19FC-41EF-A96A-6AFB54A96815}"/>
              </a:ext>
            </a:extLst>
          </p:cNvPr>
          <p:cNvSpPr>
            <a:spLocks xmlns:a="http://schemas.openxmlformats.org/drawingml/2006/main" noGrp="1"/>
          </p:cNvSpPr>
          <p:nvPr/>
        </p:nvSpPr>
        <p:spPr>
          <a:xfrm xmlns:a="http://schemas.openxmlformats.org/drawingml/2006/main">
            <a:off x="781050" y="41529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01</a:t>
            </a:r>
          </a:p>
        </p:txBody>
      </p:sp>
      <p:sp>
        <p:nvSpPr>
          <p:cNvPr id="36" name="">
            <a:extLst xmlns:a="http://schemas.openxmlformats.org/drawingml/2006/main">
              <a:ext uri="{FF2B5EF4-FFF2-40B4-BE49-F238E27FC236}">
                <a16:creationId xmlns:a16="http://schemas.microsoft.com/office/drawing/2014/main" id="{5FAB5E2A-D0E4-42D8-BF2A-FF4886AFB2C3}"/>
              </a:ext>
            </a:extLst>
          </p:cNvPr>
          <p:cNvSpPr>
            <a:spLocks xmlns:a="http://schemas.openxmlformats.org/drawingml/2006/main" noGrp="1"/>
          </p:cNvSpPr>
          <p:nvPr/>
        </p:nvSpPr>
        <p:spPr>
          <a:xfrm xmlns:a="http://schemas.openxmlformats.org/drawingml/2006/main">
            <a:off x="781050" y="4438650"/>
            <a:ext cx="176022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EFF1F5"/>
                </a:solidFill>
                <a:latin typeface="Aptos"/>
                <a:ea typeface="Aptos"/>
                <a:cs typeface="Aptos"/>
              </a:defRPr>
            </a:pPr>
            <a:r>
              <a:rPr sz="1125" b="1">
                <a:solidFill>
                  <a:srgbClr val="EFF1F5"/>
                </a:solidFill>
                <a:latin typeface="Aptos"/>
                <a:ea typeface="Aptos"/>
                <a:cs typeface="Aptos"/>
              </a:rPr>
              <a:t>Directorio estrategico</a:t>
            </a:r>
          </a:p>
        </p:txBody>
      </p:sp>
      <p:sp>
        <p:nvSpPr>
          <p:cNvPr id="37" name="">
            <a:extLst xmlns:a="http://schemas.openxmlformats.org/drawingml/2006/main">
              <a:ext uri="{FF2B5EF4-FFF2-40B4-BE49-F238E27FC236}">
                <a16:creationId xmlns:a16="http://schemas.microsoft.com/office/drawing/2014/main" id="{B13F496C-C7C7-46AC-A9AE-0FA2BC593006}"/>
              </a:ext>
            </a:extLst>
          </p:cNvPr>
          <p:cNvSpPr>
            <a:spLocks xmlns:a="http://schemas.openxmlformats.org/drawingml/2006/main" noGrp="1"/>
          </p:cNvSpPr>
          <p:nvPr/>
        </p:nvSpPr>
        <p:spPr>
          <a:xfrm xmlns:a="http://schemas.openxmlformats.org/drawingml/2006/main">
            <a:off x="2655570" y="4591050"/>
            <a:ext cx="133350" cy="190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E72CB43-083C-4F21-8867-A561F4D3BC60}"/>
              </a:ext>
            </a:extLst>
          </p:cNvPr>
          <p:cNvSpPr>
            <a:spLocks xmlns:a="http://schemas.openxmlformats.org/drawingml/2006/main" noGrp="1"/>
          </p:cNvSpPr>
          <p:nvPr/>
        </p:nvSpPr>
        <p:spPr>
          <a:xfrm xmlns:a="http://schemas.openxmlformats.org/drawingml/2006/main">
            <a:off x="2788920" y="4038600"/>
            <a:ext cx="1988820" cy="1104900"/>
          </a:xfrm>
          <a:prstGeom xmlns:a="http://schemas.openxmlformats.org/drawingml/2006/main" prst="rect">
            <a:avLst/>
          </a:prstGeom>
          <a:solidFill xmlns:a="http://schemas.openxmlformats.org/drawingml/2006/main">
            <a:srgbClr val="111D25"/>
          </a:solidFill>
          <a:ln xmlns:a="http://schemas.openxmlformats.org/drawingml/2006/main" w="11430">
            <a:solidFill>
              <a:srgbClr val="15E9CD"/>
            </a:solidFill>
            <a:prstDash val="solid"/>
          </a:ln>
        </p:spPr>
      </p:sp>
      <p:sp>
        <p:nvSpPr>
          <p:cNvPr id="39" name="">
            <a:extLst xmlns:a="http://schemas.openxmlformats.org/drawingml/2006/main">
              <a:ext uri="{FF2B5EF4-FFF2-40B4-BE49-F238E27FC236}">
                <a16:creationId xmlns:a16="http://schemas.microsoft.com/office/drawing/2014/main" id="{D94AACBE-09EB-43CF-A5AA-660C0F22F4E0}"/>
              </a:ext>
            </a:extLst>
          </p:cNvPr>
          <p:cNvSpPr>
            <a:spLocks xmlns:a="http://schemas.openxmlformats.org/drawingml/2006/main" noGrp="1"/>
          </p:cNvSpPr>
          <p:nvPr/>
        </p:nvSpPr>
        <p:spPr>
          <a:xfrm xmlns:a="http://schemas.openxmlformats.org/drawingml/2006/main">
            <a:off x="2903220" y="41529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02</a:t>
            </a:r>
          </a:p>
        </p:txBody>
      </p:sp>
      <p:sp>
        <p:nvSpPr>
          <p:cNvPr id="40" name="">
            <a:extLst xmlns:a="http://schemas.openxmlformats.org/drawingml/2006/main">
              <a:ext uri="{FF2B5EF4-FFF2-40B4-BE49-F238E27FC236}">
                <a16:creationId xmlns:a16="http://schemas.microsoft.com/office/drawing/2014/main" id="{5B3A41FC-BE25-42E1-8777-2BEF42092F89}"/>
              </a:ext>
            </a:extLst>
          </p:cNvPr>
          <p:cNvSpPr>
            <a:spLocks xmlns:a="http://schemas.openxmlformats.org/drawingml/2006/main" noGrp="1"/>
          </p:cNvSpPr>
          <p:nvPr/>
        </p:nvSpPr>
        <p:spPr>
          <a:xfrm xmlns:a="http://schemas.openxmlformats.org/drawingml/2006/main">
            <a:off x="2903220" y="4438650"/>
            <a:ext cx="176022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EFF1F5"/>
                </a:solidFill>
                <a:latin typeface="Aptos"/>
                <a:ea typeface="Aptos"/>
                <a:cs typeface="Aptos"/>
              </a:defRPr>
            </a:pPr>
            <a:r>
              <a:rPr sz="1125" b="1">
                <a:solidFill>
                  <a:srgbClr val="EFF1F5"/>
                </a:solidFill>
                <a:latin typeface="Aptos"/>
                <a:ea typeface="Aptos"/>
                <a:cs typeface="Aptos"/>
              </a:rPr>
              <a:t>Carteras Directivas</a:t>
            </a:r>
          </a:p>
        </p:txBody>
      </p:sp>
      <p:sp>
        <p:nvSpPr>
          <p:cNvPr id="41" name="">
            <a:extLst xmlns:a="http://schemas.openxmlformats.org/drawingml/2006/main">
              <a:ext uri="{FF2B5EF4-FFF2-40B4-BE49-F238E27FC236}">
                <a16:creationId xmlns:a16="http://schemas.microsoft.com/office/drawing/2014/main" id="{D7D56B33-F8A5-4A08-AFC8-1370E223374C}"/>
              </a:ext>
            </a:extLst>
          </p:cNvPr>
          <p:cNvSpPr>
            <a:spLocks xmlns:a="http://schemas.openxmlformats.org/drawingml/2006/main" noGrp="1"/>
          </p:cNvSpPr>
          <p:nvPr/>
        </p:nvSpPr>
        <p:spPr>
          <a:xfrm xmlns:a="http://schemas.openxmlformats.org/drawingml/2006/main">
            <a:off x="4777740" y="4591050"/>
            <a:ext cx="133350" cy="190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098E52A-FA18-47E4-AC2D-0DC1E2847580}"/>
              </a:ext>
            </a:extLst>
          </p:cNvPr>
          <p:cNvSpPr>
            <a:spLocks xmlns:a="http://schemas.openxmlformats.org/drawingml/2006/main" noGrp="1"/>
          </p:cNvSpPr>
          <p:nvPr/>
        </p:nvSpPr>
        <p:spPr>
          <a:xfrm xmlns:a="http://schemas.openxmlformats.org/drawingml/2006/main">
            <a:off x="4911090" y="4038600"/>
            <a:ext cx="1988820" cy="1104900"/>
          </a:xfrm>
          <a:prstGeom xmlns:a="http://schemas.openxmlformats.org/drawingml/2006/main" prst="rect">
            <a:avLst/>
          </a:prstGeom>
          <a:solidFill xmlns:a="http://schemas.openxmlformats.org/drawingml/2006/main">
            <a:srgbClr val="111D25"/>
          </a:solidFill>
          <a:ln xmlns:a="http://schemas.openxmlformats.org/drawingml/2006/main" w="11430">
            <a:solidFill>
              <a:srgbClr val="15E9CD"/>
            </a:solidFill>
            <a:prstDash val="solid"/>
          </a:ln>
        </p:spPr>
      </p:sp>
      <p:sp>
        <p:nvSpPr>
          <p:cNvPr id="43" name="">
            <a:extLst xmlns:a="http://schemas.openxmlformats.org/drawingml/2006/main">
              <a:ext uri="{FF2B5EF4-FFF2-40B4-BE49-F238E27FC236}">
                <a16:creationId xmlns:a16="http://schemas.microsoft.com/office/drawing/2014/main" id="{217471FC-B053-45F6-B8A8-B43C1C69C46B}"/>
              </a:ext>
            </a:extLst>
          </p:cNvPr>
          <p:cNvSpPr>
            <a:spLocks xmlns:a="http://schemas.openxmlformats.org/drawingml/2006/main" noGrp="1"/>
          </p:cNvSpPr>
          <p:nvPr/>
        </p:nvSpPr>
        <p:spPr>
          <a:xfrm xmlns:a="http://schemas.openxmlformats.org/drawingml/2006/main">
            <a:off x="5025390" y="41529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03</a:t>
            </a:r>
          </a:p>
        </p:txBody>
      </p:sp>
      <p:sp>
        <p:nvSpPr>
          <p:cNvPr id="44" name="">
            <a:extLst xmlns:a="http://schemas.openxmlformats.org/drawingml/2006/main">
              <a:ext uri="{FF2B5EF4-FFF2-40B4-BE49-F238E27FC236}">
                <a16:creationId xmlns:a16="http://schemas.microsoft.com/office/drawing/2014/main" id="{0BF704B2-A25F-47B2-B425-37239F0B4A3D}"/>
              </a:ext>
            </a:extLst>
          </p:cNvPr>
          <p:cNvSpPr>
            <a:spLocks xmlns:a="http://schemas.openxmlformats.org/drawingml/2006/main" noGrp="1"/>
          </p:cNvSpPr>
          <p:nvPr/>
        </p:nvSpPr>
        <p:spPr>
          <a:xfrm xmlns:a="http://schemas.openxmlformats.org/drawingml/2006/main">
            <a:off x="5025390" y="4438650"/>
            <a:ext cx="176022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EFF1F5"/>
                </a:solidFill>
                <a:latin typeface="Aptos"/>
                <a:ea typeface="Aptos"/>
                <a:cs typeface="Aptos"/>
              </a:defRPr>
            </a:pPr>
            <a:r>
              <a:rPr sz="1125" b="1">
                <a:solidFill>
                  <a:srgbClr val="EFF1F5"/>
                </a:solidFill>
                <a:latin typeface="Aptos"/>
                <a:ea typeface="Aptos"/>
                <a:cs typeface="Aptos"/>
              </a:rPr>
              <a:t>Comites ejecutivos</a:t>
            </a:r>
          </a:p>
        </p:txBody>
      </p:sp>
      <p:sp>
        <p:nvSpPr>
          <p:cNvPr id="45" name="">
            <a:extLst xmlns:a="http://schemas.openxmlformats.org/drawingml/2006/main">
              <a:ext uri="{FF2B5EF4-FFF2-40B4-BE49-F238E27FC236}">
                <a16:creationId xmlns:a16="http://schemas.microsoft.com/office/drawing/2014/main" id="{224C52B7-AA86-446E-841C-1E07386102AF}"/>
              </a:ext>
            </a:extLst>
          </p:cNvPr>
          <p:cNvSpPr>
            <a:spLocks xmlns:a="http://schemas.openxmlformats.org/drawingml/2006/main" noGrp="1"/>
          </p:cNvSpPr>
          <p:nvPr/>
        </p:nvSpPr>
        <p:spPr>
          <a:xfrm xmlns:a="http://schemas.openxmlformats.org/drawingml/2006/main">
            <a:off x="6899910" y="4591050"/>
            <a:ext cx="133350" cy="190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4052E92C-9389-48DA-B224-EF36ECBA1923}"/>
              </a:ext>
            </a:extLst>
          </p:cNvPr>
          <p:cNvSpPr>
            <a:spLocks xmlns:a="http://schemas.openxmlformats.org/drawingml/2006/main" noGrp="1"/>
          </p:cNvSpPr>
          <p:nvPr/>
        </p:nvSpPr>
        <p:spPr>
          <a:xfrm xmlns:a="http://schemas.openxmlformats.org/drawingml/2006/main">
            <a:off x="7033260" y="4038600"/>
            <a:ext cx="1988820" cy="1104900"/>
          </a:xfrm>
          <a:prstGeom xmlns:a="http://schemas.openxmlformats.org/drawingml/2006/main" prst="rect">
            <a:avLst/>
          </a:prstGeom>
          <a:solidFill xmlns:a="http://schemas.openxmlformats.org/drawingml/2006/main">
            <a:srgbClr val="111D25"/>
          </a:solidFill>
          <a:ln xmlns:a="http://schemas.openxmlformats.org/drawingml/2006/main" w="11430">
            <a:solidFill>
              <a:srgbClr val="15E9CD"/>
            </a:solidFill>
            <a:prstDash val="solid"/>
          </a:ln>
        </p:spPr>
      </p:sp>
      <p:sp>
        <p:nvSpPr>
          <p:cNvPr id="47" name="">
            <a:extLst xmlns:a="http://schemas.openxmlformats.org/drawingml/2006/main">
              <a:ext uri="{FF2B5EF4-FFF2-40B4-BE49-F238E27FC236}">
                <a16:creationId xmlns:a16="http://schemas.microsoft.com/office/drawing/2014/main" id="{2F58DEB5-49C8-4EE6-B906-4041FA43AA05}"/>
              </a:ext>
            </a:extLst>
          </p:cNvPr>
          <p:cNvSpPr>
            <a:spLocks xmlns:a="http://schemas.openxmlformats.org/drawingml/2006/main" noGrp="1"/>
          </p:cNvSpPr>
          <p:nvPr/>
        </p:nvSpPr>
        <p:spPr>
          <a:xfrm xmlns:a="http://schemas.openxmlformats.org/drawingml/2006/main">
            <a:off x="7147560" y="41529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04</a:t>
            </a:r>
          </a:p>
        </p:txBody>
      </p:sp>
      <p:sp>
        <p:nvSpPr>
          <p:cNvPr id="48" name="">
            <a:extLst xmlns:a="http://schemas.openxmlformats.org/drawingml/2006/main">
              <a:ext uri="{FF2B5EF4-FFF2-40B4-BE49-F238E27FC236}">
                <a16:creationId xmlns:a16="http://schemas.microsoft.com/office/drawing/2014/main" id="{25768162-5299-49A7-951C-ABEAAD2F5B09}"/>
              </a:ext>
            </a:extLst>
          </p:cNvPr>
          <p:cNvSpPr>
            <a:spLocks xmlns:a="http://schemas.openxmlformats.org/drawingml/2006/main" noGrp="1"/>
          </p:cNvSpPr>
          <p:nvPr/>
        </p:nvSpPr>
        <p:spPr>
          <a:xfrm xmlns:a="http://schemas.openxmlformats.org/drawingml/2006/main">
            <a:off x="7147560" y="4438650"/>
            <a:ext cx="176022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EFF1F5"/>
                </a:solidFill>
                <a:latin typeface="Aptos"/>
                <a:ea typeface="Aptos"/>
                <a:cs typeface="Aptos"/>
              </a:defRPr>
            </a:pPr>
            <a:r>
              <a:rPr sz="1125" b="1">
                <a:solidFill>
                  <a:srgbClr val="EFF1F5"/>
                </a:solidFill>
                <a:latin typeface="Aptos"/>
                <a:ea typeface="Aptos"/>
                <a:cs typeface="Aptos"/>
              </a:rPr>
              <a:t>Operacion valorizable</a:t>
            </a:r>
          </a:p>
        </p:txBody>
      </p:sp>
      <p:sp>
        <p:nvSpPr>
          <p:cNvPr id="49" name="">
            <a:extLst xmlns:a="http://schemas.openxmlformats.org/drawingml/2006/main">
              <a:ext uri="{FF2B5EF4-FFF2-40B4-BE49-F238E27FC236}">
                <a16:creationId xmlns:a16="http://schemas.microsoft.com/office/drawing/2014/main" id="{B5C819D6-B3CB-4F6E-8C34-A685C65CBC3D}"/>
              </a:ext>
            </a:extLst>
          </p:cNvPr>
          <p:cNvSpPr>
            <a:spLocks xmlns:a="http://schemas.openxmlformats.org/drawingml/2006/main" noGrp="1"/>
          </p:cNvSpPr>
          <p:nvPr/>
        </p:nvSpPr>
        <p:spPr>
          <a:xfrm xmlns:a="http://schemas.openxmlformats.org/drawingml/2006/main">
            <a:off x="9022080" y="4591050"/>
            <a:ext cx="133350" cy="190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DF6FCB99-BE9A-46AB-9194-EBBD1E8F4B22}"/>
              </a:ext>
            </a:extLst>
          </p:cNvPr>
          <p:cNvSpPr>
            <a:spLocks xmlns:a="http://schemas.openxmlformats.org/drawingml/2006/main" noGrp="1"/>
          </p:cNvSpPr>
          <p:nvPr/>
        </p:nvSpPr>
        <p:spPr>
          <a:xfrm xmlns:a="http://schemas.openxmlformats.org/drawingml/2006/main">
            <a:off x="9155430" y="4038600"/>
            <a:ext cx="1988820" cy="1104900"/>
          </a:xfrm>
          <a:prstGeom xmlns:a="http://schemas.openxmlformats.org/drawingml/2006/main" prst="rect">
            <a:avLst/>
          </a:prstGeom>
          <a:solidFill xmlns:a="http://schemas.openxmlformats.org/drawingml/2006/main">
            <a:srgbClr val="111D25"/>
          </a:solidFill>
          <a:ln xmlns:a="http://schemas.openxmlformats.org/drawingml/2006/main" w="11430">
            <a:solidFill>
              <a:srgbClr val="83F0E2"/>
            </a:solidFill>
            <a:prstDash val="solid"/>
          </a:ln>
        </p:spPr>
      </p:sp>
      <p:sp>
        <p:nvSpPr>
          <p:cNvPr id="51" name="">
            <a:extLst xmlns:a="http://schemas.openxmlformats.org/drawingml/2006/main">
              <a:ext uri="{FF2B5EF4-FFF2-40B4-BE49-F238E27FC236}">
                <a16:creationId xmlns:a16="http://schemas.microsoft.com/office/drawing/2014/main" id="{FFFD7CC4-C693-444D-A237-AD2593396F42}"/>
              </a:ext>
            </a:extLst>
          </p:cNvPr>
          <p:cNvSpPr>
            <a:spLocks xmlns:a="http://schemas.openxmlformats.org/drawingml/2006/main" noGrp="1"/>
          </p:cNvSpPr>
          <p:nvPr/>
        </p:nvSpPr>
        <p:spPr>
          <a:xfrm xmlns:a="http://schemas.openxmlformats.org/drawingml/2006/main">
            <a:off x="9269730" y="41529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05</a:t>
            </a:r>
          </a:p>
        </p:txBody>
      </p:sp>
      <p:sp>
        <p:nvSpPr>
          <p:cNvPr id="52" name="">
            <a:extLst xmlns:a="http://schemas.openxmlformats.org/drawingml/2006/main">
              <a:ext uri="{FF2B5EF4-FFF2-40B4-BE49-F238E27FC236}">
                <a16:creationId xmlns:a16="http://schemas.microsoft.com/office/drawing/2014/main" id="{EA1E1C52-1A30-4E46-A29D-AFB33373CB62}"/>
              </a:ext>
            </a:extLst>
          </p:cNvPr>
          <p:cNvSpPr>
            <a:spLocks xmlns:a="http://schemas.openxmlformats.org/drawingml/2006/main" noGrp="1"/>
          </p:cNvSpPr>
          <p:nvPr/>
        </p:nvSpPr>
        <p:spPr>
          <a:xfrm xmlns:a="http://schemas.openxmlformats.org/drawingml/2006/main">
            <a:off x="9269730" y="4438650"/>
            <a:ext cx="176022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EFF1F5"/>
                </a:solidFill>
                <a:latin typeface="Aptos"/>
                <a:ea typeface="Aptos"/>
                <a:cs typeface="Aptos"/>
              </a:defRPr>
            </a:pPr>
            <a:r>
              <a:rPr sz="1125" b="1">
                <a:solidFill>
                  <a:srgbClr val="EFF1F5"/>
                </a:solidFill>
                <a:latin typeface="Aptos"/>
                <a:ea typeface="Aptos"/>
                <a:cs typeface="Aptos"/>
              </a:rPr>
              <a:t>IME Conecta registra y da trazabilidad</a:t>
            </a:r>
          </a:p>
        </p:txBody>
      </p:sp>
      <p:sp>
        <p:nvSpPr>
          <p:cNvPr id="53" name="">
            <a:extLst xmlns:a="http://schemas.openxmlformats.org/drawingml/2006/main">
              <a:ext uri="{FF2B5EF4-FFF2-40B4-BE49-F238E27FC236}">
                <a16:creationId xmlns:a16="http://schemas.microsoft.com/office/drawing/2014/main" id="{AD99D315-D316-4ED7-A58F-20349D65AA63}"/>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9640560E-6950-4B81-A657-938A69DF4A0B}"/>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55" name="">
            <a:extLst xmlns:a="http://schemas.openxmlformats.org/drawingml/2006/main">
              <a:ext uri="{FF2B5EF4-FFF2-40B4-BE49-F238E27FC236}">
                <a16:creationId xmlns:a16="http://schemas.microsoft.com/office/drawing/2014/main" id="{61CB965E-FDEF-4E03-89C2-963C0A26265A}"/>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12 / 20</a:t>
            </a:r>
          </a:p>
        </p:txBody>
      </p:sp>
    </p:spTree>
    <p:extLst>
      <p:ext uri="{BB962C8B-B14F-4D97-AF65-F5344CB8AC3E}">
        <p14:creationId xmlns:p14="http://schemas.microsoft.com/office/powerpoint/2010/main" val="11582328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D7A28D-A8E5-4389-977C-575705E8BC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763F20E-6102-4515-A84A-F4403B74517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0F7C584-4136-4BC0-B621-A8D352E330A6}"/>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283158F-0FAE-4D1E-BD70-6392E4AD0BA0}"/>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80B228E-232F-4715-BDF5-4D2664169345}"/>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D4F1FDD-66F7-4A40-A908-A3ACAC76E2FD}"/>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3ABCF16-E3EF-49A3-8310-1934C9FC5B85}"/>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1E5F023-91DE-41A7-9660-BCE54E03577F}"/>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7327499-170D-447F-8382-9F522BCA741E}"/>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FA8496C-CCE8-46D0-BD33-505D563CB56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CE1517E-DF51-4FBA-A1CD-412552BF5642}"/>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34BCAF4-7340-4CF2-A490-7851A8599F56}"/>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BFCB9E3-CF1A-4E6B-9D56-69439D7127C2}"/>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635B596-C0E9-4910-8E85-2B66C685BCAD}"/>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8D25815-27D7-46F8-8CF1-1805402DFB83}"/>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8C4F252-3824-497F-9F33-234C47CCD97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F8D247E-508D-4B43-BB56-79883A2BB73F}"/>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D6DA678-0E66-4F3D-85B3-0674CA5AC475}"/>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22CE5AEB-E657-4E41-A495-7C462C82EF8B}"/>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01D63F2-CEDE-440B-B432-3F1C090C297D}"/>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9F705F3-EF43-4313-87A3-0828780A2357}"/>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4DD076A-E3D0-4E4E-BAD6-8C7B4CE97411}"/>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E72686D-5840-480E-A232-A1C515E997E1}"/>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485B999-7A8A-4C4A-91E3-56162915D113}"/>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F9306F9-E754-454D-BC01-E574DBD40482}"/>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8F32835-F597-48D3-9E4C-8153ECECCD92}"/>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9DF8443-0538-4006-B749-64FCEDA61A53}"/>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B09F4AE-2EE2-40E0-819B-19EB1CDB35C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6251E249-1A4E-4356-B913-6BD568543FC2}"/>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09B2F933-63C7-4884-80CD-2EA1C1B5C4A4}"/>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13 · CARTERAS</a:t>
            </a:r>
          </a:p>
        </p:txBody>
      </p:sp>
      <p:sp>
        <p:nvSpPr>
          <p:cNvPr id="31" name="">
            <a:extLst xmlns:a="http://schemas.openxmlformats.org/drawingml/2006/main">
              <a:ext uri="{FF2B5EF4-FFF2-40B4-BE49-F238E27FC236}">
                <a16:creationId xmlns:a16="http://schemas.microsoft.com/office/drawing/2014/main" id="{D6EB029E-EB9A-484E-8DEB-00B493CCC8F5}"/>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Las carteras directivas distribuyen conduccion y seguimiento por area.</a:t>
            </a:r>
          </a:p>
        </p:txBody>
      </p:sp>
      <p:sp>
        <p:nvSpPr>
          <p:cNvPr id="32" name="">
            <a:extLst xmlns:a="http://schemas.openxmlformats.org/drawingml/2006/main">
              <a:ext uri="{FF2B5EF4-FFF2-40B4-BE49-F238E27FC236}">
                <a16:creationId xmlns:a16="http://schemas.microsoft.com/office/drawing/2014/main" id="{4CEF9B50-4FCF-4624-BBD5-C2254122CFD1}"/>
              </a:ext>
            </a:extLst>
          </p:cNvPr>
          <p:cNvSpPr>
            <a:spLocks xmlns:a="http://schemas.openxmlformats.org/drawingml/2006/main" noGrp="1"/>
          </p:cNvSpPr>
          <p:nvPr/>
        </p:nvSpPr>
        <p:spPr>
          <a:xfrm xmlns:a="http://schemas.openxmlformats.org/drawingml/2006/main">
            <a:off x="514350" y="1962150"/>
            <a:ext cx="4476750" cy="13716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645080D4-AFBA-48FF-AB9A-BF6682F88FF3}"/>
              </a:ext>
            </a:extLst>
          </p:cNvPr>
          <p:cNvSpPr>
            <a:spLocks xmlns:a="http://schemas.openxmlformats.org/drawingml/2006/main" noGrp="1"/>
          </p:cNvSpPr>
          <p:nvPr/>
        </p:nvSpPr>
        <p:spPr>
          <a:xfrm xmlns:a="http://schemas.openxmlformats.org/drawingml/2006/main">
            <a:off x="723900" y="2114550"/>
            <a:ext cx="4057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El directorio no debe organizarse solo por cargos formales, sino tambien por carteras estrategicas que permitan distribuir conduccion, responsabilidad y seguimiento por areas.</a:t>
            </a:r>
          </a:p>
        </p:txBody>
      </p:sp>
      <p:sp>
        <p:nvSpPr>
          <p:cNvPr id="34" name="">
            <a:extLst xmlns:a="http://schemas.openxmlformats.org/drawingml/2006/main">
              <a:ext uri="{FF2B5EF4-FFF2-40B4-BE49-F238E27FC236}">
                <a16:creationId xmlns:a16="http://schemas.microsoft.com/office/drawing/2014/main" id="{9EB3B432-4158-4E57-892E-C7DCF5159D28}"/>
              </a:ext>
            </a:extLst>
          </p:cNvPr>
          <p:cNvSpPr>
            <a:spLocks xmlns:a="http://schemas.openxmlformats.org/drawingml/2006/main" noGrp="1"/>
          </p:cNvSpPr>
          <p:nvPr/>
        </p:nvSpPr>
        <p:spPr>
          <a:xfrm xmlns:a="http://schemas.openxmlformats.org/drawingml/2006/main">
            <a:off x="5524500" y="1790700"/>
            <a:ext cx="19558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15356AFE-AFF0-458C-996E-48FEB31045E2}"/>
              </a:ext>
            </a:extLst>
          </p:cNvPr>
          <p:cNvSpPr>
            <a:spLocks xmlns:a="http://schemas.openxmlformats.org/drawingml/2006/main" noGrp="1"/>
          </p:cNvSpPr>
          <p:nvPr/>
        </p:nvSpPr>
        <p:spPr>
          <a:xfrm xmlns:a="http://schemas.openxmlformats.org/drawingml/2006/main">
            <a:off x="5619750" y="1857375"/>
            <a:ext cx="1765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Director/a</a:t>
            </a:r>
          </a:p>
        </p:txBody>
      </p:sp>
      <p:sp>
        <p:nvSpPr>
          <p:cNvPr id="36" name="">
            <a:extLst xmlns:a="http://schemas.openxmlformats.org/drawingml/2006/main">
              <a:ext uri="{FF2B5EF4-FFF2-40B4-BE49-F238E27FC236}">
                <a16:creationId xmlns:a16="http://schemas.microsoft.com/office/drawing/2014/main" id="{55485435-41E0-41C6-AA54-869872322F18}"/>
              </a:ext>
            </a:extLst>
          </p:cNvPr>
          <p:cNvSpPr>
            <a:spLocks xmlns:a="http://schemas.openxmlformats.org/drawingml/2006/main" noGrp="1"/>
          </p:cNvSpPr>
          <p:nvPr/>
        </p:nvSpPr>
        <p:spPr>
          <a:xfrm xmlns:a="http://schemas.openxmlformats.org/drawingml/2006/main">
            <a:off x="7480300" y="1790700"/>
            <a:ext cx="19558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7" name="">
            <a:extLst xmlns:a="http://schemas.openxmlformats.org/drawingml/2006/main">
              <a:ext uri="{FF2B5EF4-FFF2-40B4-BE49-F238E27FC236}">
                <a16:creationId xmlns:a16="http://schemas.microsoft.com/office/drawing/2014/main" id="{8302C637-DDA6-4029-B3F7-42C10FF80994}"/>
              </a:ext>
            </a:extLst>
          </p:cNvPr>
          <p:cNvSpPr>
            <a:spLocks xmlns:a="http://schemas.openxmlformats.org/drawingml/2006/main" noGrp="1"/>
          </p:cNvSpPr>
          <p:nvPr/>
        </p:nvSpPr>
        <p:spPr>
          <a:xfrm xmlns:a="http://schemas.openxmlformats.org/drawingml/2006/main">
            <a:off x="7575550" y="1857375"/>
            <a:ext cx="1765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Cartera Directiva Estrategica</a:t>
            </a:r>
          </a:p>
        </p:txBody>
      </p:sp>
      <p:sp>
        <p:nvSpPr>
          <p:cNvPr id="38" name="">
            <a:extLst xmlns:a="http://schemas.openxmlformats.org/drawingml/2006/main">
              <a:ext uri="{FF2B5EF4-FFF2-40B4-BE49-F238E27FC236}">
                <a16:creationId xmlns:a16="http://schemas.microsoft.com/office/drawing/2014/main" id="{5E89AB04-0415-47CB-AE87-6B28327ACC0B}"/>
              </a:ext>
            </a:extLst>
          </p:cNvPr>
          <p:cNvSpPr>
            <a:spLocks xmlns:a="http://schemas.openxmlformats.org/drawingml/2006/main" noGrp="1"/>
          </p:cNvSpPr>
          <p:nvPr/>
        </p:nvSpPr>
        <p:spPr>
          <a:xfrm xmlns:a="http://schemas.openxmlformats.org/drawingml/2006/main">
            <a:off x="9436100" y="1790700"/>
            <a:ext cx="19558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9" name="">
            <a:extLst xmlns:a="http://schemas.openxmlformats.org/drawingml/2006/main">
              <a:ext uri="{FF2B5EF4-FFF2-40B4-BE49-F238E27FC236}">
                <a16:creationId xmlns:a16="http://schemas.microsoft.com/office/drawing/2014/main" id="{BE0709BF-A0AC-4713-AC0C-BEDAFB9B3056}"/>
              </a:ext>
            </a:extLst>
          </p:cNvPr>
          <p:cNvSpPr>
            <a:spLocks xmlns:a="http://schemas.openxmlformats.org/drawingml/2006/main" noGrp="1"/>
          </p:cNvSpPr>
          <p:nvPr/>
        </p:nvSpPr>
        <p:spPr>
          <a:xfrm xmlns:a="http://schemas.openxmlformats.org/drawingml/2006/main">
            <a:off x="9531350" y="1857375"/>
            <a:ext cx="1765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Foco</a:t>
            </a:r>
          </a:p>
        </p:txBody>
      </p:sp>
      <p:sp>
        <p:nvSpPr>
          <p:cNvPr id="40" name="">
            <a:extLst xmlns:a="http://schemas.openxmlformats.org/drawingml/2006/main">
              <a:ext uri="{FF2B5EF4-FFF2-40B4-BE49-F238E27FC236}">
                <a16:creationId xmlns:a16="http://schemas.microsoft.com/office/drawing/2014/main" id="{16564738-4E73-428B-9E50-2535B932AAC7}"/>
              </a:ext>
            </a:extLst>
          </p:cNvPr>
          <p:cNvSpPr>
            <a:spLocks xmlns:a="http://schemas.openxmlformats.org/drawingml/2006/main" noGrp="1"/>
          </p:cNvSpPr>
          <p:nvPr/>
        </p:nvSpPr>
        <p:spPr>
          <a:xfrm xmlns:a="http://schemas.openxmlformats.org/drawingml/2006/main">
            <a:off x="5524500" y="2190750"/>
            <a:ext cx="195580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1" name="">
            <a:extLst xmlns:a="http://schemas.openxmlformats.org/drawingml/2006/main">
              <a:ext uri="{FF2B5EF4-FFF2-40B4-BE49-F238E27FC236}">
                <a16:creationId xmlns:a16="http://schemas.microsoft.com/office/drawing/2014/main" id="{D9978B0D-A174-494A-A84B-09CA507545C1}"/>
              </a:ext>
            </a:extLst>
          </p:cNvPr>
          <p:cNvSpPr>
            <a:spLocks xmlns:a="http://schemas.openxmlformats.org/drawingml/2006/main" noGrp="1"/>
          </p:cNvSpPr>
          <p:nvPr/>
        </p:nvSpPr>
        <p:spPr>
          <a:xfrm xmlns:a="http://schemas.openxmlformats.org/drawingml/2006/main">
            <a:off x="5619750" y="22669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Teko Pamies</a:t>
            </a:r>
          </a:p>
        </p:txBody>
      </p:sp>
      <p:sp>
        <p:nvSpPr>
          <p:cNvPr id="42" name="">
            <a:extLst xmlns:a="http://schemas.openxmlformats.org/drawingml/2006/main">
              <a:ext uri="{FF2B5EF4-FFF2-40B4-BE49-F238E27FC236}">
                <a16:creationId xmlns:a16="http://schemas.microsoft.com/office/drawing/2014/main" id="{8CDD493A-6036-44BA-A009-1BCD679E7CFB}"/>
              </a:ext>
            </a:extLst>
          </p:cNvPr>
          <p:cNvSpPr>
            <a:spLocks xmlns:a="http://schemas.openxmlformats.org/drawingml/2006/main" noGrp="1"/>
          </p:cNvSpPr>
          <p:nvPr/>
        </p:nvSpPr>
        <p:spPr>
          <a:xfrm xmlns:a="http://schemas.openxmlformats.org/drawingml/2006/main">
            <a:off x="7480300" y="2190750"/>
            <a:ext cx="195580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3" name="">
            <a:extLst xmlns:a="http://schemas.openxmlformats.org/drawingml/2006/main">
              <a:ext uri="{FF2B5EF4-FFF2-40B4-BE49-F238E27FC236}">
                <a16:creationId xmlns:a16="http://schemas.microsoft.com/office/drawing/2014/main" id="{98650B84-769D-4190-9B69-245440F59563}"/>
              </a:ext>
            </a:extLst>
          </p:cNvPr>
          <p:cNvSpPr>
            <a:spLocks xmlns:a="http://schemas.openxmlformats.org/drawingml/2006/main" noGrp="1"/>
          </p:cNvSpPr>
          <p:nvPr/>
        </p:nvSpPr>
        <p:spPr>
          <a:xfrm xmlns:a="http://schemas.openxmlformats.org/drawingml/2006/main">
            <a:off x="7575550" y="22669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Direccion de Comunidad, Escena y Vinculacion Artistica</a:t>
            </a:r>
          </a:p>
        </p:txBody>
      </p:sp>
      <p:sp>
        <p:nvSpPr>
          <p:cNvPr id="44" name="">
            <a:extLst xmlns:a="http://schemas.openxmlformats.org/drawingml/2006/main">
              <a:ext uri="{FF2B5EF4-FFF2-40B4-BE49-F238E27FC236}">
                <a16:creationId xmlns:a16="http://schemas.microsoft.com/office/drawing/2014/main" id="{F309D775-D798-4F52-9588-EAC4298AA36D}"/>
              </a:ext>
            </a:extLst>
          </p:cNvPr>
          <p:cNvSpPr>
            <a:spLocks xmlns:a="http://schemas.openxmlformats.org/drawingml/2006/main" noGrp="1"/>
          </p:cNvSpPr>
          <p:nvPr/>
        </p:nvSpPr>
        <p:spPr>
          <a:xfrm xmlns:a="http://schemas.openxmlformats.org/drawingml/2006/main">
            <a:off x="9436100" y="2190750"/>
            <a:ext cx="195580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5" name="">
            <a:extLst xmlns:a="http://schemas.openxmlformats.org/drawingml/2006/main">
              <a:ext uri="{FF2B5EF4-FFF2-40B4-BE49-F238E27FC236}">
                <a16:creationId xmlns:a16="http://schemas.microsoft.com/office/drawing/2014/main" id="{B90A8741-A6E0-4114-BBC0-973FF259EFBD}"/>
              </a:ext>
            </a:extLst>
          </p:cNvPr>
          <p:cNvSpPr>
            <a:spLocks xmlns:a="http://schemas.openxmlformats.org/drawingml/2006/main" noGrp="1"/>
          </p:cNvSpPr>
          <p:nvPr/>
        </p:nvSpPr>
        <p:spPr>
          <a:xfrm xmlns:a="http://schemas.openxmlformats.org/drawingml/2006/main">
            <a:off x="9531350" y="22669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Socios/as, escena, artistas, redes territoriales y participacion gremial.</a:t>
            </a:r>
          </a:p>
        </p:txBody>
      </p:sp>
      <p:sp>
        <p:nvSpPr>
          <p:cNvPr id="46" name="">
            <a:extLst xmlns:a="http://schemas.openxmlformats.org/drawingml/2006/main">
              <a:ext uri="{FF2B5EF4-FFF2-40B4-BE49-F238E27FC236}">
                <a16:creationId xmlns:a16="http://schemas.microsoft.com/office/drawing/2014/main" id="{CD169C75-A868-49A8-8B3C-6D0ABFD9C20B}"/>
              </a:ext>
            </a:extLst>
          </p:cNvPr>
          <p:cNvSpPr>
            <a:spLocks xmlns:a="http://schemas.openxmlformats.org/drawingml/2006/main" noGrp="1"/>
          </p:cNvSpPr>
          <p:nvPr/>
        </p:nvSpPr>
        <p:spPr>
          <a:xfrm xmlns:a="http://schemas.openxmlformats.org/drawingml/2006/main">
            <a:off x="5524500" y="2876550"/>
            <a:ext cx="195580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7" name="">
            <a:extLst xmlns:a="http://schemas.openxmlformats.org/drawingml/2006/main">
              <a:ext uri="{FF2B5EF4-FFF2-40B4-BE49-F238E27FC236}">
                <a16:creationId xmlns:a16="http://schemas.microsoft.com/office/drawing/2014/main" id="{9D5A6C81-2136-43E0-B5C0-6772322FABE1}"/>
              </a:ext>
            </a:extLst>
          </p:cNvPr>
          <p:cNvSpPr>
            <a:spLocks xmlns:a="http://schemas.openxmlformats.org/drawingml/2006/main" noGrp="1"/>
          </p:cNvSpPr>
          <p:nvPr/>
        </p:nvSpPr>
        <p:spPr>
          <a:xfrm xmlns:a="http://schemas.openxmlformats.org/drawingml/2006/main">
            <a:off x="5619750" y="29527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Josefa Mujica</a:t>
            </a:r>
          </a:p>
        </p:txBody>
      </p:sp>
      <p:sp>
        <p:nvSpPr>
          <p:cNvPr id="48" name="">
            <a:extLst xmlns:a="http://schemas.openxmlformats.org/drawingml/2006/main">
              <a:ext uri="{FF2B5EF4-FFF2-40B4-BE49-F238E27FC236}">
                <a16:creationId xmlns:a16="http://schemas.microsoft.com/office/drawing/2014/main" id="{EDF30FB8-EBD2-4270-AA9A-EFBFBBA3C2E8}"/>
              </a:ext>
            </a:extLst>
          </p:cNvPr>
          <p:cNvSpPr>
            <a:spLocks xmlns:a="http://schemas.openxmlformats.org/drawingml/2006/main" noGrp="1"/>
          </p:cNvSpPr>
          <p:nvPr/>
        </p:nvSpPr>
        <p:spPr>
          <a:xfrm xmlns:a="http://schemas.openxmlformats.org/drawingml/2006/main">
            <a:off x="7480300" y="2876550"/>
            <a:ext cx="195580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9" name="">
            <a:extLst xmlns:a="http://schemas.openxmlformats.org/drawingml/2006/main">
              <a:ext uri="{FF2B5EF4-FFF2-40B4-BE49-F238E27FC236}">
                <a16:creationId xmlns:a16="http://schemas.microsoft.com/office/drawing/2014/main" id="{532470B4-556F-4B81-8048-A6775A57545C}"/>
              </a:ext>
            </a:extLst>
          </p:cNvPr>
          <p:cNvSpPr>
            <a:spLocks xmlns:a="http://schemas.openxmlformats.org/drawingml/2006/main" noGrp="1"/>
          </p:cNvSpPr>
          <p:nvPr/>
        </p:nvSpPr>
        <p:spPr>
          <a:xfrm xmlns:a="http://schemas.openxmlformats.org/drawingml/2006/main">
            <a:off x="7575550" y="29527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Direccion de Cultura, Programacion y Perspectiva Sectorial</a:t>
            </a:r>
          </a:p>
        </p:txBody>
      </p:sp>
      <p:sp>
        <p:nvSpPr>
          <p:cNvPr id="50" name="">
            <a:extLst xmlns:a="http://schemas.openxmlformats.org/drawingml/2006/main">
              <a:ext uri="{FF2B5EF4-FFF2-40B4-BE49-F238E27FC236}">
                <a16:creationId xmlns:a16="http://schemas.microsoft.com/office/drawing/2014/main" id="{41AFCA71-AD6E-4788-9E32-39AC17F4A647}"/>
              </a:ext>
            </a:extLst>
          </p:cNvPr>
          <p:cNvSpPr>
            <a:spLocks xmlns:a="http://schemas.openxmlformats.org/drawingml/2006/main" noGrp="1"/>
          </p:cNvSpPr>
          <p:nvPr/>
        </p:nvSpPr>
        <p:spPr>
          <a:xfrm xmlns:a="http://schemas.openxmlformats.org/drawingml/2006/main">
            <a:off x="9436100" y="2876550"/>
            <a:ext cx="195580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1" name="">
            <a:extLst xmlns:a="http://schemas.openxmlformats.org/drawingml/2006/main">
              <a:ext uri="{FF2B5EF4-FFF2-40B4-BE49-F238E27FC236}">
                <a16:creationId xmlns:a16="http://schemas.microsoft.com/office/drawing/2014/main" id="{83CF32CB-4A3F-443B-A600-C876F331D56F}"/>
              </a:ext>
            </a:extLst>
          </p:cNvPr>
          <p:cNvSpPr>
            <a:spLocks xmlns:a="http://schemas.openxmlformats.org/drawingml/2006/main" noGrp="1"/>
          </p:cNvSpPr>
          <p:nvPr/>
        </p:nvSpPr>
        <p:spPr>
          <a:xfrm xmlns:a="http://schemas.openxmlformats.org/drawingml/2006/main">
            <a:off x="9531350" y="29527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Agenda cultural, contenidos, programacion, criterios curatoriales y lectura…</a:t>
            </a:r>
          </a:p>
        </p:txBody>
      </p:sp>
      <p:sp>
        <p:nvSpPr>
          <p:cNvPr id="52" name="">
            <a:extLst xmlns:a="http://schemas.openxmlformats.org/drawingml/2006/main">
              <a:ext uri="{FF2B5EF4-FFF2-40B4-BE49-F238E27FC236}">
                <a16:creationId xmlns:a16="http://schemas.microsoft.com/office/drawing/2014/main" id="{2CACF77C-B270-4780-870B-363FF4D750D6}"/>
              </a:ext>
            </a:extLst>
          </p:cNvPr>
          <p:cNvSpPr>
            <a:spLocks xmlns:a="http://schemas.openxmlformats.org/drawingml/2006/main" noGrp="1"/>
          </p:cNvSpPr>
          <p:nvPr/>
        </p:nvSpPr>
        <p:spPr>
          <a:xfrm xmlns:a="http://schemas.openxmlformats.org/drawingml/2006/main">
            <a:off x="5524500" y="3562350"/>
            <a:ext cx="195580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3" name="">
            <a:extLst xmlns:a="http://schemas.openxmlformats.org/drawingml/2006/main">
              <a:ext uri="{FF2B5EF4-FFF2-40B4-BE49-F238E27FC236}">
                <a16:creationId xmlns:a16="http://schemas.microsoft.com/office/drawing/2014/main" id="{90FEE468-C70D-48F0-BBB2-AADC305CD6A3}"/>
              </a:ext>
            </a:extLst>
          </p:cNvPr>
          <p:cNvSpPr>
            <a:spLocks xmlns:a="http://schemas.openxmlformats.org/drawingml/2006/main" noGrp="1"/>
          </p:cNvSpPr>
          <p:nvPr/>
        </p:nvSpPr>
        <p:spPr>
          <a:xfrm xmlns:a="http://schemas.openxmlformats.org/drawingml/2006/main">
            <a:off x="5619750" y="36385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Javier Gonzalez</a:t>
            </a:r>
          </a:p>
        </p:txBody>
      </p:sp>
      <p:sp>
        <p:nvSpPr>
          <p:cNvPr id="54" name="">
            <a:extLst xmlns:a="http://schemas.openxmlformats.org/drawingml/2006/main">
              <a:ext uri="{FF2B5EF4-FFF2-40B4-BE49-F238E27FC236}">
                <a16:creationId xmlns:a16="http://schemas.microsoft.com/office/drawing/2014/main" id="{25169B73-9510-4C5B-9C80-86DA69169452}"/>
              </a:ext>
            </a:extLst>
          </p:cNvPr>
          <p:cNvSpPr>
            <a:spLocks xmlns:a="http://schemas.openxmlformats.org/drawingml/2006/main" noGrp="1"/>
          </p:cNvSpPr>
          <p:nvPr/>
        </p:nvSpPr>
        <p:spPr>
          <a:xfrm xmlns:a="http://schemas.openxmlformats.org/drawingml/2006/main">
            <a:off x="7480300" y="3562350"/>
            <a:ext cx="195580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5" name="">
            <a:extLst xmlns:a="http://schemas.openxmlformats.org/drawingml/2006/main">
              <a:ext uri="{FF2B5EF4-FFF2-40B4-BE49-F238E27FC236}">
                <a16:creationId xmlns:a16="http://schemas.microsoft.com/office/drawing/2014/main" id="{5DC6D259-9698-4100-A20C-7EDE3EB06E87}"/>
              </a:ext>
            </a:extLst>
          </p:cNvPr>
          <p:cNvSpPr>
            <a:spLocks xmlns:a="http://schemas.openxmlformats.org/drawingml/2006/main" noGrp="1"/>
          </p:cNvSpPr>
          <p:nvPr/>
        </p:nvSpPr>
        <p:spPr>
          <a:xfrm xmlns:a="http://schemas.openxmlformats.org/drawingml/2006/main">
            <a:off x="7575550" y="36385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Direccion de Innovacion y Comunicacion</a:t>
            </a:r>
          </a:p>
        </p:txBody>
      </p:sp>
      <p:sp>
        <p:nvSpPr>
          <p:cNvPr id="56" name="">
            <a:extLst xmlns:a="http://schemas.openxmlformats.org/drawingml/2006/main">
              <a:ext uri="{FF2B5EF4-FFF2-40B4-BE49-F238E27FC236}">
                <a16:creationId xmlns:a16="http://schemas.microsoft.com/office/drawing/2014/main" id="{6BC6AE35-A9E6-433E-9F54-4F9E77053220}"/>
              </a:ext>
            </a:extLst>
          </p:cNvPr>
          <p:cNvSpPr>
            <a:spLocks xmlns:a="http://schemas.openxmlformats.org/drawingml/2006/main" noGrp="1"/>
          </p:cNvSpPr>
          <p:nvPr/>
        </p:nvSpPr>
        <p:spPr>
          <a:xfrm xmlns:a="http://schemas.openxmlformats.org/drawingml/2006/main">
            <a:off x="9436100" y="3562350"/>
            <a:ext cx="195580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7" name="">
            <a:extLst xmlns:a="http://schemas.openxmlformats.org/drawingml/2006/main">
              <a:ext uri="{FF2B5EF4-FFF2-40B4-BE49-F238E27FC236}">
                <a16:creationId xmlns:a16="http://schemas.microsoft.com/office/drawing/2014/main" id="{F2376AD4-A1F8-46D0-942C-A2308227BB39}"/>
              </a:ext>
            </a:extLst>
          </p:cNvPr>
          <p:cNvSpPr>
            <a:spLocks xmlns:a="http://schemas.openxmlformats.org/drawingml/2006/main" noGrp="1"/>
          </p:cNvSpPr>
          <p:nvPr/>
        </p:nvSpPr>
        <p:spPr>
          <a:xfrm xmlns:a="http://schemas.openxmlformats.org/drawingml/2006/main">
            <a:off x="9531350" y="3638550"/>
            <a:ext cx="1765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Estrategia comunicacional, herramientas digitales, IME Conecta, innovacion …</a:t>
            </a:r>
          </a:p>
        </p:txBody>
      </p:sp>
      <p:sp>
        <p:nvSpPr>
          <p:cNvPr id="58" name="">
            <a:extLst xmlns:a="http://schemas.openxmlformats.org/drawingml/2006/main">
              <a:ext uri="{FF2B5EF4-FFF2-40B4-BE49-F238E27FC236}">
                <a16:creationId xmlns:a16="http://schemas.microsoft.com/office/drawing/2014/main" id="{DF2B1309-515F-4E17-9348-BD228874B438}"/>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504C32BF-30D6-4027-8AD8-DE2F4C14F620}"/>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60" name="">
            <a:extLst xmlns:a="http://schemas.openxmlformats.org/drawingml/2006/main">
              <a:ext uri="{FF2B5EF4-FFF2-40B4-BE49-F238E27FC236}">
                <a16:creationId xmlns:a16="http://schemas.microsoft.com/office/drawing/2014/main" id="{AE6CB5FB-E34F-4690-9B1B-250AFF211B7B}"/>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13 / 20</a:t>
            </a:r>
          </a:p>
        </p:txBody>
      </p:sp>
    </p:spTree>
    <p:extLst>
      <p:ext uri="{BB962C8B-B14F-4D97-AF65-F5344CB8AC3E}">
        <p14:creationId xmlns:p14="http://schemas.microsoft.com/office/powerpoint/2010/main" val="185903114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465525-4F3F-496E-9AA5-9F92A83BED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8BE7764-39A4-4118-9411-1B09E561869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D4DD6A5-6D55-4EFA-A029-EBC526AFAF0D}"/>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D23819E-F5DD-409A-BC91-FC8FEFB5DD1D}"/>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FFF1456-5D2A-4782-89C8-38B317F997F0}"/>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4B5B49C-4330-432B-869F-F84D1572B892}"/>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3674485-7F4D-40FE-87D9-7B8F76D0CC5D}"/>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B413628-A175-4D18-8763-DDFD5D7EF1E2}"/>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A412C06-021A-435D-B8F1-E243CCB0DC81}"/>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B762885-725E-4DD8-878D-6E168D5EF99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6573CEE-EF66-450B-9383-911E10DE184D}"/>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3ACF402-596B-4DA5-AF64-366B436D6A20}"/>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BD6221E-F633-4FBC-B0B5-69277E14AEC0}"/>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5349F65-8635-4A30-81CF-B6FA60A0EFC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5AEDC9E-934D-4FDB-8732-3DB4E97E8425}"/>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79EA1E0-10C8-4C2E-B878-510344BCB9E8}"/>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6DBE80C-F18D-406F-93DC-0784382B26FD}"/>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21FC55A-FF1B-401B-B8E6-DBEE431C820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2A57142-E1DC-464C-A917-BE65521688FF}"/>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0901ECE-FFA4-46CD-9A81-CF086A266327}"/>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43911DD-3978-4E33-9F53-D0932A04AEF7}"/>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282674A-595E-49ED-B2C5-5A1636312387}"/>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A33E760-FE39-4B0F-84E8-851A449A1B7A}"/>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4D0EDA8-4E34-4ED3-A54A-34B2641AE591}"/>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97109C5C-5467-4BA7-9128-C38CF08600FB}"/>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E3D13F6-D8FF-423F-AC2D-EFA7866BFF2F}"/>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8A96535-87FE-4A97-AD76-4E55F4AF5AC2}"/>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2C309F5-D4BD-4626-AFD1-152383614C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549499A8-0DFC-4064-ACAD-300D3AA7EFCD}"/>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4054D6FA-0905-4022-8BDF-CBE4142E24A8}"/>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14 · SEPARACION DIRECTIVA / OPERATIVA</a:t>
            </a:r>
          </a:p>
        </p:txBody>
      </p:sp>
      <p:sp>
        <p:nvSpPr>
          <p:cNvPr id="31" name="">
            <a:extLst xmlns:a="http://schemas.openxmlformats.org/drawingml/2006/main">
              <a:ext uri="{FF2B5EF4-FFF2-40B4-BE49-F238E27FC236}">
                <a16:creationId xmlns:a16="http://schemas.microsoft.com/office/drawing/2014/main" id="{3322CD99-B20B-43BE-B7A6-9563833A3395}"/>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Profesionalizar al sector exige distinguir trabajo directivo y operativo.</a:t>
            </a:r>
          </a:p>
        </p:txBody>
      </p:sp>
      <p:sp>
        <p:nvSpPr>
          <p:cNvPr id="32" name="">
            <a:extLst xmlns:a="http://schemas.openxmlformats.org/drawingml/2006/main">
              <a:ext uri="{FF2B5EF4-FFF2-40B4-BE49-F238E27FC236}">
                <a16:creationId xmlns:a16="http://schemas.microsoft.com/office/drawing/2014/main" id="{D9C80836-5AC1-4D3D-AA2D-90ECB4EB4BD2}"/>
              </a:ext>
            </a:extLst>
          </p:cNvPr>
          <p:cNvSpPr>
            <a:spLocks xmlns:a="http://schemas.openxmlformats.org/drawingml/2006/main" noGrp="1"/>
          </p:cNvSpPr>
          <p:nvPr/>
        </p:nvSpPr>
        <p:spPr>
          <a:xfrm xmlns:a="http://schemas.openxmlformats.org/drawingml/2006/main">
            <a:off x="514350" y="1962150"/>
            <a:ext cx="4476750" cy="13716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42B736CA-59CB-43DF-83E0-52C8BC1B0B7B}"/>
              </a:ext>
            </a:extLst>
          </p:cNvPr>
          <p:cNvSpPr>
            <a:spLocks xmlns:a="http://schemas.openxmlformats.org/drawingml/2006/main" noGrp="1"/>
          </p:cNvSpPr>
          <p:nvPr/>
        </p:nvSpPr>
        <p:spPr>
          <a:xfrm xmlns:a="http://schemas.openxmlformats.org/drawingml/2006/main">
            <a:off x="723900" y="2114550"/>
            <a:ext cx="4057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IME debe distinguir claramente entre el trabajo directivo-gremial y el trabajo operativo-productivo.</a:t>
            </a:r>
          </a:p>
        </p:txBody>
      </p:sp>
      <p:sp>
        <p:nvSpPr>
          <p:cNvPr id="34" name="">
            <a:extLst xmlns:a="http://schemas.openxmlformats.org/drawingml/2006/main">
              <a:ext uri="{FF2B5EF4-FFF2-40B4-BE49-F238E27FC236}">
                <a16:creationId xmlns:a16="http://schemas.microsoft.com/office/drawing/2014/main" id="{5E150AEA-4CAB-47B4-BD4D-01F2DA54CFA8}"/>
              </a:ext>
            </a:extLst>
          </p:cNvPr>
          <p:cNvSpPr>
            <a:spLocks xmlns:a="http://schemas.openxmlformats.org/drawingml/2006/main" noGrp="1"/>
          </p:cNvSpPr>
          <p:nvPr/>
        </p:nvSpPr>
        <p:spPr>
          <a:xfrm xmlns:a="http://schemas.openxmlformats.org/drawingml/2006/main">
            <a:off x="5524500" y="1790700"/>
            <a:ext cx="146685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4E538AEF-C2E6-4BC8-BB5D-49182395CA6C}"/>
              </a:ext>
            </a:extLst>
          </p:cNvPr>
          <p:cNvSpPr>
            <a:spLocks xmlns:a="http://schemas.openxmlformats.org/drawingml/2006/main" noGrp="1"/>
          </p:cNvSpPr>
          <p:nvPr/>
        </p:nvSpPr>
        <p:spPr>
          <a:xfrm xmlns:a="http://schemas.openxmlformats.org/drawingml/2006/main">
            <a:off x="5619750" y="185737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Capa</a:t>
            </a:r>
          </a:p>
        </p:txBody>
      </p:sp>
      <p:sp>
        <p:nvSpPr>
          <p:cNvPr id="36" name="">
            <a:extLst xmlns:a="http://schemas.openxmlformats.org/drawingml/2006/main">
              <a:ext uri="{FF2B5EF4-FFF2-40B4-BE49-F238E27FC236}">
                <a16:creationId xmlns:a16="http://schemas.microsoft.com/office/drawing/2014/main" id="{68E70DE2-7FD5-4731-913B-EDCE34FB6A22}"/>
              </a:ext>
            </a:extLst>
          </p:cNvPr>
          <p:cNvSpPr>
            <a:spLocks xmlns:a="http://schemas.openxmlformats.org/drawingml/2006/main" noGrp="1"/>
          </p:cNvSpPr>
          <p:nvPr/>
        </p:nvSpPr>
        <p:spPr>
          <a:xfrm xmlns:a="http://schemas.openxmlformats.org/drawingml/2006/main">
            <a:off x="6991350" y="1790700"/>
            <a:ext cx="146685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7" name="">
            <a:extLst xmlns:a="http://schemas.openxmlformats.org/drawingml/2006/main">
              <a:ext uri="{FF2B5EF4-FFF2-40B4-BE49-F238E27FC236}">
                <a16:creationId xmlns:a16="http://schemas.microsoft.com/office/drawing/2014/main" id="{F4463171-CDC4-4B99-88E6-DAA92D179911}"/>
              </a:ext>
            </a:extLst>
          </p:cNvPr>
          <p:cNvSpPr>
            <a:spLocks xmlns:a="http://schemas.openxmlformats.org/drawingml/2006/main" noGrp="1"/>
          </p:cNvSpPr>
          <p:nvPr/>
        </p:nvSpPr>
        <p:spPr>
          <a:xfrm xmlns:a="http://schemas.openxmlformats.org/drawingml/2006/main">
            <a:off x="7086600" y="185737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Tipo de trabajo</a:t>
            </a:r>
          </a:p>
        </p:txBody>
      </p:sp>
      <p:sp>
        <p:nvSpPr>
          <p:cNvPr id="38" name="">
            <a:extLst xmlns:a="http://schemas.openxmlformats.org/drawingml/2006/main">
              <a:ext uri="{FF2B5EF4-FFF2-40B4-BE49-F238E27FC236}">
                <a16:creationId xmlns:a16="http://schemas.microsoft.com/office/drawing/2014/main" id="{5035A225-E5E2-44A5-B83B-A3B4E1188105}"/>
              </a:ext>
            </a:extLst>
          </p:cNvPr>
          <p:cNvSpPr>
            <a:spLocks xmlns:a="http://schemas.openxmlformats.org/drawingml/2006/main" noGrp="1"/>
          </p:cNvSpPr>
          <p:nvPr/>
        </p:nvSpPr>
        <p:spPr>
          <a:xfrm xmlns:a="http://schemas.openxmlformats.org/drawingml/2006/main">
            <a:off x="8458200" y="1790700"/>
            <a:ext cx="146685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9" name="">
            <a:extLst xmlns:a="http://schemas.openxmlformats.org/drawingml/2006/main">
              <a:ext uri="{FF2B5EF4-FFF2-40B4-BE49-F238E27FC236}">
                <a16:creationId xmlns:a16="http://schemas.microsoft.com/office/drawing/2014/main" id="{21046040-7DFD-4B1A-81D9-E9F690539F04}"/>
              </a:ext>
            </a:extLst>
          </p:cNvPr>
          <p:cNvSpPr>
            <a:spLocks xmlns:a="http://schemas.openxmlformats.org/drawingml/2006/main" noGrp="1"/>
          </p:cNvSpPr>
          <p:nvPr/>
        </p:nvSpPr>
        <p:spPr>
          <a:xfrm xmlns:a="http://schemas.openxmlformats.org/drawingml/2006/main">
            <a:off x="8553450" y="185737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Ejemplos</a:t>
            </a:r>
          </a:p>
        </p:txBody>
      </p:sp>
      <p:sp>
        <p:nvSpPr>
          <p:cNvPr id="40" name="">
            <a:extLst xmlns:a="http://schemas.openxmlformats.org/drawingml/2006/main">
              <a:ext uri="{FF2B5EF4-FFF2-40B4-BE49-F238E27FC236}">
                <a16:creationId xmlns:a16="http://schemas.microsoft.com/office/drawing/2014/main" id="{50628EDD-C4BE-4F0F-B712-74CC84DBE214}"/>
              </a:ext>
            </a:extLst>
          </p:cNvPr>
          <p:cNvSpPr>
            <a:spLocks xmlns:a="http://schemas.openxmlformats.org/drawingml/2006/main" noGrp="1"/>
          </p:cNvSpPr>
          <p:nvPr/>
        </p:nvSpPr>
        <p:spPr>
          <a:xfrm xmlns:a="http://schemas.openxmlformats.org/drawingml/2006/main">
            <a:off x="9925050" y="1790700"/>
            <a:ext cx="146685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41" name="">
            <a:extLst xmlns:a="http://schemas.openxmlformats.org/drawingml/2006/main">
              <a:ext uri="{FF2B5EF4-FFF2-40B4-BE49-F238E27FC236}">
                <a16:creationId xmlns:a16="http://schemas.microsoft.com/office/drawing/2014/main" id="{233DEA5A-2456-4916-A036-13D11A6B9618}"/>
              </a:ext>
            </a:extLst>
          </p:cNvPr>
          <p:cNvSpPr>
            <a:spLocks xmlns:a="http://schemas.openxmlformats.org/drawingml/2006/main" noGrp="1"/>
          </p:cNvSpPr>
          <p:nvPr/>
        </p:nvSpPr>
        <p:spPr>
          <a:xfrm xmlns:a="http://schemas.openxmlformats.org/drawingml/2006/main">
            <a:off x="10020300" y="185737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Condicion</a:t>
            </a:r>
          </a:p>
        </p:txBody>
      </p:sp>
      <p:sp>
        <p:nvSpPr>
          <p:cNvPr id="42" name="">
            <a:extLst xmlns:a="http://schemas.openxmlformats.org/drawingml/2006/main">
              <a:ext uri="{FF2B5EF4-FFF2-40B4-BE49-F238E27FC236}">
                <a16:creationId xmlns:a16="http://schemas.microsoft.com/office/drawing/2014/main" id="{68772134-6839-477A-891E-7A981BA74ED0}"/>
              </a:ext>
            </a:extLst>
          </p:cNvPr>
          <p:cNvSpPr>
            <a:spLocks xmlns:a="http://schemas.openxmlformats.org/drawingml/2006/main" noGrp="1"/>
          </p:cNvSpPr>
          <p:nvPr/>
        </p:nvSpPr>
        <p:spPr>
          <a:xfrm xmlns:a="http://schemas.openxmlformats.org/drawingml/2006/main">
            <a:off x="5524500" y="21907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3" name="">
            <a:extLst xmlns:a="http://schemas.openxmlformats.org/drawingml/2006/main">
              <a:ext uri="{FF2B5EF4-FFF2-40B4-BE49-F238E27FC236}">
                <a16:creationId xmlns:a16="http://schemas.microsoft.com/office/drawing/2014/main" id="{02F6ED09-7B90-45BB-BA62-DF3BF5958D50}"/>
              </a:ext>
            </a:extLst>
          </p:cNvPr>
          <p:cNvSpPr>
            <a:spLocks xmlns:a="http://schemas.openxmlformats.org/drawingml/2006/main" noGrp="1"/>
          </p:cNvSpPr>
          <p:nvPr/>
        </p:nvSpPr>
        <p:spPr>
          <a:xfrm xmlns:a="http://schemas.openxmlformats.org/drawingml/2006/main">
            <a:off x="5619750" y="22669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Directiva</a:t>
            </a:r>
          </a:p>
        </p:txBody>
      </p:sp>
      <p:sp>
        <p:nvSpPr>
          <p:cNvPr id="44" name="">
            <a:extLst xmlns:a="http://schemas.openxmlformats.org/drawingml/2006/main">
              <a:ext uri="{FF2B5EF4-FFF2-40B4-BE49-F238E27FC236}">
                <a16:creationId xmlns:a16="http://schemas.microsoft.com/office/drawing/2014/main" id="{BA0B9149-2FF2-4F7D-A2DC-E76BB17DFBBF}"/>
              </a:ext>
            </a:extLst>
          </p:cNvPr>
          <p:cNvSpPr>
            <a:spLocks xmlns:a="http://schemas.openxmlformats.org/drawingml/2006/main" noGrp="1"/>
          </p:cNvSpPr>
          <p:nvPr/>
        </p:nvSpPr>
        <p:spPr>
          <a:xfrm xmlns:a="http://schemas.openxmlformats.org/drawingml/2006/main">
            <a:off x="6991350" y="21907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5" name="">
            <a:extLst xmlns:a="http://schemas.openxmlformats.org/drawingml/2006/main">
              <a:ext uri="{FF2B5EF4-FFF2-40B4-BE49-F238E27FC236}">
                <a16:creationId xmlns:a16="http://schemas.microsoft.com/office/drawing/2014/main" id="{58A1F289-CE52-4C37-B14E-DB72C4CAC9CA}"/>
              </a:ext>
            </a:extLst>
          </p:cNvPr>
          <p:cNvSpPr>
            <a:spLocks xmlns:a="http://schemas.openxmlformats.org/drawingml/2006/main" noGrp="1"/>
          </p:cNvSpPr>
          <p:nvPr/>
        </p:nvSpPr>
        <p:spPr>
          <a:xfrm xmlns:a="http://schemas.openxmlformats.org/drawingml/2006/main">
            <a:off x="7086600" y="22669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Estrategico-gremial</a:t>
            </a:r>
          </a:p>
        </p:txBody>
      </p:sp>
      <p:sp>
        <p:nvSpPr>
          <p:cNvPr id="46" name="">
            <a:extLst xmlns:a="http://schemas.openxmlformats.org/drawingml/2006/main">
              <a:ext uri="{FF2B5EF4-FFF2-40B4-BE49-F238E27FC236}">
                <a16:creationId xmlns:a16="http://schemas.microsoft.com/office/drawing/2014/main" id="{8F9DDF50-38E6-49C6-9FA7-130D4CF29B43}"/>
              </a:ext>
            </a:extLst>
          </p:cNvPr>
          <p:cNvSpPr>
            <a:spLocks xmlns:a="http://schemas.openxmlformats.org/drawingml/2006/main" noGrp="1"/>
          </p:cNvSpPr>
          <p:nvPr/>
        </p:nvSpPr>
        <p:spPr>
          <a:xfrm xmlns:a="http://schemas.openxmlformats.org/drawingml/2006/main">
            <a:off x="8458200" y="21907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7" name="">
            <a:extLst xmlns:a="http://schemas.openxmlformats.org/drawingml/2006/main">
              <a:ext uri="{FF2B5EF4-FFF2-40B4-BE49-F238E27FC236}">
                <a16:creationId xmlns:a16="http://schemas.microsoft.com/office/drawing/2014/main" id="{123BEF3C-7F4D-4777-A97A-686DD195C868}"/>
              </a:ext>
            </a:extLst>
          </p:cNvPr>
          <p:cNvSpPr>
            <a:spLocks xmlns:a="http://schemas.openxmlformats.org/drawingml/2006/main" noGrp="1"/>
          </p:cNvSpPr>
          <p:nvPr/>
        </p:nvSpPr>
        <p:spPr>
          <a:xfrm xmlns:a="http://schemas.openxmlformats.org/drawingml/2006/main">
            <a:off x="8553450" y="22669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Reuniones, planificacion, representacion, decisiones institucionales</a:t>
            </a:r>
          </a:p>
        </p:txBody>
      </p:sp>
      <p:sp>
        <p:nvSpPr>
          <p:cNvPr id="48" name="">
            <a:extLst xmlns:a="http://schemas.openxmlformats.org/drawingml/2006/main">
              <a:ext uri="{FF2B5EF4-FFF2-40B4-BE49-F238E27FC236}">
                <a16:creationId xmlns:a16="http://schemas.microsoft.com/office/drawing/2014/main" id="{7B9D9562-48D7-48FC-A94C-1B80C3F3FFDD}"/>
              </a:ext>
            </a:extLst>
          </p:cNvPr>
          <p:cNvSpPr>
            <a:spLocks xmlns:a="http://schemas.openxmlformats.org/drawingml/2006/main" noGrp="1"/>
          </p:cNvSpPr>
          <p:nvPr/>
        </p:nvSpPr>
        <p:spPr>
          <a:xfrm xmlns:a="http://schemas.openxmlformats.org/drawingml/2006/main">
            <a:off x="9925050" y="21907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9" name="">
            <a:extLst xmlns:a="http://schemas.openxmlformats.org/drawingml/2006/main">
              <a:ext uri="{FF2B5EF4-FFF2-40B4-BE49-F238E27FC236}">
                <a16:creationId xmlns:a16="http://schemas.microsoft.com/office/drawing/2014/main" id="{51AB4B02-D953-4772-B8ED-660859BF65F6}"/>
              </a:ext>
            </a:extLst>
          </p:cNvPr>
          <p:cNvSpPr>
            <a:spLocks xmlns:a="http://schemas.openxmlformats.org/drawingml/2006/main" noGrp="1"/>
          </p:cNvSpPr>
          <p:nvPr/>
        </p:nvSpPr>
        <p:spPr>
          <a:xfrm xmlns:a="http://schemas.openxmlformats.org/drawingml/2006/main">
            <a:off x="10020300" y="22669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Ad honorem, propio del cargo directivo.</a:t>
            </a:r>
          </a:p>
        </p:txBody>
      </p:sp>
      <p:sp>
        <p:nvSpPr>
          <p:cNvPr id="50" name="">
            <a:extLst xmlns:a="http://schemas.openxmlformats.org/drawingml/2006/main">
              <a:ext uri="{FF2B5EF4-FFF2-40B4-BE49-F238E27FC236}">
                <a16:creationId xmlns:a16="http://schemas.microsoft.com/office/drawing/2014/main" id="{941191D9-EA6A-4C67-93BD-8561D0FCF05F}"/>
              </a:ext>
            </a:extLst>
          </p:cNvPr>
          <p:cNvSpPr>
            <a:spLocks xmlns:a="http://schemas.openxmlformats.org/drawingml/2006/main" noGrp="1"/>
          </p:cNvSpPr>
          <p:nvPr/>
        </p:nvSpPr>
        <p:spPr>
          <a:xfrm xmlns:a="http://schemas.openxmlformats.org/drawingml/2006/main">
            <a:off x="5524500" y="28765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1" name="">
            <a:extLst xmlns:a="http://schemas.openxmlformats.org/drawingml/2006/main">
              <a:ext uri="{FF2B5EF4-FFF2-40B4-BE49-F238E27FC236}">
                <a16:creationId xmlns:a16="http://schemas.microsoft.com/office/drawing/2014/main" id="{860C7BE4-9839-46CB-B384-DBFF40AEA505}"/>
              </a:ext>
            </a:extLst>
          </p:cNvPr>
          <p:cNvSpPr>
            <a:spLocks xmlns:a="http://schemas.openxmlformats.org/drawingml/2006/main" noGrp="1"/>
          </p:cNvSpPr>
          <p:nvPr/>
        </p:nvSpPr>
        <p:spPr>
          <a:xfrm xmlns:a="http://schemas.openxmlformats.org/drawingml/2006/main">
            <a:off x="5619750" y="29527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Tecnico-operativa</a:t>
            </a:r>
          </a:p>
        </p:txBody>
      </p:sp>
      <p:sp>
        <p:nvSpPr>
          <p:cNvPr id="52" name="">
            <a:extLst xmlns:a="http://schemas.openxmlformats.org/drawingml/2006/main">
              <a:ext uri="{FF2B5EF4-FFF2-40B4-BE49-F238E27FC236}">
                <a16:creationId xmlns:a16="http://schemas.microsoft.com/office/drawing/2014/main" id="{3A349EAD-FFC1-4997-93C0-E71E94563426}"/>
              </a:ext>
            </a:extLst>
          </p:cNvPr>
          <p:cNvSpPr>
            <a:spLocks xmlns:a="http://schemas.openxmlformats.org/drawingml/2006/main" noGrp="1"/>
          </p:cNvSpPr>
          <p:nvPr/>
        </p:nvSpPr>
        <p:spPr>
          <a:xfrm xmlns:a="http://schemas.openxmlformats.org/drawingml/2006/main">
            <a:off x="6991350" y="28765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3" name="">
            <a:extLst xmlns:a="http://schemas.openxmlformats.org/drawingml/2006/main">
              <a:ext uri="{FF2B5EF4-FFF2-40B4-BE49-F238E27FC236}">
                <a16:creationId xmlns:a16="http://schemas.microsoft.com/office/drawing/2014/main" id="{870B1665-DA87-45A4-8006-F9B21BC446B9}"/>
              </a:ext>
            </a:extLst>
          </p:cNvPr>
          <p:cNvSpPr>
            <a:spLocks xmlns:a="http://schemas.openxmlformats.org/drawingml/2006/main" noGrp="1"/>
          </p:cNvSpPr>
          <p:nvPr/>
        </p:nvSpPr>
        <p:spPr>
          <a:xfrm xmlns:a="http://schemas.openxmlformats.org/drawingml/2006/main">
            <a:off x="7086600" y="29527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Ejecucion profesional</a:t>
            </a:r>
          </a:p>
        </p:txBody>
      </p:sp>
      <p:sp>
        <p:nvSpPr>
          <p:cNvPr id="54" name="">
            <a:extLst xmlns:a="http://schemas.openxmlformats.org/drawingml/2006/main">
              <a:ext uri="{FF2B5EF4-FFF2-40B4-BE49-F238E27FC236}">
                <a16:creationId xmlns:a16="http://schemas.microsoft.com/office/drawing/2014/main" id="{EF1D21B4-C4DB-4F9A-9405-FEF8749F8DE1}"/>
              </a:ext>
            </a:extLst>
          </p:cNvPr>
          <p:cNvSpPr>
            <a:spLocks xmlns:a="http://schemas.openxmlformats.org/drawingml/2006/main" noGrp="1"/>
          </p:cNvSpPr>
          <p:nvPr/>
        </p:nvSpPr>
        <p:spPr>
          <a:xfrm xmlns:a="http://schemas.openxmlformats.org/drawingml/2006/main">
            <a:off x="8458200" y="28765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5" name="">
            <a:extLst xmlns:a="http://schemas.openxmlformats.org/drawingml/2006/main">
              <a:ext uri="{FF2B5EF4-FFF2-40B4-BE49-F238E27FC236}">
                <a16:creationId xmlns:a16="http://schemas.microsoft.com/office/drawing/2014/main" id="{80771021-ECC2-4561-8403-CA3242D8999A}"/>
              </a:ext>
            </a:extLst>
          </p:cNvPr>
          <p:cNvSpPr>
            <a:spLocks xmlns:a="http://schemas.openxmlformats.org/drawingml/2006/main" noGrp="1"/>
          </p:cNvSpPr>
          <p:nvPr/>
        </p:nvSpPr>
        <p:spPr>
          <a:xfrm xmlns:a="http://schemas.openxmlformats.org/drawingml/2006/main">
            <a:off x="8553450" y="29527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Produccion, diseno, formulacion, rendiciones, desarrollo web, comunicaciones</a:t>
            </a:r>
          </a:p>
        </p:txBody>
      </p:sp>
      <p:sp>
        <p:nvSpPr>
          <p:cNvPr id="56" name="">
            <a:extLst xmlns:a="http://schemas.openxmlformats.org/drawingml/2006/main">
              <a:ext uri="{FF2B5EF4-FFF2-40B4-BE49-F238E27FC236}">
                <a16:creationId xmlns:a16="http://schemas.microsoft.com/office/drawing/2014/main" id="{A4133B92-7C92-4FD6-A2BD-BC4A6C0E98EF}"/>
              </a:ext>
            </a:extLst>
          </p:cNvPr>
          <p:cNvSpPr>
            <a:spLocks xmlns:a="http://schemas.openxmlformats.org/drawingml/2006/main" noGrp="1"/>
          </p:cNvSpPr>
          <p:nvPr/>
        </p:nvSpPr>
        <p:spPr>
          <a:xfrm xmlns:a="http://schemas.openxmlformats.org/drawingml/2006/main">
            <a:off x="9925050" y="28765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7" name="">
            <a:extLst xmlns:a="http://schemas.openxmlformats.org/drawingml/2006/main">
              <a:ext uri="{FF2B5EF4-FFF2-40B4-BE49-F238E27FC236}">
                <a16:creationId xmlns:a16="http://schemas.microsoft.com/office/drawing/2014/main" id="{D0A1B0B9-722D-4BEA-BE2D-8C39AE9C181B}"/>
              </a:ext>
            </a:extLst>
          </p:cNvPr>
          <p:cNvSpPr>
            <a:spLocks xmlns:a="http://schemas.openxmlformats.org/drawingml/2006/main" noGrp="1"/>
          </p:cNvSpPr>
          <p:nvPr/>
        </p:nvSpPr>
        <p:spPr>
          <a:xfrm xmlns:a="http://schemas.openxmlformats.org/drawingml/2006/main">
            <a:off x="10020300" y="29527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Valorizable y remunerable si existe presupuesto.</a:t>
            </a:r>
          </a:p>
        </p:txBody>
      </p:sp>
      <p:sp>
        <p:nvSpPr>
          <p:cNvPr id="58" name="">
            <a:extLst xmlns:a="http://schemas.openxmlformats.org/drawingml/2006/main">
              <a:ext uri="{FF2B5EF4-FFF2-40B4-BE49-F238E27FC236}">
                <a16:creationId xmlns:a16="http://schemas.microsoft.com/office/drawing/2014/main" id="{7B64A792-649A-4BE8-ABE8-8B6E97C7ED9A}"/>
              </a:ext>
            </a:extLst>
          </p:cNvPr>
          <p:cNvSpPr>
            <a:spLocks xmlns:a="http://schemas.openxmlformats.org/drawingml/2006/main" noGrp="1"/>
          </p:cNvSpPr>
          <p:nvPr/>
        </p:nvSpPr>
        <p:spPr>
          <a:xfrm xmlns:a="http://schemas.openxmlformats.org/drawingml/2006/main">
            <a:off x="5524500" y="35623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9" name="">
            <a:extLst xmlns:a="http://schemas.openxmlformats.org/drawingml/2006/main">
              <a:ext uri="{FF2B5EF4-FFF2-40B4-BE49-F238E27FC236}">
                <a16:creationId xmlns:a16="http://schemas.microsoft.com/office/drawing/2014/main" id="{1E0F54D1-2A91-49CC-9FB8-F5D7F5CDC9AA}"/>
              </a:ext>
            </a:extLst>
          </p:cNvPr>
          <p:cNvSpPr>
            <a:spLocks xmlns:a="http://schemas.openxmlformats.org/drawingml/2006/main" noGrp="1"/>
          </p:cNvSpPr>
          <p:nvPr/>
        </p:nvSpPr>
        <p:spPr>
          <a:xfrm xmlns:a="http://schemas.openxmlformats.org/drawingml/2006/main">
            <a:off x="5619750" y="36385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Comites</a:t>
            </a:r>
          </a:p>
        </p:txBody>
      </p:sp>
      <p:sp>
        <p:nvSpPr>
          <p:cNvPr id="60" name="">
            <a:extLst xmlns:a="http://schemas.openxmlformats.org/drawingml/2006/main">
              <a:ext uri="{FF2B5EF4-FFF2-40B4-BE49-F238E27FC236}">
                <a16:creationId xmlns:a16="http://schemas.microsoft.com/office/drawing/2014/main" id="{DA188275-DEF7-457C-B0DE-76CB236BCFF2}"/>
              </a:ext>
            </a:extLst>
          </p:cNvPr>
          <p:cNvSpPr>
            <a:spLocks xmlns:a="http://schemas.openxmlformats.org/drawingml/2006/main" noGrp="1"/>
          </p:cNvSpPr>
          <p:nvPr/>
        </p:nvSpPr>
        <p:spPr>
          <a:xfrm xmlns:a="http://schemas.openxmlformats.org/drawingml/2006/main">
            <a:off x="6991350" y="35623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61" name="">
            <a:extLst xmlns:a="http://schemas.openxmlformats.org/drawingml/2006/main">
              <a:ext uri="{FF2B5EF4-FFF2-40B4-BE49-F238E27FC236}">
                <a16:creationId xmlns:a16="http://schemas.microsoft.com/office/drawing/2014/main" id="{C3F66560-F861-4D01-8494-3C19FA3D08EC}"/>
              </a:ext>
            </a:extLst>
          </p:cNvPr>
          <p:cNvSpPr>
            <a:spLocks xmlns:a="http://schemas.openxmlformats.org/drawingml/2006/main" noGrp="1"/>
          </p:cNvSpPr>
          <p:nvPr/>
        </p:nvSpPr>
        <p:spPr>
          <a:xfrm xmlns:a="http://schemas.openxmlformats.org/drawingml/2006/main">
            <a:off x="7086600" y="36385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Mixta</a:t>
            </a:r>
          </a:p>
        </p:txBody>
      </p:sp>
      <p:sp>
        <p:nvSpPr>
          <p:cNvPr id="62" name="">
            <a:extLst xmlns:a="http://schemas.openxmlformats.org/drawingml/2006/main">
              <a:ext uri="{FF2B5EF4-FFF2-40B4-BE49-F238E27FC236}">
                <a16:creationId xmlns:a16="http://schemas.microsoft.com/office/drawing/2014/main" id="{FD01D03F-0EF9-49FE-9D77-82ADFBF36824}"/>
              </a:ext>
            </a:extLst>
          </p:cNvPr>
          <p:cNvSpPr>
            <a:spLocks xmlns:a="http://schemas.openxmlformats.org/drawingml/2006/main" noGrp="1"/>
          </p:cNvSpPr>
          <p:nvPr/>
        </p:nvSpPr>
        <p:spPr>
          <a:xfrm xmlns:a="http://schemas.openxmlformats.org/drawingml/2006/main">
            <a:off x="8458200" y="35623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63" name="">
            <a:extLst xmlns:a="http://schemas.openxmlformats.org/drawingml/2006/main">
              <a:ext uri="{FF2B5EF4-FFF2-40B4-BE49-F238E27FC236}">
                <a16:creationId xmlns:a16="http://schemas.microsoft.com/office/drawing/2014/main" id="{22176D10-6E1F-4206-8481-92BB00D146C7}"/>
              </a:ext>
            </a:extLst>
          </p:cNvPr>
          <p:cNvSpPr>
            <a:spLocks xmlns:a="http://schemas.openxmlformats.org/drawingml/2006/main" noGrp="1"/>
          </p:cNvSpPr>
          <p:nvPr/>
        </p:nvSpPr>
        <p:spPr>
          <a:xfrm xmlns:a="http://schemas.openxmlformats.org/drawingml/2006/main">
            <a:off x="8553450" y="36385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Diagnostico, propuestas, coordinacion inicial, apoyo sectorial</a:t>
            </a:r>
          </a:p>
        </p:txBody>
      </p:sp>
      <p:sp>
        <p:nvSpPr>
          <p:cNvPr id="64" name="">
            <a:extLst xmlns:a="http://schemas.openxmlformats.org/drawingml/2006/main">
              <a:ext uri="{FF2B5EF4-FFF2-40B4-BE49-F238E27FC236}">
                <a16:creationId xmlns:a16="http://schemas.microsoft.com/office/drawing/2014/main" id="{71F3A040-5D38-4AFB-A0C3-4D88BFF916DB}"/>
              </a:ext>
            </a:extLst>
          </p:cNvPr>
          <p:cNvSpPr>
            <a:spLocks xmlns:a="http://schemas.openxmlformats.org/drawingml/2006/main" noGrp="1"/>
          </p:cNvSpPr>
          <p:nvPr/>
        </p:nvSpPr>
        <p:spPr>
          <a:xfrm xmlns:a="http://schemas.openxmlformats.org/drawingml/2006/main">
            <a:off x="9925050" y="3562350"/>
            <a:ext cx="1466850" cy="685800"/>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65" name="">
            <a:extLst xmlns:a="http://schemas.openxmlformats.org/drawingml/2006/main">
              <a:ext uri="{FF2B5EF4-FFF2-40B4-BE49-F238E27FC236}">
                <a16:creationId xmlns:a16="http://schemas.microsoft.com/office/drawing/2014/main" id="{1FBD9424-D7AC-4519-8D58-F43DB6B333D5}"/>
              </a:ext>
            </a:extLst>
          </p:cNvPr>
          <p:cNvSpPr>
            <a:spLocks xmlns:a="http://schemas.openxmlformats.org/drawingml/2006/main" noGrp="1"/>
          </p:cNvSpPr>
          <p:nvPr/>
        </p:nvSpPr>
        <p:spPr>
          <a:xfrm xmlns:a="http://schemas.openxmlformats.org/drawingml/2006/main">
            <a:off x="10020300" y="36385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Puede ser voluntaria o remunerada segun carga y financiamiento.</a:t>
            </a:r>
          </a:p>
        </p:txBody>
      </p:sp>
      <p:sp>
        <p:nvSpPr>
          <p:cNvPr id="66" name="">
            <a:extLst xmlns:a="http://schemas.openxmlformats.org/drawingml/2006/main">
              <a:ext uri="{FF2B5EF4-FFF2-40B4-BE49-F238E27FC236}">
                <a16:creationId xmlns:a16="http://schemas.microsoft.com/office/drawing/2014/main" id="{4151F596-662A-4702-A3DA-0D3501EB7C99}"/>
              </a:ext>
            </a:extLst>
          </p:cNvPr>
          <p:cNvSpPr>
            <a:spLocks xmlns:a="http://schemas.openxmlformats.org/drawingml/2006/main" noGrp="1"/>
          </p:cNvSpPr>
          <p:nvPr/>
        </p:nvSpPr>
        <p:spPr>
          <a:xfrm xmlns:a="http://schemas.openxmlformats.org/drawingml/2006/main">
            <a:off x="5524500" y="42481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7" name="">
            <a:extLst xmlns:a="http://schemas.openxmlformats.org/drawingml/2006/main">
              <a:ext uri="{FF2B5EF4-FFF2-40B4-BE49-F238E27FC236}">
                <a16:creationId xmlns:a16="http://schemas.microsoft.com/office/drawing/2014/main" id="{12A4739D-DE7F-45A0-A10B-CCAF191EC1E1}"/>
              </a:ext>
            </a:extLst>
          </p:cNvPr>
          <p:cNvSpPr>
            <a:spLocks xmlns:a="http://schemas.openxmlformats.org/drawingml/2006/main" noGrp="1"/>
          </p:cNvSpPr>
          <p:nvPr/>
        </p:nvSpPr>
        <p:spPr>
          <a:xfrm xmlns:a="http://schemas.openxmlformats.org/drawingml/2006/main">
            <a:off x="5619750" y="43243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Servicios externos</a:t>
            </a:r>
          </a:p>
        </p:txBody>
      </p:sp>
      <p:sp>
        <p:nvSpPr>
          <p:cNvPr id="68" name="">
            <a:extLst xmlns:a="http://schemas.openxmlformats.org/drawingml/2006/main">
              <a:ext uri="{FF2B5EF4-FFF2-40B4-BE49-F238E27FC236}">
                <a16:creationId xmlns:a16="http://schemas.microsoft.com/office/drawing/2014/main" id="{38E0AFD4-0E3C-4B1F-8EFB-DE0D2CE0DD5B}"/>
              </a:ext>
            </a:extLst>
          </p:cNvPr>
          <p:cNvSpPr>
            <a:spLocks xmlns:a="http://schemas.openxmlformats.org/drawingml/2006/main" noGrp="1"/>
          </p:cNvSpPr>
          <p:nvPr/>
        </p:nvSpPr>
        <p:spPr>
          <a:xfrm xmlns:a="http://schemas.openxmlformats.org/drawingml/2006/main">
            <a:off x="6991350" y="42481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9" name="">
            <a:extLst xmlns:a="http://schemas.openxmlformats.org/drawingml/2006/main">
              <a:ext uri="{FF2B5EF4-FFF2-40B4-BE49-F238E27FC236}">
                <a16:creationId xmlns:a16="http://schemas.microsoft.com/office/drawing/2014/main" id="{30E2F9DC-148B-47DB-8A60-51C875461C5A}"/>
              </a:ext>
            </a:extLst>
          </p:cNvPr>
          <p:cNvSpPr>
            <a:spLocks xmlns:a="http://schemas.openxmlformats.org/drawingml/2006/main" noGrp="1"/>
          </p:cNvSpPr>
          <p:nvPr/>
        </p:nvSpPr>
        <p:spPr>
          <a:xfrm xmlns:a="http://schemas.openxmlformats.org/drawingml/2006/main">
            <a:off x="7086600" y="43243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Especializada</a:t>
            </a:r>
          </a:p>
        </p:txBody>
      </p:sp>
      <p:sp>
        <p:nvSpPr>
          <p:cNvPr id="70" name="">
            <a:extLst xmlns:a="http://schemas.openxmlformats.org/drawingml/2006/main">
              <a:ext uri="{FF2B5EF4-FFF2-40B4-BE49-F238E27FC236}">
                <a16:creationId xmlns:a16="http://schemas.microsoft.com/office/drawing/2014/main" id="{92B8C4DC-1A90-4E6D-A7C8-C9E76FFC55FC}"/>
              </a:ext>
            </a:extLst>
          </p:cNvPr>
          <p:cNvSpPr>
            <a:spLocks xmlns:a="http://schemas.openxmlformats.org/drawingml/2006/main" noGrp="1"/>
          </p:cNvSpPr>
          <p:nvPr/>
        </p:nvSpPr>
        <p:spPr>
          <a:xfrm xmlns:a="http://schemas.openxmlformats.org/drawingml/2006/main">
            <a:off x="8458200" y="42481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71" name="">
            <a:extLst xmlns:a="http://schemas.openxmlformats.org/drawingml/2006/main">
              <a:ext uri="{FF2B5EF4-FFF2-40B4-BE49-F238E27FC236}">
                <a16:creationId xmlns:a16="http://schemas.microsoft.com/office/drawing/2014/main" id="{FBD0FB3A-C4C6-4CF9-B435-B8488F5F1C27}"/>
              </a:ext>
            </a:extLst>
          </p:cNvPr>
          <p:cNvSpPr>
            <a:spLocks xmlns:a="http://schemas.openxmlformats.org/drawingml/2006/main" noGrp="1"/>
          </p:cNvSpPr>
          <p:nvPr/>
        </p:nvSpPr>
        <p:spPr>
          <a:xfrm xmlns:a="http://schemas.openxmlformats.org/drawingml/2006/main">
            <a:off x="8553450" y="43243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Legal, contabilidad, desarrollo, produccion, audiovisual, tecnologia</a:t>
            </a:r>
          </a:p>
        </p:txBody>
      </p:sp>
      <p:sp>
        <p:nvSpPr>
          <p:cNvPr id="72" name="">
            <a:extLst xmlns:a="http://schemas.openxmlformats.org/drawingml/2006/main">
              <a:ext uri="{FF2B5EF4-FFF2-40B4-BE49-F238E27FC236}">
                <a16:creationId xmlns:a16="http://schemas.microsoft.com/office/drawing/2014/main" id="{2538F799-58EB-48B5-AB02-4BA131DC9874}"/>
              </a:ext>
            </a:extLst>
          </p:cNvPr>
          <p:cNvSpPr>
            <a:spLocks xmlns:a="http://schemas.openxmlformats.org/drawingml/2006/main" noGrp="1"/>
          </p:cNvSpPr>
          <p:nvPr/>
        </p:nvSpPr>
        <p:spPr>
          <a:xfrm xmlns:a="http://schemas.openxmlformats.org/drawingml/2006/main">
            <a:off x="9925050" y="4248150"/>
            <a:ext cx="1466850" cy="685800"/>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73" name="">
            <a:extLst xmlns:a="http://schemas.openxmlformats.org/drawingml/2006/main">
              <a:ext uri="{FF2B5EF4-FFF2-40B4-BE49-F238E27FC236}">
                <a16:creationId xmlns:a16="http://schemas.microsoft.com/office/drawing/2014/main" id="{2D0DFD7F-23EA-4B69-B632-3012AC1DD17F}"/>
              </a:ext>
            </a:extLst>
          </p:cNvPr>
          <p:cNvSpPr>
            <a:spLocks xmlns:a="http://schemas.openxmlformats.org/drawingml/2006/main" noGrp="1"/>
          </p:cNvSpPr>
          <p:nvPr/>
        </p:nvSpPr>
        <p:spPr>
          <a:xfrm xmlns:a="http://schemas.openxmlformats.org/drawingml/2006/main">
            <a:off x="10020300" y="4324350"/>
            <a:ext cx="12763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FF1F5"/>
                </a:solidFill>
                <a:latin typeface="Aptos"/>
                <a:ea typeface="Aptos"/>
                <a:cs typeface="Aptos"/>
              </a:defRPr>
            </a:pPr>
            <a:r>
              <a:rPr sz="825" b="0">
                <a:solidFill>
                  <a:srgbClr val="EFF1F5"/>
                </a:solidFill>
                <a:latin typeface="Aptos"/>
                <a:ea typeface="Aptos"/>
                <a:cs typeface="Aptos"/>
              </a:rPr>
              <a:t>Presupuestada y contratada.</a:t>
            </a:r>
          </a:p>
        </p:txBody>
      </p:sp>
      <p:sp>
        <p:nvSpPr>
          <p:cNvPr id="74" name="">
            <a:extLst xmlns:a="http://schemas.openxmlformats.org/drawingml/2006/main">
              <a:ext uri="{FF2B5EF4-FFF2-40B4-BE49-F238E27FC236}">
                <a16:creationId xmlns:a16="http://schemas.microsoft.com/office/drawing/2014/main" id="{217F3740-9592-42C4-9F7E-FD63A3E40D02}"/>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9172B861-1C8F-40A9-B4C3-7BCC689CBFF7}"/>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76" name="">
            <a:extLst xmlns:a="http://schemas.openxmlformats.org/drawingml/2006/main">
              <a:ext uri="{FF2B5EF4-FFF2-40B4-BE49-F238E27FC236}">
                <a16:creationId xmlns:a16="http://schemas.microsoft.com/office/drawing/2014/main" id="{1DF28657-E49E-42A3-8B7B-A2272C8830E2}"/>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14 / 20</a:t>
            </a:r>
          </a:p>
        </p:txBody>
      </p:sp>
    </p:spTree>
    <p:extLst>
      <p:ext uri="{BB962C8B-B14F-4D97-AF65-F5344CB8AC3E}">
        <p14:creationId xmlns:p14="http://schemas.microsoft.com/office/powerpoint/2010/main" val="4595945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BE991D-FCCC-4B4D-A511-E0A46675C0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E013878-9976-4F4D-922A-14B2AAF20E6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42B92AE-39B1-4D9F-8FC1-6AD40D22FF5E}"/>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D9B179A-A0F7-4A7B-920C-A68BD6273AB7}"/>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66A457D-EE74-4558-ACAD-4115A2207D32}"/>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A627373-7055-4F63-AFAC-5F24E76449AF}"/>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2F11445-9880-4263-82B2-417E47113FC4}"/>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C6F96EE-8B7D-42DD-A8E7-396CC2A13746}"/>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29FD81F-C153-4DB3-A36C-38A569F54D5D}"/>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ED64719-1DE3-4B95-96E3-7F340721604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3DE8A09-649F-4A7A-9E0A-09FE295A0368}"/>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88385AC-5DF1-496E-BA8B-A6D9C85F4CB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917AC49-F604-4583-A521-0DB8E259E506}"/>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E144D1C-1B23-4DD7-AA01-7E9FF2D22380}"/>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470B57A-A5F2-4A26-A7D8-B3A5E5B20AA0}"/>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B13E4B1-8298-41C8-800C-AC140877C516}"/>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955F8EC-9596-48A3-BCA4-32103C40E5E2}"/>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B99C188-25FD-4649-8892-6DECA1CD4E5D}"/>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88523C5-80BA-42DE-988D-6BA9A20EC169}"/>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303A1BA-196E-43B8-9863-F2D85557CC21}"/>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CA3048D-5DA5-4441-893D-943F5B04CCC2}"/>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BF247BB-2F37-476A-BA71-413D658A4FA2}"/>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8B92C30-775A-48DC-AC76-E68FB70CB14B}"/>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23611F2-A0A1-48C0-A3CC-58C7DBB1B991}"/>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C5136A25-DC79-405C-B42C-EDA6911E81ED}"/>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2B077A1-D18D-4B71-AB59-119E0AC73AA8}"/>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D6992980-C3C2-4442-9EF4-AE782373DC02}"/>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B2F48FD-1A73-4B2D-9030-F522EC2ADA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755D1"/>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E5D37180-231F-40A4-9C60-E7269D1BFDEC}"/>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A1DAFA3A-5014-4E54-AB45-5F98A8305446}"/>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15 · DATOS Y ACTIVOS</a:t>
            </a:r>
          </a:p>
        </p:txBody>
      </p:sp>
      <p:sp>
        <p:nvSpPr>
          <p:cNvPr id="31" name="">
            <a:extLst xmlns:a="http://schemas.openxmlformats.org/drawingml/2006/main">
              <a:ext uri="{FF2B5EF4-FFF2-40B4-BE49-F238E27FC236}">
                <a16:creationId xmlns:a16="http://schemas.microsoft.com/office/drawing/2014/main" id="{A72F3A55-53AF-4FF0-8B44-CE59C0201FD9}"/>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Datos, archivos y activos digitales requieren gobernanza y seguridad.</a:t>
            </a:r>
          </a:p>
        </p:txBody>
      </p:sp>
      <p:sp>
        <p:nvSpPr>
          <p:cNvPr id="32" name="">
            <a:extLst xmlns:a="http://schemas.openxmlformats.org/drawingml/2006/main">
              <a:ext uri="{FF2B5EF4-FFF2-40B4-BE49-F238E27FC236}">
                <a16:creationId xmlns:a16="http://schemas.microsoft.com/office/drawing/2014/main" id="{20194376-C4AD-4B16-A2C3-B9E14B946A77}"/>
              </a:ext>
            </a:extLst>
          </p:cNvPr>
          <p:cNvSpPr>
            <a:spLocks xmlns:a="http://schemas.openxmlformats.org/drawingml/2006/main" noGrp="1"/>
          </p:cNvSpPr>
          <p:nvPr/>
        </p:nvSpPr>
        <p:spPr>
          <a:xfrm xmlns:a="http://schemas.openxmlformats.org/drawingml/2006/main">
            <a:off x="514350" y="2000250"/>
            <a:ext cx="5143500" cy="17145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CC3EC241-2AAA-4C73-884A-CBD6526C3824}"/>
              </a:ext>
            </a:extLst>
          </p:cNvPr>
          <p:cNvSpPr>
            <a:spLocks xmlns:a="http://schemas.openxmlformats.org/drawingml/2006/main" noGrp="1"/>
          </p:cNvSpPr>
          <p:nvPr/>
        </p:nvSpPr>
        <p:spPr>
          <a:xfrm xmlns:a="http://schemas.openxmlformats.org/drawingml/2006/main">
            <a:off x="723900" y="2152650"/>
            <a:ext cx="47244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B3C8EE"/>
                </a:solidFill>
                <a:latin typeface="Aptos"/>
                <a:ea typeface="Aptos"/>
                <a:cs typeface="Aptos"/>
              </a:defRPr>
            </a:pPr>
            <a:r>
              <a:rPr sz="1350" b="0">
                <a:solidFill>
                  <a:srgbClr val="B3C8EE"/>
                </a:solidFill>
                <a:latin typeface="Aptos"/>
                <a:ea typeface="Aptos"/>
                <a:cs typeface="Aptos"/>
              </a:rPr>
              <a:t>IME no solo administra socios/as, proyectos y documentos. Tambien administra activos digitales: bases de datos, contenidos, redes, archivos, marcas, dominios, documentos, fotografias, videos, registros historicos, comunicaciones, formularios, credenciales, estadisticas, informes e IME Conecta.</a:t>
            </a:r>
          </a:p>
        </p:txBody>
      </p:sp>
      <p:sp>
        <p:nvSpPr>
          <p:cNvPr id="34" name="">
            <a:extLst xmlns:a="http://schemas.openxmlformats.org/drawingml/2006/main">
              <a:ext uri="{FF2B5EF4-FFF2-40B4-BE49-F238E27FC236}">
                <a16:creationId xmlns:a16="http://schemas.microsoft.com/office/drawing/2014/main" id="{AFC1AD3A-DCCB-4A89-9FEB-F55EA9B4C4A7}"/>
              </a:ext>
            </a:extLst>
          </p:cNvPr>
          <p:cNvSpPr>
            <a:spLocks xmlns:a="http://schemas.openxmlformats.org/drawingml/2006/main" noGrp="1"/>
          </p:cNvSpPr>
          <p:nvPr/>
        </p:nvSpPr>
        <p:spPr>
          <a:xfrm xmlns:a="http://schemas.openxmlformats.org/drawingml/2006/main">
            <a:off x="6191250" y="1981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83391F8-C0D4-4204-9C62-C9A7D3160770}"/>
              </a:ext>
            </a:extLst>
          </p:cNvPr>
          <p:cNvSpPr>
            <a:spLocks xmlns:a="http://schemas.openxmlformats.org/drawingml/2006/main" noGrp="1"/>
          </p:cNvSpPr>
          <p:nvPr/>
        </p:nvSpPr>
        <p:spPr>
          <a:xfrm xmlns:a="http://schemas.openxmlformats.org/drawingml/2006/main">
            <a:off x="6438900" y="1905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Base de socios/as.</a:t>
            </a:r>
          </a:p>
        </p:txBody>
      </p:sp>
      <p:sp>
        <p:nvSpPr>
          <p:cNvPr id="36" name="">
            <a:extLst xmlns:a="http://schemas.openxmlformats.org/drawingml/2006/main">
              <a:ext uri="{FF2B5EF4-FFF2-40B4-BE49-F238E27FC236}">
                <a16:creationId xmlns:a16="http://schemas.microsoft.com/office/drawing/2014/main" id="{39190EB5-BABA-44F9-9026-AB74B96C0DBE}"/>
              </a:ext>
            </a:extLst>
          </p:cNvPr>
          <p:cNvSpPr>
            <a:spLocks xmlns:a="http://schemas.openxmlformats.org/drawingml/2006/main" noGrp="1"/>
          </p:cNvSpPr>
          <p:nvPr/>
        </p:nvSpPr>
        <p:spPr>
          <a:xfrm xmlns:a="http://schemas.openxmlformats.org/drawingml/2006/main">
            <a:off x="6191250" y="24574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C38B75D-D54E-4D7F-8B4B-2B74D4220960}"/>
              </a:ext>
            </a:extLst>
          </p:cNvPr>
          <p:cNvSpPr>
            <a:spLocks xmlns:a="http://schemas.openxmlformats.org/drawingml/2006/main" noGrp="1"/>
          </p:cNvSpPr>
          <p:nvPr/>
        </p:nvSpPr>
        <p:spPr>
          <a:xfrm xmlns:a="http://schemas.openxmlformats.org/drawingml/2006/main">
            <a:off x="6438900" y="23812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Actas y documentos.</a:t>
            </a:r>
          </a:p>
        </p:txBody>
      </p:sp>
      <p:sp>
        <p:nvSpPr>
          <p:cNvPr id="38" name="">
            <a:extLst xmlns:a="http://schemas.openxmlformats.org/drawingml/2006/main">
              <a:ext uri="{FF2B5EF4-FFF2-40B4-BE49-F238E27FC236}">
                <a16:creationId xmlns:a16="http://schemas.microsoft.com/office/drawing/2014/main" id="{789C98A3-907D-4B6E-A45F-362DFEB36342}"/>
              </a:ext>
            </a:extLst>
          </p:cNvPr>
          <p:cNvSpPr>
            <a:spLocks xmlns:a="http://schemas.openxmlformats.org/drawingml/2006/main" noGrp="1"/>
          </p:cNvSpPr>
          <p:nvPr/>
        </p:nvSpPr>
        <p:spPr>
          <a:xfrm xmlns:a="http://schemas.openxmlformats.org/drawingml/2006/main">
            <a:off x="6191250" y="29337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186F842A-3466-4CF1-ABC9-EE5262A9A9A7}"/>
              </a:ext>
            </a:extLst>
          </p:cNvPr>
          <p:cNvSpPr>
            <a:spLocks xmlns:a="http://schemas.openxmlformats.org/drawingml/2006/main" noGrp="1"/>
          </p:cNvSpPr>
          <p:nvPr/>
        </p:nvSpPr>
        <p:spPr>
          <a:xfrm xmlns:a="http://schemas.openxmlformats.org/drawingml/2006/main">
            <a:off x="6438900" y="28575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Redes sociales.</a:t>
            </a:r>
          </a:p>
        </p:txBody>
      </p:sp>
      <p:sp>
        <p:nvSpPr>
          <p:cNvPr id="40" name="">
            <a:extLst xmlns:a="http://schemas.openxmlformats.org/drawingml/2006/main">
              <a:ext uri="{FF2B5EF4-FFF2-40B4-BE49-F238E27FC236}">
                <a16:creationId xmlns:a16="http://schemas.microsoft.com/office/drawing/2014/main" id="{A9CBDA30-F78D-4930-8118-8F6F93D11F26}"/>
              </a:ext>
            </a:extLst>
          </p:cNvPr>
          <p:cNvSpPr>
            <a:spLocks xmlns:a="http://schemas.openxmlformats.org/drawingml/2006/main" noGrp="1"/>
          </p:cNvSpPr>
          <p:nvPr/>
        </p:nvSpPr>
        <p:spPr>
          <a:xfrm xmlns:a="http://schemas.openxmlformats.org/drawingml/2006/main">
            <a:off x="6191250" y="34099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58C0F708-B92F-453C-9BEF-34C7840B4495}"/>
              </a:ext>
            </a:extLst>
          </p:cNvPr>
          <p:cNvSpPr>
            <a:spLocks xmlns:a="http://schemas.openxmlformats.org/drawingml/2006/main" noGrp="1"/>
          </p:cNvSpPr>
          <p:nvPr/>
        </p:nvSpPr>
        <p:spPr>
          <a:xfrm xmlns:a="http://schemas.openxmlformats.org/drawingml/2006/main">
            <a:off x="6438900" y="33337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Dominio imechile.org.</a:t>
            </a:r>
          </a:p>
        </p:txBody>
      </p:sp>
      <p:sp>
        <p:nvSpPr>
          <p:cNvPr id="42" name="">
            <a:extLst xmlns:a="http://schemas.openxmlformats.org/drawingml/2006/main">
              <a:ext uri="{FF2B5EF4-FFF2-40B4-BE49-F238E27FC236}">
                <a16:creationId xmlns:a16="http://schemas.microsoft.com/office/drawing/2014/main" id="{1326EF0A-18BB-47FA-813E-7721FB671D30}"/>
              </a:ext>
            </a:extLst>
          </p:cNvPr>
          <p:cNvSpPr>
            <a:spLocks xmlns:a="http://schemas.openxmlformats.org/drawingml/2006/main" noGrp="1"/>
          </p:cNvSpPr>
          <p:nvPr/>
        </p:nvSpPr>
        <p:spPr>
          <a:xfrm xmlns:a="http://schemas.openxmlformats.org/drawingml/2006/main">
            <a:off x="6191250" y="38862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D9B0FEE1-CB21-413F-992C-7C4EE4B0EA50}"/>
              </a:ext>
            </a:extLst>
          </p:cNvPr>
          <p:cNvSpPr>
            <a:spLocks xmlns:a="http://schemas.openxmlformats.org/drawingml/2006/main" noGrp="1"/>
          </p:cNvSpPr>
          <p:nvPr/>
        </p:nvSpPr>
        <p:spPr>
          <a:xfrm xmlns:a="http://schemas.openxmlformats.org/drawingml/2006/main">
            <a:off x="6438900" y="381000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Formularios.</a:t>
            </a:r>
          </a:p>
        </p:txBody>
      </p:sp>
      <p:sp>
        <p:nvSpPr>
          <p:cNvPr id="44" name="">
            <a:extLst xmlns:a="http://schemas.openxmlformats.org/drawingml/2006/main">
              <a:ext uri="{FF2B5EF4-FFF2-40B4-BE49-F238E27FC236}">
                <a16:creationId xmlns:a16="http://schemas.microsoft.com/office/drawing/2014/main" id="{0683FADB-8599-49F9-A7C9-8FCC2267F2F0}"/>
              </a:ext>
            </a:extLst>
          </p:cNvPr>
          <p:cNvSpPr>
            <a:spLocks xmlns:a="http://schemas.openxmlformats.org/drawingml/2006/main" noGrp="1"/>
          </p:cNvSpPr>
          <p:nvPr/>
        </p:nvSpPr>
        <p:spPr>
          <a:xfrm xmlns:a="http://schemas.openxmlformats.org/drawingml/2006/main">
            <a:off x="6191250" y="43624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45F1429C-96E7-438A-A0EE-F20A149D1C05}"/>
              </a:ext>
            </a:extLst>
          </p:cNvPr>
          <p:cNvSpPr>
            <a:spLocks xmlns:a="http://schemas.openxmlformats.org/drawingml/2006/main" noGrp="1"/>
          </p:cNvSpPr>
          <p:nvPr/>
        </p:nvSpPr>
        <p:spPr>
          <a:xfrm xmlns:a="http://schemas.openxmlformats.org/drawingml/2006/main">
            <a:off x="6438900" y="4286250"/>
            <a:ext cx="4800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IME Conecta.</a:t>
            </a:r>
          </a:p>
        </p:txBody>
      </p:sp>
      <p:sp>
        <p:nvSpPr>
          <p:cNvPr id="46" name="">
            <a:extLst xmlns:a="http://schemas.openxmlformats.org/drawingml/2006/main">
              <a:ext uri="{FF2B5EF4-FFF2-40B4-BE49-F238E27FC236}">
                <a16:creationId xmlns:a16="http://schemas.microsoft.com/office/drawing/2014/main" id="{7E22A819-D97D-4B83-B9EE-DD94754C4A72}"/>
              </a:ext>
            </a:extLst>
          </p:cNvPr>
          <p:cNvSpPr>
            <a:spLocks xmlns:a="http://schemas.openxmlformats.org/drawingml/2006/main" noGrp="1"/>
          </p:cNvSpPr>
          <p:nvPr/>
        </p:nvSpPr>
        <p:spPr>
          <a:xfrm xmlns:a="http://schemas.openxmlformats.org/drawingml/2006/main">
            <a:off x="514350" y="5124450"/>
            <a:ext cx="57150" cy="876300"/>
          </a:xfrm>
          <a:prstGeom xmlns:a="http://schemas.openxmlformats.org/drawingml/2006/main" prst="rect">
            <a:avLst/>
          </a:prstGeom>
          <a:solidFill xmlns:a="http://schemas.openxmlformats.org/drawingml/2006/main">
            <a:srgbClr val="83F0E2"/>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52654DA5-5C3B-444F-B541-79852C2C48BF}"/>
              </a:ext>
            </a:extLst>
          </p:cNvPr>
          <p:cNvSpPr>
            <a:spLocks xmlns:a="http://schemas.openxmlformats.org/drawingml/2006/main" noGrp="1"/>
          </p:cNvSpPr>
          <p:nvPr/>
        </p:nvSpPr>
        <p:spPr>
          <a:xfrm xmlns:a="http://schemas.openxmlformats.org/drawingml/2006/main">
            <a:off x="609600" y="5124450"/>
            <a:ext cx="10172700" cy="87630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48" name="">
            <a:extLst xmlns:a="http://schemas.openxmlformats.org/drawingml/2006/main">
              <a:ext uri="{FF2B5EF4-FFF2-40B4-BE49-F238E27FC236}">
                <a16:creationId xmlns:a16="http://schemas.microsoft.com/office/drawing/2014/main" id="{568A2A7C-E946-4158-BC0C-41BB1E644AA7}"/>
              </a:ext>
            </a:extLst>
          </p:cNvPr>
          <p:cNvSpPr>
            <a:spLocks xmlns:a="http://schemas.openxmlformats.org/drawingml/2006/main" noGrp="1"/>
          </p:cNvSpPr>
          <p:nvPr/>
        </p:nvSpPr>
        <p:spPr>
          <a:xfrm xmlns:a="http://schemas.openxmlformats.org/drawingml/2006/main">
            <a:off x="781050" y="5238750"/>
            <a:ext cx="98298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83F0E2"/>
                </a:solidFill>
                <a:latin typeface="Aptos"/>
                <a:ea typeface="Aptos"/>
                <a:cs typeface="Aptos"/>
              </a:defRPr>
            </a:pPr>
            <a:r>
              <a:rPr sz="1275" b="1">
                <a:solidFill>
                  <a:srgbClr val="83F0E2"/>
                </a:solidFill>
                <a:latin typeface="Aptos"/>
                <a:ea typeface="Aptos"/>
                <a:cs typeface="Aptos"/>
              </a:rPr>
              <a:t>Con la nueva Ley 21.719 de Proteccion de Datos Personales, IME debe incorporar criterios de consentimiento, finalidad, proporcionalidad, seguridad, confidencialidad, transparencia y trazabilidad en el tratamiento de datos personales.</a:t>
            </a:r>
          </a:p>
        </p:txBody>
      </p:sp>
      <p:sp>
        <p:nvSpPr>
          <p:cNvPr id="49" name="">
            <a:extLst xmlns:a="http://schemas.openxmlformats.org/drawingml/2006/main">
              <a:ext uri="{FF2B5EF4-FFF2-40B4-BE49-F238E27FC236}">
                <a16:creationId xmlns:a16="http://schemas.microsoft.com/office/drawing/2014/main" id="{CA0C89EC-4B13-4A4E-8922-60DEC0613B77}"/>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96EA054C-0CF3-4737-BD22-AD007F33697E}"/>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51" name="">
            <a:extLst xmlns:a="http://schemas.openxmlformats.org/drawingml/2006/main">
              <a:ext uri="{FF2B5EF4-FFF2-40B4-BE49-F238E27FC236}">
                <a16:creationId xmlns:a16="http://schemas.microsoft.com/office/drawing/2014/main" id="{9B941308-CE40-4F2C-877E-472FDBA1349A}"/>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15 / 20</a:t>
            </a:r>
          </a:p>
        </p:txBody>
      </p:sp>
    </p:spTree>
    <p:extLst>
      <p:ext uri="{BB962C8B-B14F-4D97-AF65-F5344CB8AC3E}">
        <p14:creationId xmlns:p14="http://schemas.microsoft.com/office/powerpoint/2010/main" val="115440393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D04380-4EBA-4C5A-B779-78198D0475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12DC156-4549-455B-B070-BD723270F25C}"/>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C80930-CDFD-4EFE-92E9-872CD269525F}"/>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EBF6FC1-3440-49DD-BD50-461FF997D02B}"/>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9BA1903-448E-4792-99FA-E5F951873E26}"/>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D7A88D1-040F-4301-8409-D555E059F8FB}"/>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318996D-5FE6-4233-8629-1B49A2F8939D}"/>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EB592A-D8F8-44AF-A54C-2C5CC29B51A4}"/>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0DEFAED-2CB8-47EA-9F9C-7B59A19FF710}"/>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7B7499B-8579-43F4-BC8F-D133116C432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808CC37-12A8-4318-94E9-65984B29E303}"/>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18D43E1-DF46-43F7-BF6F-D33BC894686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DDD992E-013C-4898-9A26-73EC463C3CAC}"/>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C4B88F2-C936-4248-B3AF-C15528F668CC}"/>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A2F0071-374E-4A92-8C33-031DB47E5185}"/>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7B088B1-124E-44E9-A3BA-95F8DF4D00F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F3BE6BA-A40E-4A2D-BA52-94091DE6204F}"/>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CA9A6C9-A024-4FA3-ADD2-86B5D16D6CE6}"/>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287B04E6-7807-422F-A52F-F0EBE284C9F9}"/>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81A6A62-42FA-47C7-881C-7F5CCB81C843}"/>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38769BD-49D9-4E85-8E8E-6633A34E53E4}"/>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22113C2-45C2-4711-BE5B-0E296237CBF4}"/>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8F0B04F-6192-45AF-97BF-F31DEAD24E23}"/>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143EC4F7-8E0E-4BF1-BDCE-D83B99276749}"/>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1B081B71-9A54-47CA-8847-A19C815E4868}"/>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ADA1C9B-B393-4AB3-B241-723E3AF8D7DC}"/>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6C95659-9D39-4006-9BA1-849756EB5CE0}"/>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8CADDF7-5DF6-4BC3-84B7-DF285390AEA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DBE35697-BA24-48AA-9D02-D315305BFF1C}"/>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F711C4DF-4EB8-489B-97DD-305BC605D06D}"/>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16 · RIESGOS</a:t>
            </a:r>
          </a:p>
        </p:txBody>
      </p:sp>
      <p:sp>
        <p:nvSpPr>
          <p:cNvPr id="31" name="">
            <a:extLst xmlns:a="http://schemas.openxmlformats.org/drawingml/2006/main">
              <a:ext uri="{FF2B5EF4-FFF2-40B4-BE49-F238E27FC236}">
                <a16:creationId xmlns:a16="http://schemas.microsoft.com/office/drawing/2014/main" id="{A625249B-2DE0-4F47-BBCA-EEF4CBDEA391}"/>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No ordenar la operacion aumenta sobrecarga, dependencia y riesgo institucional.</a:t>
            </a:r>
          </a:p>
        </p:txBody>
      </p:sp>
      <p:sp>
        <p:nvSpPr>
          <p:cNvPr id="32" name="">
            <a:extLst xmlns:a="http://schemas.openxmlformats.org/drawingml/2006/main">
              <a:ext uri="{FF2B5EF4-FFF2-40B4-BE49-F238E27FC236}">
                <a16:creationId xmlns:a16="http://schemas.microsoft.com/office/drawing/2014/main" id="{C44FA18E-C12E-4F9D-85EC-C73259424C4E}"/>
              </a:ext>
            </a:extLst>
          </p:cNvPr>
          <p:cNvSpPr>
            <a:spLocks xmlns:a="http://schemas.openxmlformats.org/drawingml/2006/main" noGrp="1"/>
          </p:cNvSpPr>
          <p:nvPr/>
        </p:nvSpPr>
        <p:spPr>
          <a:xfrm xmlns:a="http://schemas.openxmlformats.org/drawingml/2006/main">
            <a:off x="514350" y="1962150"/>
            <a:ext cx="4476750" cy="137160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595F67C4-5AFE-4770-848C-D832B3DACA6D}"/>
              </a:ext>
            </a:extLst>
          </p:cNvPr>
          <p:cNvSpPr>
            <a:spLocks xmlns:a="http://schemas.openxmlformats.org/drawingml/2006/main" noGrp="1"/>
          </p:cNvSpPr>
          <p:nvPr/>
        </p:nvSpPr>
        <p:spPr>
          <a:xfrm xmlns:a="http://schemas.openxmlformats.org/drawingml/2006/main">
            <a:off x="723900" y="2114550"/>
            <a:ext cx="4057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Matriz de trabajo para ordenar decisiones, riesgos y responsabilidades.</a:t>
            </a:r>
          </a:p>
        </p:txBody>
      </p:sp>
      <p:sp>
        <p:nvSpPr>
          <p:cNvPr id="34" name="">
            <a:extLst xmlns:a="http://schemas.openxmlformats.org/drawingml/2006/main">
              <a:ext uri="{FF2B5EF4-FFF2-40B4-BE49-F238E27FC236}">
                <a16:creationId xmlns:a16="http://schemas.microsoft.com/office/drawing/2014/main" id="{0CDD9994-88F9-458A-BC95-674BEBD2950C}"/>
              </a:ext>
            </a:extLst>
          </p:cNvPr>
          <p:cNvSpPr>
            <a:spLocks xmlns:a="http://schemas.openxmlformats.org/drawingml/2006/main" noGrp="1"/>
          </p:cNvSpPr>
          <p:nvPr/>
        </p:nvSpPr>
        <p:spPr>
          <a:xfrm xmlns:a="http://schemas.openxmlformats.org/drawingml/2006/main">
            <a:off x="5524500" y="1790700"/>
            <a:ext cx="29337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5" name="">
            <a:extLst xmlns:a="http://schemas.openxmlformats.org/drawingml/2006/main">
              <a:ext uri="{FF2B5EF4-FFF2-40B4-BE49-F238E27FC236}">
                <a16:creationId xmlns:a16="http://schemas.microsoft.com/office/drawing/2014/main" id="{D2EB1B15-536C-4AC4-89C4-BE11AA4949B2}"/>
              </a:ext>
            </a:extLst>
          </p:cNvPr>
          <p:cNvSpPr>
            <a:spLocks xmlns:a="http://schemas.openxmlformats.org/drawingml/2006/main" noGrp="1"/>
          </p:cNvSpPr>
          <p:nvPr/>
        </p:nvSpPr>
        <p:spPr>
          <a:xfrm xmlns:a="http://schemas.openxmlformats.org/drawingml/2006/main">
            <a:off x="5619750" y="1857375"/>
            <a:ext cx="2743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Riesgo</a:t>
            </a:r>
          </a:p>
        </p:txBody>
      </p:sp>
      <p:sp>
        <p:nvSpPr>
          <p:cNvPr id="36" name="">
            <a:extLst xmlns:a="http://schemas.openxmlformats.org/drawingml/2006/main">
              <a:ext uri="{FF2B5EF4-FFF2-40B4-BE49-F238E27FC236}">
                <a16:creationId xmlns:a16="http://schemas.microsoft.com/office/drawing/2014/main" id="{D8DB799F-4918-4AAA-8347-C87953B6FABD}"/>
              </a:ext>
            </a:extLst>
          </p:cNvPr>
          <p:cNvSpPr>
            <a:spLocks xmlns:a="http://schemas.openxmlformats.org/drawingml/2006/main" noGrp="1"/>
          </p:cNvSpPr>
          <p:nvPr/>
        </p:nvSpPr>
        <p:spPr>
          <a:xfrm xmlns:a="http://schemas.openxmlformats.org/drawingml/2006/main">
            <a:off x="8458200" y="1790700"/>
            <a:ext cx="2933700" cy="400050"/>
          </a:xfrm>
          <a:prstGeom xmlns:a="http://schemas.openxmlformats.org/drawingml/2006/main" prst="rect">
            <a:avLst/>
          </a:prstGeom>
          <a:solidFill xmlns:a="http://schemas.openxmlformats.org/drawingml/2006/main">
            <a:srgbClr val="15313B"/>
          </a:solidFill>
          <a:ln xmlns:a="http://schemas.openxmlformats.org/drawingml/2006/main" w="9525">
            <a:solidFill>
              <a:srgbClr val="15E9CD"/>
            </a:solidFill>
            <a:prstDash val="solid"/>
          </a:ln>
        </p:spPr>
      </p:sp>
      <p:sp>
        <p:nvSpPr>
          <p:cNvPr id="37" name="">
            <a:extLst xmlns:a="http://schemas.openxmlformats.org/drawingml/2006/main">
              <a:ext uri="{FF2B5EF4-FFF2-40B4-BE49-F238E27FC236}">
                <a16:creationId xmlns:a16="http://schemas.microsoft.com/office/drawing/2014/main" id="{994E0203-4309-468C-BAF3-4B6630981AC8}"/>
              </a:ext>
            </a:extLst>
          </p:cNvPr>
          <p:cNvSpPr>
            <a:spLocks xmlns:a="http://schemas.openxmlformats.org/drawingml/2006/main" noGrp="1"/>
          </p:cNvSpPr>
          <p:nvPr/>
        </p:nvSpPr>
        <p:spPr>
          <a:xfrm xmlns:a="http://schemas.openxmlformats.org/drawingml/2006/main">
            <a:off x="8553450" y="1857375"/>
            <a:ext cx="2743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Mitigacion</a:t>
            </a:r>
          </a:p>
        </p:txBody>
      </p:sp>
      <p:sp>
        <p:nvSpPr>
          <p:cNvPr id="38" name="">
            <a:extLst xmlns:a="http://schemas.openxmlformats.org/drawingml/2006/main">
              <a:ext uri="{FF2B5EF4-FFF2-40B4-BE49-F238E27FC236}">
                <a16:creationId xmlns:a16="http://schemas.microsoft.com/office/drawing/2014/main" id="{3D1950D5-D7E1-4523-BB2F-28FE31FCB228}"/>
              </a:ext>
            </a:extLst>
          </p:cNvPr>
          <p:cNvSpPr>
            <a:spLocks xmlns:a="http://schemas.openxmlformats.org/drawingml/2006/main" noGrp="1"/>
          </p:cNvSpPr>
          <p:nvPr/>
        </p:nvSpPr>
        <p:spPr>
          <a:xfrm xmlns:a="http://schemas.openxmlformats.org/drawingml/2006/main">
            <a:off x="5524500" y="2190750"/>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39" name="">
            <a:extLst xmlns:a="http://schemas.openxmlformats.org/drawingml/2006/main">
              <a:ext uri="{FF2B5EF4-FFF2-40B4-BE49-F238E27FC236}">
                <a16:creationId xmlns:a16="http://schemas.microsoft.com/office/drawing/2014/main" id="{5BC44EFE-35E5-4FDC-9612-DA2F3DBAB640}"/>
              </a:ext>
            </a:extLst>
          </p:cNvPr>
          <p:cNvSpPr>
            <a:spLocks xmlns:a="http://schemas.openxmlformats.org/drawingml/2006/main" noGrp="1"/>
          </p:cNvSpPr>
          <p:nvPr/>
        </p:nvSpPr>
        <p:spPr>
          <a:xfrm xmlns:a="http://schemas.openxmlformats.org/drawingml/2006/main">
            <a:off x="5619750" y="2266950"/>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Sobrecarga del directorio</a:t>
            </a:r>
          </a:p>
        </p:txBody>
      </p:sp>
      <p:sp>
        <p:nvSpPr>
          <p:cNvPr id="40" name="">
            <a:extLst xmlns:a="http://schemas.openxmlformats.org/drawingml/2006/main">
              <a:ext uri="{FF2B5EF4-FFF2-40B4-BE49-F238E27FC236}">
                <a16:creationId xmlns:a16="http://schemas.microsoft.com/office/drawing/2014/main" id="{D761D3B1-207B-4889-96E4-4E48D91F3801}"/>
              </a:ext>
            </a:extLst>
          </p:cNvPr>
          <p:cNvSpPr>
            <a:spLocks xmlns:a="http://schemas.openxmlformats.org/drawingml/2006/main" noGrp="1"/>
          </p:cNvSpPr>
          <p:nvPr/>
        </p:nvSpPr>
        <p:spPr>
          <a:xfrm xmlns:a="http://schemas.openxmlformats.org/drawingml/2006/main">
            <a:off x="8458200" y="2190750"/>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1" name="">
            <a:extLst xmlns:a="http://schemas.openxmlformats.org/drawingml/2006/main">
              <a:ext uri="{FF2B5EF4-FFF2-40B4-BE49-F238E27FC236}">
                <a16:creationId xmlns:a16="http://schemas.microsoft.com/office/drawing/2014/main" id="{B178642F-19E6-46F4-BC0A-AF93CC1AD23D}"/>
              </a:ext>
            </a:extLst>
          </p:cNvPr>
          <p:cNvSpPr>
            <a:spLocks xmlns:a="http://schemas.openxmlformats.org/drawingml/2006/main" noGrp="1"/>
          </p:cNvSpPr>
          <p:nvPr/>
        </p:nvSpPr>
        <p:spPr>
          <a:xfrm xmlns:a="http://schemas.openxmlformats.org/drawingml/2006/main">
            <a:off x="8553450" y="2266950"/>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Separar capa directiva y operativa.</a:t>
            </a:r>
          </a:p>
        </p:txBody>
      </p:sp>
      <p:sp>
        <p:nvSpPr>
          <p:cNvPr id="42" name="">
            <a:extLst xmlns:a="http://schemas.openxmlformats.org/drawingml/2006/main">
              <a:ext uri="{FF2B5EF4-FFF2-40B4-BE49-F238E27FC236}">
                <a16:creationId xmlns:a16="http://schemas.microsoft.com/office/drawing/2014/main" id="{1D864874-B6F5-4BCE-92DC-4FF43FB4D5DF}"/>
              </a:ext>
            </a:extLst>
          </p:cNvPr>
          <p:cNvSpPr>
            <a:spLocks xmlns:a="http://schemas.openxmlformats.org/drawingml/2006/main" noGrp="1"/>
          </p:cNvSpPr>
          <p:nvPr/>
        </p:nvSpPr>
        <p:spPr>
          <a:xfrm xmlns:a="http://schemas.openxmlformats.org/drawingml/2006/main">
            <a:off x="5524500" y="2624138"/>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3" name="">
            <a:extLst xmlns:a="http://schemas.openxmlformats.org/drawingml/2006/main">
              <a:ext uri="{FF2B5EF4-FFF2-40B4-BE49-F238E27FC236}">
                <a16:creationId xmlns:a16="http://schemas.microsoft.com/office/drawing/2014/main" id="{E4D24AE0-93D1-44F1-B001-FED1E397CBFD}"/>
              </a:ext>
            </a:extLst>
          </p:cNvPr>
          <p:cNvSpPr>
            <a:spLocks xmlns:a="http://schemas.openxmlformats.org/drawingml/2006/main" noGrp="1"/>
          </p:cNvSpPr>
          <p:nvPr/>
        </p:nvSpPr>
        <p:spPr>
          <a:xfrm xmlns:a="http://schemas.openxmlformats.org/drawingml/2006/main">
            <a:off x="5619750" y="2700338"/>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Falta de trazabilidad</a:t>
            </a:r>
          </a:p>
        </p:txBody>
      </p:sp>
      <p:sp>
        <p:nvSpPr>
          <p:cNvPr id="44" name="">
            <a:extLst xmlns:a="http://schemas.openxmlformats.org/drawingml/2006/main">
              <a:ext uri="{FF2B5EF4-FFF2-40B4-BE49-F238E27FC236}">
                <a16:creationId xmlns:a16="http://schemas.microsoft.com/office/drawing/2014/main" id="{714A2942-F5F0-47CE-AB29-F7B7B18F2E7A}"/>
              </a:ext>
            </a:extLst>
          </p:cNvPr>
          <p:cNvSpPr>
            <a:spLocks xmlns:a="http://schemas.openxmlformats.org/drawingml/2006/main" noGrp="1"/>
          </p:cNvSpPr>
          <p:nvPr/>
        </p:nvSpPr>
        <p:spPr>
          <a:xfrm xmlns:a="http://schemas.openxmlformats.org/drawingml/2006/main">
            <a:off x="8458200" y="2624138"/>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45" name="">
            <a:extLst xmlns:a="http://schemas.openxmlformats.org/drawingml/2006/main">
              <a:ext uri="{FF2B5EF4-FFF2-40B4-BE49-F238E27FC236}">
                <a16:creationId xmlns:a16="http://schemas.microsoft.com/office/drawing/2014/main" id="{EC61A9B1-66A0-42CF-A1E9-474CD8802F75}"/>
              </a:ext>
            </a:extLst>
          </p:cNvPr>
          <p:cNvSpPr>
            <a:spLocks xmlns:a="http://schemas.openxmlformats.org/drawingml/2006/main" noGrp="1"/>
          </p:cNvSpPr>
          <p:nvPr/>
        </p:nvSpPr>
        <p:spPr>
          <a:xfrm xmlns:a="http://schemas.openxmlformats.org/drawingml/2006/main">
            <a:off x="8553450" y="2700338"/>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IME Conecta + actas + matriz de acuerdos.</a:t>
            </a:r>
          </a:p>
        </p:txBody>
      </p:sp>
      <p:sp>
        <p:nvSpPr>
          <p:cNvPr id="46" name="">
            <a:extLst xmlns:a="http://schemas.openxmlformats.org/drawingml/2006/main">
              <a:ext uri="{FF2B5EF4-FFF2-40B4-BE49-F238E27FC236}">
                <a16:creationId xmlns:a16="http://schemas.microsoft.com/office/drawing/2014/main" id="{E842B95B-129F-4FD7-9E2D-8425F9654E72}"/>
              </a:ext>
            </a:extLst>
          </p:cNvPr>
          <p:cNvSpPr>
            <a:spLocks xmlns:a="http://schemas.openxmlformats.org/drawingml/2006/main" noGrp="1"/>
          </p:cNvSpPr>
          <p:nvPr/>
        </p:nvSpPr>
        <p:spPr>
          <a:xfrm xmlns:a="http://schemas.openxmlformats.org/drawingml/2006/main">
            <a:off x="5524500" y="3057525"/>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7" name="">
            <a:extLst xmlns:a="http://schemas.openxmlformats.org/drawingml/2006/main">
              <a:ext uri="{FF2B5EF4-FFF2-40B4-BE49-F238E27FC236}">
                <a16:creationId xmlns:a16="http://schemas.microsoft.com/office/drawing/2014/main" id="{BA41FE6F-CCE3-40D4-B041-848382044347}"/>
              </a:ext>
            </a:extLst>
          </p:cNvPr>
          <p:cNvSpPr>
            <a:spLocks xmlns:a="http://schemas.openxmlformats.org/drawingml/2006/main" noGrp="1"/>
          </p:cNvSpPr>
          <p:nvPr/>
        </p:nvSpPr>
        <p:spPr>
          <a:xfrm xmlns:a="http://schemas.openxmlformats.org/drawingml/2006/main">
            <a:off x="5619750" y="3133725"/>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Conflictos de interes</a:t>
            </a:r>
          </a:p>
        </p:txBody>
      </p:sp>
      <p:sp>
        <p:nvSpPr>
          <p:cNvPr id="48" name="">
            <a:extLst xmlns:a="http://schemas.openxmlformats.org/drawingml/2006/main">
              <a:ext uri="{FF2B5EF4-FFF2-40B4-BE49-F238E27FC236}">
                <a16:creationId xmlns:a16="http://schemas.microsoft.com/office/drawing/2014/main" id="{6B1174FF-B792-40C3-8F0D-044A62839A34}"/>
              </a:ext>
            </a:extLst>
          </p:cNvPr>
          <p:cNvSpPr>
            <a:spLocks xmlns:a="http://schemas.openxmlformats.org/drawingml/2006/main" noGrp="1"/>
          </p:cNvSpPr>
          <p:nvPr/>
        </p:nvSpPr>
        <p:spPr>
          <a:xfrm xmlns:a="http://schemas.openxmlformats.org/drawingml/2006/main">
            <a:off x="8458200" y="3057525"/>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49" name="">
            <a:extLst xmlns:a="http://schemas.openxmlformats.org/drawingml/2006/main">
              <a:ext uri="{FF2B5EF4-FFF2-40B4-BE49-F238E27FC236}">
                <a16:creationId xmlns:a16="http://schemas.microsoft.com/office/drawing/2014/main" id="{DB8002F7-85EE-44CD-9D07-F9E34BBA64DD}"/>
              </a:ext>
            </a:extLst>
          </p:cNvPr>
          <p:cNvSpPr>
            <a:spLocks xmlns:a="http://schemas.openxmlformats.org/drawingml/2006/main" noGrp="1"/>
          </p:cNvSpPr>
          <p:nvPr/>
        </p:nvSpPr>
        <p:spPr>
          <a:xfrm xmlns:a="http://schemas.openxmlformats.org/drawingml/2006/main">
            <a:off x="8553450" y="3133725"/>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Declaracion y abstencion cuando corresponda.</a:t>
            </a:r>
          </a:p>
        </p:txBody>
      </p:sp>
      <p:sp>
        <p:nvSpPr>
          <p:cNvPr id="50" name="">
            <a:extLst xmlns:a="http://schemas.openxmlformats.org/drawingml/2006/main">
              <a:ext uri="{FF2B5EF4-FFF2-40B4-BE49-F238E27FC236}">
                <a16:creationId xmlns:a16="http://schemas.microsoft.com/office/drawing/2014/main" id="{8307CABE-0C66-487A-8504-AEE76AC84779}"/>
              </a:ext>
            </a:extLst>
          </p:cNvPr>
          <p:cNvSpPr>
            <a:spLocks xmlns:a="http://schemas.openxmlformats.org/drawingml/2006/main" noGrp="1"/>
          </p:cNvSpPr>
          <p:nvPr/>
        </p:nvSpPr>
        <p:spPr>
          <a:xfrm xmlns:a="http://schemas.openxmlformats.org/drawingml/2006/main">
            <a:off x="5524500" y="3490913"/>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1" name="">
            <a:extLst xmlns:a="http://schemas.openxmlformats.org/drawingml/2006/main">
              <a:ext uri="{FF2B5EF4-FFF2-40B4-BE49-F238E27FC236}">
                <a16:creationId xmlns:a16="http://schemas.microsoft.com/office/drawing/2014/main" id="{B7F7702D-4CFA-4176-9FC4-08794BA54376}"/>
              </a:ext>
            </a:extLst>
          </p:cNvPr>
          <p:cNvSpPr>
            <a:spLocks xmlns:a="http://schemas.openxmlformats.org/drawingml/2006/main" noGrp="1"/>
          </p:cNvSpPr>
          <p:nvPr/>
        </p:nvSpPr>
        <p:spPr>
          <a:xfrm xmlns:a="http://schemas.openxmlformats.org/drawingml/2006/main">
            <a:off x="5619750" y="3567113"/>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Proyectos sin capacidad real</a:t>
            </a:r>
          </a:p>
        </p:txBody>
      </p:sp>
      <p:sp>
        <p:nvSpPr>
          <p:cNvPr id="52" name="">
            <a:extLst xmlns:a="http://schemas.openxmlformats.org/drawingml/2006/main">
              <a:ext uri="{FF2B5EF4-FFF2-40B4-BE49-F238E27FC236}">
                <a16:creationId xmlns:a16="http://schemas.microsoft.com/office/drawing/2014/main" id="{BE379E90-CC1B-45C7-A52B-5F7E87D1E0A7}"/>
              </a:ext>
            </a:extLst>
          </p:cNvPr>
          <p:cNvSpPr>
            <a:spLocks xmlns:a="http://schemas.openxmlformats.org/drawingml/2006/main" noGrp="1"/>
          </p:cNvSpPr>
          <p:nvPr/>
        </p:nvSpPr>
        <p:spPr>
          <a:xfrm xmlns:a="http://schemas.openxmlformats.org/drawingml/2006/main">
            <a:off x="8458200" y="3490913"/>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3" name="">
            <a:extLst xmlns:a="http://schemas.openxmlformats.org/drawingml/2006/main">
              <a:ext uri="{FF2B5EF4-FFF2-40B4-BE49-F238E27FC236}">
                <a16:creationId xmlns:a16="http://schemas.microsoft.com/office/drawing/2014/main" id="{2116E7D2-AA3E-4E4C-8ACE-6611CDE82310}"/>
              </a:ext>
            </a:extLst>
          </p:cNvPr>
          <p:cNvSpPr>
            <a:spLocks xmlns:a="http://schemas.openxmlformats.org/drawingml/2006/main" noGrp="1"/>
          </p:cNvSpPr>
          <p:nvPr/>
        </p:nvSpPr>
        <p:spPr>
          <a:xfrm xmlns:a="http://schemas.openxmlformats.org/drawingml/2006/main">
            <a:off x="8553450" y="3567113"/>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Matriz de priorizacion.</a:t>
            </a:r>
          </a:p>
        </p:txBody>
      </p:sp>
      <p:sp>
        <p:nvSpPr>
          <p:cNvPr id="54" name="">
            <a:extLst xmlns:a="http://schemas.openxmlformats.org/drawingml/2006/main">
              <a:ext uri="{FF2B5EF4-FFF2-40B4-BE49-F238E27FC236}">
                <a16:creationId xmlns:a16="http://schemas.microsoft.com/office/drawing/2014/main" id="{CDC8D39B-B668-4D05-A770-B862E56D632F}"/>
              </a:ext>
            </a:extLst>
          </p:cNvPr>
          <p:cNvSpPr>
            <a:spLocks xmlns:a="http://schemas.openxmlformats.org/drawingml/2006/main" noGrp="1"/>
          </p:cNvSpPr>
          <p:nvPr/>
        </p:nvSpPr>
        <p:spPr>
          <a:xfrm xmlns:a="http://schemas.openxmlformats.org/drawingml/2006/main">
            <a:off x="5524500" y="3924300"/>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5" name="">
            <a:extLst xmlns:a="http://schemas.openxmlformats.org/drawingml/2006/main">
              <a:ext uri="{FF2B5EF4-FFF2-40B4-BE49-F238E27FC236}">
                <a16:creationId xmlns:a16="http://schemas.microsoft.com/office/drawing/2014/main" id="{D16C34A8-8B51-413A-9F00-80215E305C44}"/>
              </a:ext>
            </a:extLst>
          </p:cNvPr>
          <p:cNvSpPr>
            <a:spLocks xmlns:a="http://schemas.openxmlformats.org/drawingml/2006/main" noGrp="1"/>
          </p:cNvSpPr>
          <p:nvPr/>
        </p:nvSpPr>
        <p:spPr>
          <a:xfrm xmlns:a="http://schemas.openxmlformats.org/drawingml/2006/main">
            <a:off x="5619750" y="4000500"/>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Mezcla entre IME y vehiculos externos</a:t>
            </a:r>
          </a:p>
        </p:txBody>
      </p:sp>
      <p:sp>
        <p:nvSpPr>
          <p:cNvPr id="56" name="">
            <a:extLst xmlns:a="http://schemas.openxmlformats.org/drawingml/2006/main">
              <a:ext uri="{FF2B5EF4-FFF2-40B4-BE49-F238E27FC236}">
                <a16:creationId xmlns:a16="http://schemas.microsoft.com/office/drawing/2014/main" id="{597A462A-9778-49E7-909A-375A87C70E1C}"/>
              </a:ext>
            </a:extLst>
          </p:cNvPr>
          <p:cNvSpPr>
            <a:spLocks xmlns:a="http://schemas.openxmlformats.org/drawingml/2006/main" noGrp="1"/>
          </p:cNvSpPr>
          <p:nvPr/>
        </p:nvSpPr>
        <p:spPr>
          <a:xfrm xmlns:a="http://schemas.openxmlformats.org/drawingml/2006/main">
            <a:off x="8458200" y="3924300"/>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57" name="">
            <a:extLst xmlns:a="http://schemas.openxmlformats.org/drawingml/2006/main">
              <a:ext uri="{FF2B5EF4-FFF2-40B4-BE49-F238E27FC236}">
                <a16:creationId xmlns:a16="http://schemas.microsoft.com/office/drawing/2014/main" id="{F75FAA2C-D2DF-46B0-BDF7-A85AA167450C}"/>
              </a:ext>
            </a:extLst>
          </p:cNvPr>
          <p:cNvSpPr>
            <a:spLocks xmlns:a="http://schemas.openxmlformats.org/drawingml/2006/main" noGrp="1"/>
          </p:cNvSpPr>
          <p:nvPr/>
        </p:nvSpPr>
        <p:spPr>
          <a:xfrm xmlns:a="http://schemas.openxmlformats.org/drawingml/2006/main">
            <a:off x="8553450" y="4000500"/>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Separacion juridica y funcional.</a:t>
            </a:r>
          </a:p>
        </p:txBody>
      </p:sp>
      <p:sp>
        <p:nvSpPr>
          <p:cNvPr id="58" name="">
            <a:extLst xmlns:a="http://schemas.openxmlformats.org/drawingml/2006/main">
              <a:ext uri="{FF2B5EF4-FFF2-40B4-BE49-F238E27FC236}">
                <a16:creationId xmlns:a16="http://schemas.microsoft.com/office/drawing/2014/main" id="{0E8E2888-9444-40FD-AF9F-443069C5D63C}"/>
              </a:ext>
            </a:extLst>
          </p:cNvPr>
          <p:cNvSpPr>
            <a:spLocks xmlns:a="http://schemas.openxmlformats.org/drawingml/2006/main" noGrp="1"/>
          </p:cNvSpPr>
          <p:nvPr/>
        </p:nvSpPr>
        <p:spPr>
          <a:xfrm xmlns:a="http://schemas.openxmlformats.org/drawingml/2006/main">
            <a:off x="5524500" y="4357688"/>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59" name="">
            <a:extLst xmlns:a="http://schemas.openxmlformats.org/drawingml/2006/main">
              <a:ext uri="{FF2B5EF4-FFF2-40B4-BE49-F238E27FC236}">
                <a16:creationId xmlns:a16="http://schemas.microsoft.com/office/drawing/2014/main" id="{39B4A61A-C9E9-418C-B9AD-ECEF6CF665C6}"/>
              </a:ext>
            </a:extLst>
          </p:cNvPr>
          <p:cNvSpPr>
            <a:spLocks xmlns:a="http://schemas.openxmlformats.org/drawingml/2006/main" noGrp="1"/>
          </p:cNvSpPr>
          <p:nvPr/>
        </p:nvSpPr>
        <p:spPr>
          <a:xfrm xmlns:a="http://schemas.openxmlformats.org/drawingml/2006/main">
            <a:off x="5619750" y="4433888"/>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Desorden documental</a:t>
            </a:r>
          </a:p>
        </p:txBody>
      </p:sp>
      <p:sp>
        <p:nvSpPr>
          <p:cNvPr id="60" name="">
            <a:extLst xmlns:a="http://schemas.openxmlformats.org/drawingml/2006/main">
              <a:ext uri="{FF2B5EF4-FFF2-40B4-BE49-F238E27FC236}">
                <a16:creationId xmlns:a16="http://schemas.microsoft.com/office/drawing/2014/main" id="{4D9DBC63-1617-4AEF-BBFD-00F0A531BA15}"/>
              </a:ext>
            </a:extLst>
          </p:cNvPr>
          <p:cNvSpPr>
            <a:spLocks xmlns:a="http://schemas.openxmlformats.org/drawingml/2006/main" noGrp="1"/>
          </p:cNvSpPr>
          <p:nvPr/>
        </p:nvSpPr>
        <p:spPr>
          <a:xfrm xmlns:a="http://schemas.openxmlformats.org/drawingml/2006/main">
            <a:off x="8458200" y="4357688"/>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1" name="">
            <a:extLst xmlns:a="http://schemas.openxmlformats.org/drawingml/2006/main">
              <a:ext uri="{FF2B5EF4-FFF2-40B4-BE49-F238E27FC236}">
                <a16:creationId xmlns:a16="http://schemas.microsoft.com/office/drawing/2014/main" id="{F56FC01A-CC61-4704-A7CF-CA27C3AF08E0}"/>
              </a:ext>
            </a:extLst>
          </p:cNvPr>
          <p:cNvSpPr>
            <a:spLocks xmlns:a="http://schemas.openxmlformats.org/drawingml/2006/main" noGrp="1"/>
          </p:cNvSpPr>
          <p:nvPr/>
        </p:nvSpPr>
        <p:spPr>
          <a:xfrm xmlns:a="http://schemas.openxmlformats.org/drawingml/2006/main">
            <a:off x="8553450" y="4433888"/>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Secretaria Tecnica y archivo oficial.</a:t>
            </a:r>
          </a:p>
        </p:txBody>
      </p:sp>
      <p:sp>
        <p:nvSpPr>
          <p:cNvPr id="62" name="">
            <a:extLst xmlns:a="http://schemas.openxmlformats.org/drawingml/2006/main">
              <a:ext uri="{FF2B5EF4-FFF2-40B4-BE49-F238E27FC236}">
                <a16:creationId xmlns:a16="http://schemas.microsoft.com/office/drawing/2014/main" id="{A8DE2571-378E-4F4D-9F70-9A6F9F0E377F}"/>
              </a:ext>
            </a:extLst>
          </p:cNvPr>
          <p:cNvSpPr>
            <a:spLocks xmlns:a="http://schemas.openxmlformats.org/drawingml/2006/main" noGrp="1"/>
          </p:cNvSpPr>
          <p:nvPr/>
        </p:nvSpPr>
        <p:spPr>
          <a:xfrm xmlns:a="http://schemas.openxmlformats.org/drawingml/2006/main">
            <a:off x="5524500" y="4791075"/>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63" name="">
            <a:extLst xmlns:a="http://schemas.openxmlformats.org/drawingml/2006/main">
              <a:ext uri="{FF2B5EF4-FFF2-40B4-BE49-F238E27FC236}">
                <a16:creationId xmlns:a16="http://schemas.microsoft.com/office/drawing/2014/main" id="{29576F88-D363-47FF-960F-381FBCF88A31}"/>
              </a:ext>
            </a:extLst>
          </p:cNvPr>
          <p:cNvSpPr>
            <a:spLocks xmlns:a="http://schemas.openxmlformats.org/drawingml/2006/main" noGrp="1"/>
          </p:cNvSpPr>
          <p:nvPr/>
        </p:nvSpPr>
        <p:spPr>
          <a:xfrm xmlns:a="http://schemas.openxmlformats.org/drawingml/2006/main">
            <a:off x="5619750" y="4867275"/>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Baja participacion de socios/as</a:t>
            </a:r>
          </a:p>
        </p:txBody>
      </p:sp>
      <p:sp>
        <p:nvSpPr>
          <p:cNvPr id="64" name="">
            <a:extLst xmlns:a="http://schemas.openxmlformats.org/drawingml/2006/main">
              <a:ext uri="{FF2B5EF4-FFF2-40B4-BE49-F238E27FC236}">
                <a16:creationId xmlns:a16="http://schemas.microsoft.com/office/drawing/2014/main" id="{DC93A0D3-4ADF-43D8-9921-B656EEE50492}"/>
              </a:ext>
            </a:extLst>
          </p:cNvPr>
          <p:cNvSpPr>
            <a:spLocks xmlns:a="http://schemas.openxmlformats.org/drawingml/2006/main" noGrp="1"/>
          </p:cNvSpPr>
          <p:nvPr/>
        </p:nvSpPr>
        <p:spPr>
          <a:xfrm xmlns:a="http://schemas.openxmlformats.org/drawingml/2006/main">
            <a:off x="8458200" y="4791075"/>
            <a:ext cx="2933700" cy="433388"/>
          </a:xfrm>
          <a:prstGeom xmlns:a="http://schemas.openxmlformats.org/drawingml/2006/main" prst="rect">
            <a:avLst/>
          </a:prstGeom>
          <a:solidFill xmlns:a="http://schemas.openxmlformats.org/drawingml/2006/main">
            <a:srgbClr val="111D25"/>
          </a:solidFill>
          <a:ln xmlns:a="http://schemas.openxmlformats.org/drawingml/2006/main" w="9525">
            <a:solidFill>
              <a:srgbClr val="234552"/>
            </a:solidFill>
            <a:prstDash val="solid"/>
          </a:ln>
        </p:spPr>
      </p:sp>
      <p:sp>
        <p:nvSpPr>
          <p:cNvPr id="65" name="">
            <a:extLst xmlns:a="http://schemas.openxmlformats.org/drawingml/2006/main">
              <a:ext uri="{FF2B5EF4-FFF2-40B4-BE49-F238E27FC236}">
                <a16:creationId xmlns:a16="http://schemas.microsoft.com/office/drawing/2014/main" id="{0A547908-1F87-4DB6-8F29-8D6494850C6C}"/>
              </a:ext>
            </a:extLst>
          </p:cNvPr>
          <p:cNvSpPr>
            <a:spLocks xmlns:a="http://schemas.openxmlformats.org/drawingml/2006/main" noGrp="1"/>
          </p:cNvSpPr>
          <p:nvPr/>
        </p:nvSpPr>
        <p:spPr>
          <a:xfrm xmlns:a="http://schemas.openxmlformats.org/drawingml/2006/main">
            <a:off x="8553450" y="4867275"/>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Comites y comunicacion clara.</a:t>
            </a:r>
          </a:p>
        </p:txBody>
      </p:sp>
      <p:sp>
        <p:nvSpPr>
          <p:cNvPr id="66" name="">
            <a:extLst xmlns:a="http://schemas.openxmlformats.org/drawingml/2006/main">
              <a:ext uri="{FF2B5EF4-FFF2-40B4-BE49-F238E27FC236}">
                <a16:creationId xmlns:a16="http://schemas.microsoft.com/office/drawing/2014/main" id="{BD2285E0-15A3-4D97-A534-B8525B8ACD04}"/>
              </a:ext>
            </a:extLst>
          </p:cNvPr>
          <p:cNvSpPr>
            <a:spLocks xmlns:a="http://schemas.openxmlformats.org/drawingml/2006/main" noGrp="1"/>
          </p:cNvSpPr>
          <p:nvPr/>
        </p:nvSpPr>
        <p:spPr>
          <a:xfrm xmlns:a="http://schemas.openxmlformats.org/drawingml/2006/main">
            <a:off x="5524500" y="5224463"/>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7" name="">
            <a:extLst xmlns:a="http://schemas.openxmlformats.org/drawingml/2006/main">
              <a:ext uri="{FF2B5EF4-FFF2-40B4-BE49-F238E27FC236}">
                <a16:creationId xmlns:a16="http://schemas.microsoft.com/office/drawing/2014/main" id="{C7B5F6E8-8858-4931-B736-CD001E99299F}"/>
              </a:ext>
            </a:extLst>
          </p:cNvPr>
          <p:cNvSpPr>
            <a:spLocks xmlns:a="http://schemas.openxmlformats.org/drawingml/2006/main" noGrp="1"/>
          </p:cNvSpPr>
          <p:nvPr/>
        </p:nvSpPr>
        <p:spPr>
          <a:xfrm xmlns:a="http://schemas.openxmlformats.org/drawingml/2006/main">
            <a:off x="5619750" y="5300663"/>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Dependencia de personas especificas</a:t>
            </a:r>
          </a:p>
        </p:txBody>
      </p:sp>
      <p:sp>
        <p:nvSpPr>
          <p:cNvPr id="68" name="">
            <a:extLst xmlns:a="http://schemas.openxmlformats.org/drawingml/2006/main">
              <a:ext uri="{FF2B5EF4-FFF2-40B4-BE49-F238E27FC236}">
                <a16:creationId xmlns:a16="http://schemas.microsoft.com/office/drawing/2014/main" id="{B558D211-8762-4ABB-A390-23A79386327B}"/>
              </a:ext>
            </a:extLst>
          </p:cNvPr>
          <p:cNvSpPr>
            <a:spLocks xmlns:a="http://schemas.openxmlformats.org/drawingml/2006/main" noGrp="1"/>
          </p:cNvSpPr>
          <p:nvPr/>
        </p:nvSpPr>
        <p:spPr>
          <a:xfrm xmlns:a="http://schemas.openxmlformats.org/drawingml/2006/main">
            <a:off x="8458200" y="5224463"/>
            <a:ext cx="2933700" cy="433388"/>
          </a:xfrm>
          <a:prstGeom xmlns:a="http://schemas.openxmlformats.org/drawingml/2006/main" prst="rect">
            <a:avLst/>
          </a:prstGeom>
          <a:solidFill xmlns:a="http://schemas.openxmlformats.org/drawingml/2006/main">
            <a:srgbClr val="101920"/>
          </a:solidFill>
          <a:ln xmlns:a="http://schemas.openxmlformats.org/drawingml/2006/main" w="9525">
            <a:solidFill>
              <a:srgbClr val="234552"/>
            </a:solidFill>
            <a:prstDash val="solid"/>
          </a:ln>
        </p:spPr>
      </p:sp>
      <p:sp>
        <p:nvSpPr>
          <p:cNvPr id="69" name="">
            <a:extLst xmlns:a="http://schemas.openxmlformats.org/drawingml/2006/main">
              <a:ext uri="{FF2B5EF4-FFF2-40B4-BE49-F238E27FC236}">
                <a16:creationId xmlns:a16="http://schemas.microsoft.com/office/drawing/2014/main" id="{E983D0A2-7DD0-451F-8FDC-816B612A02BF}"/>
              </a:ext>
            </a:extLst>
          </p:cNvPr>
          <p:cNvSpPr>
            <a:spLocks xmlns:a="http://schemas.openxmlformats.org/drawingml/2006/main" noGrp="1"/>
          </p:cNvSpPr>
          <p:nvPr/>
        </p:nvSpPr>
        <p:spPr>
          <a:xfrm xmlns:a="http://schemas.openxmlformats.org/drawingml/2006/main">
            <a:off x="8553450" y="5300663"/>
            <a:ext cx="2743200" cy="28098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Roles, procedimientos y archivo compartido.</a:t>
            </a:r>
          </a:p>
        </p:txBody>
      </p:sp>
      <p:sp>
        <p:nvSpPr>
          <p:cNvPr id="70" name="">
            <a:extLst xmlns:a="http://schemas.openxmlformats.org/drawingml/2006/main">
              <a:ext uri="{FF2B5EF4-FFF2-40B4-BE49-F238E27FC236}">
                <a16:creationId xmlns:a16="http://schemas.microsoft.com/office/drawing/2014/main" id="{1675321E-CF5E-4B5B-9782-EE3EAB502F2A}"/>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1A31E2C5-2326-48F0-BB56-626595A49938}"/>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72" name="">
            <a:extLst xmlns:a="http://schemas.openxmlformats.org/drawingml/2006/main">
              <a:ext uri="{FF2B5EF4-FFF2-40B4-BE49-F238E27FC236}">
                <a16:creationId xmlns:a16="http://schemas.microsoft.com/office/drawing/2014/main" id="{7B64C907-C445-4C2E-87FF-387B9F449739}"/>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16 / 20</a:t>
            </a:r>
          </a:p>
        </p:txBody>
      </p:sp>
    </p:spTree>
    <p:extLst>
      <p:ext uri="{BB962C8B-B14F-4D97-AF65-F5344CB8AC3E}">
        <p14:creationId xmlns:p14="http://schemas.microsoft.com/office/powerpoint/2010/main" val="44901846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3A9EC2-FF04-4F65-99E3-AA98DC2718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A532CDB-57DD-4EEA-8AC9-70C3F78B12E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051C9D3-1DCD-4DE0-AAE4-6365B3FC60AE}"/>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7C8A476-73DE-4415-B624-DCCE23873198}"/>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E0126C0-A2BF-4AD2-882B-AA3A05DB5A20}"/>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DE47946-96DD-45E0-8235-9E7603446E1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D7FE0C4-3638-4A2A-BE52-7BFFB3556675}"/>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BD96C1A-9C8B-4A7A-9ADE-635F04BB4ADC}"/>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32D5A50-FEBB-4099-8C4A-12640F19D533}"/>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02FF035-AEAE-455E-8B3C-E35356F2B207}"/>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08F64CA-DE23-4F58-88BE-2D9F9B5A9989}"/>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B4DE1142-2E14-4A2E-9C16-0EE9B7D56F1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68DE398-30C6-44CD-BB97-C3A1FC01A1D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E42E7D0-058B-471F-AB22-CC333C598F3E}"/>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6D357F3-F128-46B7-B095-BFFB08383CEA}"/>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C277EDC-3B6A-480F-BEE7-3717C1FB1BF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4587959-FA60-4071-B982-1BF5F955BF85}"/>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EF9CD37-7444-4DE0-AF6D-64C7B68C811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6225CB5-193E-4297-A504-16DDB7C60268}"/>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1AB53B5-2924-4610-B67E-C1A93B6B7260}"/>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7219848-3AEF-47A4-A04E-FD18CCB22805}"/>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B95D8F1-8936-4FCF-929D-38CEE6F510C5}"/>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37678B5-F1D5-4026-B2C0-EFC406785D26}"/>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55E3FF6-386F-499F-A6FD-2D2E3627F1F8}"/>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C584D55-382B-4B20-B0BA-6616B925B3D5}"/>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D28BCD1-C306-41B5-B6B7-BC8DE72AB4A6}"/>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036755E-05EB-4C2D-BD71-DDEF501B2F9D}"/>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6425BDB-04BA-4509-A929-88CE94DC10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D32120F9-3560-4657-A205-AC4CAEE77887}"/>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EEE48F71-3406-4DA6-980A-A1EED06BC6FD}"/>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17 · RUTA</a:t>
            </a:r>
          </a:p>
        </p:txBody>
      </p:sp>
      <p:sp>
        <p:nvSpPr>
          <p:cNvPr id="31" name="">
            <a:extLst xmlns:a="http://schemas.openxmlformats.org/drawingml/2006/main">
              <a:ext uri="{FF2B5EF4-FFF2-40B4-BE49-F238E27FC236}">
                <a16:creationId xmlns:a16="http://schemas.microsoft.com/office/drawing/2014/main" id="{0ADD171A-A805-4A15-93E9-AF896B3735F3}"/>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implementacion puede avanzar por hitos de 15, 30 y 90 dias.</a:t>
            </a:r>
          </a:p>
        </p:txBody>
      </p:sp>
      <p:sp>
        <p:nvSpPr>
          <p:cNvPr id="32" name="">
            <a:extLst xmlns:a="http://schemas.openxmlformats.org/drawingml/2006/main">
              <a:ext uri="{FF2B5EF4-FFF2-40B4-BE49-F238E27FC236}">
                <a16:creationId xmlns:a16="http://schemas.microsoft.com/office/drawing/2014/main" id="{745A3532-357F-40FD-8EC9-A04F2BC8B7BA}"/>
              </a:ext>
            </a:extLst>
          </p:cNvPr>
          <p:cNvSpPr>
            <a:spLocks xmlns:a="http://schemas.openxmlformats.org/drawingml/2006/main" noGrp="1"/>
          </p:cNvSpPr>
          <p:nvPr/>
        </p:nvSpPr>
        <p:spPr>
          <a:xfrm xmlns:a="http://schemas.openxmlformats.org/drawingml/2006/main">
            <a:off x="514350" y="1790700"/>
            <a:ext cx="4953000" cy="116205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9987AE4F-94DB-42C7-A67F-04D16C3A9FA8}"/>
              </a:ext>
            </a:extLst>
          </p:cNvPr>
          <p:cNvSpPr>
            <a:spLocks xmlns:a="http://schemas.openxmlformats.org/drawingml/2006/main" noGrp="1"/>
          </p:cNvSpPr>
          <p:nvPr/>
        </p:nvSpPr>
        <p:spPr>
          <a:xfrm xmlns:a="http://schemas.openxmlformats.org/drawingml/2006/main">
            <a:off x="723900" y="1943100"/>
            <a:ext cx="45339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3C8EE"/>
                </a:solidFill>
                <a:latin typeface="Aptos"/>
                <a:ea typeface="Aptos"/>
                <a:cs typeface="Aptos"/>
              </a:defRPr>
            </a:pPr>
            <a:r>
              <a:rPr sz="1575" b="0">
                <a:solidFill>
                  <a:srgbClr val="B3C8EE"/>
                </a:solidFill>
                <a:latin typeface="Aptos"/>
                <a:ea typeface="Aptos"/>
                <a:cs typeface="Aptos"/>
              </a:rPr>
              <a:t>Ruta de implementacion por horizontes de decision.</a:t>
            </a:r>
          </a:p>
        </p:txBody>
      </p:sp>
      <p:sp>
        <p:nvSpPr>
          <p:cNvPr id="34" name="">
            <a:extLst xmlns:a="http://schemas.openxmlformats.org/drawingml/2006/main">
              <a:ext uri="{FF2B5EF4-FFF2-40B4-BE49-F238E27FC236}">
                <a16:creationId xmlns:a16="http://schemas.microsoft.com/office/drawing/2014/main" id="{E9AFF23B-C6F0-4938-8DB7-56CF023974B4}"/>
              </a:ext>
            </a:extLst>
          </p:cNvPr>
          <p:cNvSpPr>
            <a:spLocks xmlns:a="http://schemas.openxmlformats.org/drawingml/2006/main" noGrp="1"/>
          </p:cNvSpPr>
          <p:nvPr/>
        </p:nvSpPr>
        <p:spPr>
          <a:xfrm xmlns:a="http://schemas.openxmlformats.org/drawingml/2006/main">
            <a:off x="514350" y="3276600"/>
            <a:ext cx="2557463" cy="2781300"/>
          </a:xfrm>
          <a:prstGeom xmlns:a="http://schemas.openxmlformats.org/drawingml/2006/main" prst="rect">
            <a:avLst/>
          </a:prstGeom>
          <a:solidFill xmlns:a="http://schemas.openxmlformats.org/drawingml/2006/main">
            <a:srgbClr val="111D25"/>
          </a:solidFill>
          <a:ln xmlns:a="http://schemas.openxmlformats.org/drawingml/2006/main" w="11430">
            <a:solidFill>
              <a:srgbClr val="15E9CD"/>
            </a:solidFill>
            <a:prstDash val="solid"/>
          </a:ln>
        </p:spPr>
      </p:sp>
      <p:sp>
        <p:nvSpPr>
          <p:cNvPr id="35" name="">
            <a:extLst xmlns:a="http://schemas.openxmlformats.org/drawingml/2006/main">
              <a:ext uri="{FF2B5EF4-FFF2-40B4-BE49-F238E27FC236}">
                <a16:creationId xmlns:a16="http://schemas.microsoft.com/office/drawing/2014/main" id="{114DA925-D84F-41E0-A29D-AA50CE62A1BC}"/>
              </a:ext>
            </a:extLst>
          </p:cNvPr>
          <p:cNvSpPr>
            <a:spLocks xmlns:a="http://schemas.openxmlformats.org/drawingml/2006/main" noGrp="1"/>
          </p:cNvSpPr>
          <p:nvPr/>
        </p:nvSpPr>
        <p:spPr>
          <a:xfrm xmlns:a="http://schemas.openxmlformats.org/drawingml/2006/main">
            <a:off x="647700" y="3409950"/>
            <a:ext cx="2290763"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15 dias</a:t>
            </a:r>
          </a:p>
        </p:txBody>
      </p:sp>
      <p:sp>
        <p:nvSpPr>
          <p:cNvPr id="36" name="">
            <a:extLst xmlns:a="http://schemas.openxmlformats.org/drawingml/2006/main">
              <a:ext uri="{FF2B5EF4-FFF2-40B4-BE49-F238E27FC236}">
                <a16:creationId xmlns:a16="http://schemas.microsoft.com/office/drawing/2014/main" id="{E287F651-1A8F-4882-AD5C-EA1D16727A25}"/>
              </a:ext>
            </a:extLst>
          </p:cNvPr>
          <p:cNvSpPr>
            <a:spLocks xmlns:a="http://schemas.openxmlformats.org/drawingml/2006/main" noGrp="1"/>
          </p:cNvSpPr>
          <p:nvPr/>
        </p:nvSpPr>
        <p:spPr>
          <a:xfrm xmlns:a="http://schemas.openxmlformats.org/drawingml/2006/main">
            <a:off x="647700" y="3867150"/>
            <a:ext cx="2290763"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Validar diagnostico.</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Ajustar concepto rector.</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Crear matriz de proyectos.</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Preparar postulacion Sercotec.</a:t>
            </a:r>
          </a:p>
        </p:txBody>
      </p:sp>
      <p:sp>
        <p:nvSpPr>
          <p:cNvPr id="37" name="">
            <a:extLst xmlns:a="http://schemas.openxmlformats.org/drawingml/2006/main">
              <a:ext uri="{FF2B5EF4-FFF2-40B4-BE49-F238E27FC236}">
                <a16:creationId xmlns:a16="http://schemas.microsoft.com/office/drawing/2014/main" id="{58523210-19B3-4579-ACCF-7525EC4B9127}"/>
              </a:ext>
            </a:extLst>
          </p:cNvPr>
          <p:cNvSpPr>
            <a:spLocks xmlns:a="http://schemas.openxmlformats.org/drawingml/2006/main" noGrp="1"/>
          </p:cNvSpPr>
          <p:nvPr/>
        </p:nvSpPr>
        <p:spPr>
          <a:xfrm xmlns:a="http://schemas.openxmlformats.org/drawingml/2006/main">
            <a:off x="3205163" y="3276600"/>
            <a:ext cx="2557463" cy="2781300"/>
          </a:xfrm>
          <a:prstGeom xmlns:a="http://schemas.openxmlformats.org/drawingml/2006/main" prst="rect">
            <a:avLst/>
          </a:prstGeom>
          <a:solidFill xmlns:a="http://schemas.openxmlformats.org/drawingml/2006/main">
            <a:srgbClr val="111D25"/>
          </a:solidFill>
          <a:ln xmlns:a="http://schemas.openxmlformats.org/drawingml/2006/main" w="11430">
            <a:solidFill>
              <a:srgbClr val="1370EF"/>
            </a:solidFill>
            <a:prstDash val="solid"/>
          </a:ln>
        </p:spPr>
      </p:sp>
      <p:sp>
        <p:nvSpPr>
          <p:cNvPr id="38" name="">
            <a:extLst xmlns:a="http://schemas.openxmlformats.org/drawingml/2006/main">
              <a:ext uri="{FF2B5EF4-FFF2-40B4-BE49-F238E27FC236}">
                <a16:creationId xmlns:a16="http://schemas.microsoft.com/office/drawing/2014/main" id="{A11FB981-837D-4A1A-A7FA-A4344E706249}"/>
              </a:ext>
            </a:extLst>
          </p:cNvPr>
          <p:cNvSpPr>
            <a:spLocks xmlns:a="http://schemas.openxmlformats.org/drawingml/2006/main" noGrp="1"/>
          </p:cNvSpPr>
          <p:nvPr/>
        </p:nvSpPr>
        <p:spPr>
          <a:xfrm xmlns:a="http://schemas.openxmlformats.org/drawingml/2006/main">
            <a:off x="3338513" y="3409950"/>
            <a:ext cx="2290763"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30 dias</a:t>
            </a:r>
          </a:p>
        </p:txBody>
      </p:sp>
      <p:sp>
        <p:nvSpPr>
          <p:cNvPr id="39" name="">
            <a:extLst xmlns:a="http://schemas.openxmlformats.org/drawingml/2006/main">
              <a:ext uri="{FF2B5EF4-FFF2-40B4-BE49-F238E27FC236}">
                <a16:creationId xmlns:a16="http://schemas.microsoft.com/office/drawing/2014/main" id="{B7541D28-7BB9-41C8-A566-683684A7A699}"/>
              </a:ext>
            </a:extLst>
          </p:cNvPr>
          <p:cNvSpPr>
            <a:spLocks xmlns:a="http://schemas.openxmlformats.org/drawingml/2006/main" noGrp="1"/>
          </p:cNvSpPr>
          <p:nvPr/>
        </p:nvSpPr>
        <p:spPr>
          <a:xfrm xmlns:a="http://schemas.openxmlformats.org/drawingml/2006/main">
            <a:off x="3338513" y="3867150"/>
            <a:ext cx="2290763"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Actualizar base de socios/as.</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Disenar version inicial de IME Conecta.</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Activar comites prioritarios.</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Ordenar documentacion.</a:t>
            </a:r>
          </a:p>
        </p:txBody>
      </p:sp>
      <p:sp>
        <p:nvSpPr>
          <p:cNvPr id="40" name="">
            <a:extLst xmlns:a="http://schemas.openxmlformats.org/drawingml/2006/main">
              <a:ext uri="{FF2B5EF4-FFF2-40B4-BE49-F238E27FC236}">
                <a16:creationId xmlns:a16="http://schemas.microsoft.com/office/drawing/2014/main" id="{2639E6E2-BA02-473B-9393-4B5EC70C5F79}"/>
              </a:ext>
            </a:extLst>
          </p:cNvPr>
          <p:cNvSpPr>
            <a:spLocks xmlns:a="http://schemas.openxmlformats.org/drawingml/2006/main" noGrp="1"/>
          </p:cNvSpPr>
          <p:nvPr/>
        </p:nvSpPr>
        <p:spPr>
          <a:xfrm xmlns:a="http://schemas.openxmlformats.org/drawingml/2006/main">
            <a:off x="5895975" y="3276600"/>
            <a:ext cx="2557463" cy="2781300"/>
          </a:xfrm>
          <a:prstGeom xmlns:a="http://schemas.openxmlformats.org/drawingml/2006/main" prst="rect">
            <a:avLst/>
          </a:prstGeom>
          <a:solidFill xmlns:a="http://schemas.openxmlformats.org/drawingml/2006/main">
            <a:srgbClr val="111D25"/>
          </a:solidFill>
          <a:ln xmlns:a="http://schemas.openxmlformats.org/drawingml/2006/main" w="11430">
            <a:solidFill>
              <a:srgbClr val="1370EF"/>
            </a:solidFill>
            <a:prstDash val="solid"/>
          </a:ln>
        </p:spPr>
      </p:sp>
      <p:sp>
        <p:nvSpPr>
          <p:cNvPr id="41" name="">
            <a:extLst xmlns:a="http://schemas.openxmlformats.org/drawingml/2006/main">
              <a:ext uri="{FF2B5EF4-FFF2-40B4-BE49-F238E27FC236}">
                <a16:creationId xmlns:a16="http://schemas.microsoft.com/office/drawing/2014/main" id="{F2C5D9F2-88DE-426C-8EB5-BCF529D66133}"/>
              </a:ext>
            </a:extLst>
          </p:cNvPr>
          <p:cNvSpPr>
            <a:spLocks xmlns:a="http://schemas.openxmlformats.org/drawingml/2006/main" noGrp="1"/>
          </p:cNvSpPr>
          <p:nvPr/>
        </p:nvSpPr>
        <p:spPr>
          <a:xfrm xmlns:a="http://schemas.openxmlformats.org/drawingml/2006/main">
            <a:off x="6029325" y="3409950"/>
            <a:ext cx="2290763"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90 dias</a:t>
            </a:r>
          </a:p>
        </p:txBody>
      </p:sp>
      <p:sp>
        <p:nvSpPr>
          <p:cNvPr id="42" name="">
            <a:extLst xmlns:a="http://schemas.openxmlformats.org/drawingml/2006/main">
              <a:ext uri="{FF2B5EF4-FFF2-40B4-BE49-F238E27FC236}">
                <a16:creationId xmlns:a16="http://schemas.microsoft.com/office/drawing/2014/main" id="{9A302946-1A63-4FFE-9481-2C4DEA2FD1C9}"/>
              </a:ext>
            </a:extLst>
          </p:cNvPr>
          <p:cNvSpPr>
            <a:spLocks xmlns:a="http://schemas.openxmlformats.org/drawingml/2006/main" noGrp="1"/>
          </p:cNvSpPr>
          <p:nvPr/>
        </p:nvSpPr>
        <p:spPr>
          <a:xfrm xmlns:a="http://schemas.openxmlformats.org/drawingml/2006/main">
            <a:off x="6029325" y="3867150"/>
            <a:ext cx="2290763"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Piloto operativo de IME Conecta.</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Matriz de acuerdos funcionando.</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Matriz de proyectos activa.</a:t>
            </a:r>
          </a:p>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Carteras directivas reportando avances.</a:t>
            </a:r>
          </a:p>
        </p:txBody>
      </p:sp>
      <p:sp>
        <p:nvSpPr>
          <p:cNvPr id="43" name="">
            <a:extLst xmlns:a="http://schemas.openxmlformats.org/drawingml/2006/main">
              <a:ext uri="{FF2B5EF4-FFF2-40B4-BE49-F238E27FC236}">
                <a16:creationId xmlns:a16="http://schemas.microsoft.com/office/drawing/2014/main" id="{4F2209D9-9F16-4155-87CA-A572FF9AF480}"/>
              </a:ext>
            </a:extLst>
          </p:cNvPr>
          <p:cNvSpPr>
            <a:spLocks xmlns:a="http://schemas.openxmlformats.org/drawingml/2006/main" noGrp="1"/>
          </p:cNvSpPr>
          <p:nvPr/>
        </p:nvSpPr>
        <p:spPr>
          <a:xfrm xmlns:a="http://schemas.openxmlformats.org/drawingml/2006/main">
            <a:off x="8586788" y="3276600"/>
            <a:ext cx="2557463" cy="2781300"/>
          </a:xfrm>
          <a:prstGeom xmlns:a="http://schemas.openxmlformats.org/drawingml/2006/main" prst="rect">
            <a:avLst/>
          </a:prstGeom>
          <a:solidFill xmlns:a="http://schemas.openxmlformats.org/drawingml/2006/main">
            <a:srgbClr val="111D25"/>
          </a:solidFill>
          <a:ln xmlns:a="http://schemas.openxmlformats.org/drawingml/2006/main" w="11430">
            <a:solidFill>
              <a:srgbClr val="83F0E2"/>
            </a:solidFill>
            <a:prstDash val="solid"/>
          </a:ln>
        </p:spPr>
      </p:sp>
      <p:sp>
        <p:nvSpPr>
          <p:cNvPr id="44" name="">
            <a:extLst xmlns:a="http://schemas.openxmlformats.org/drawingml/2006/main">
              <a:ext uri="{FF2B5EF4-FFF2-40B4-BE49-F238E27FC236}">
                <a16:creationId xmlns:a16="http://schemas.microsoft.com/office/drawing/2014/main" id="{A624E934-F2DB-4E0E-BA39-BEA3F8959227}"/>
              </a:ext>
            </a:extLst>
          </p:cNvPr>
          <p:cNvSpPr>
            <a:spLocks xmlns:a="http://schemas.openxmlformats.org/drawingml/2006/main" noGrp="1"/>
          </p:cNvSpPr>
          <p:nvPr/>
        </p:nvSpPr>
        <p:spPr>
          <a:xfrm xmlns:a="http://schemas.openxmlformats.org/drawingml/2006/main">
            <a:off x="8720138" y="3409950"/>
            <a:ext cx="2290763"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2027</a:t>
            </a:r>
          </a:p>
        </p:txBody>
      </p:sp>
      <p:sp>
        <p:nvSpPr>
          <p:cNvPr id="45" name="">
            <a:extLst xmlns:a="http://schemas.openxmlformats.org/drawingml/2006/main">
              <a:ext uri="{FF2B5EF4-FFF2-40B4-BE49-F238E27FC236}">
                <a16:creationId xmlns:a16="http://schemas.microsoft.com/office/drawing/2014/main" id="{8517432D-623A-44EB-B7FD-70C9622FDEF8}"/>
              </a:ext>
            </a:extLst>
          </p:cNvPr>
          <p:cNvSpPr>
            <a:spLocks xmlns:a="http://schemas.openxmlformats.org/drawingml/2006/main" noGrp="1"/>
          </p:cNvSpPr>
          <p:nvPr/>
        </p:nvSpPr>
        <p:spPr>
          <a:xfrm xmlns:a="http://schemas.openxmlformats.org/drawingml/2006/main">
            <a:off x="8720138" y="3867150"/>
            <a:ext cx="2290763"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EFF1F5"/>
                </a:solidFill>
                <a:latin typeface="Aptos"/>
                <a:ea typeface="Aptos"/>
                <a:cs typeface="Aptos"/>
              </a:defRPr>
            </a:pPr>
            <a:r>
              <a:rPr sz="1050" b="0">
                <a:solidFill>
                  <a:srgbClr val="EFF1F5"/>
                </a:solidFill>
                <a:latin typeface="Aptos"/>
                <a:ea typeface="Aptos"/>
                <a:cs typeface="Aptos"/>
              </a:rPr>
              <a:t>• IME Link 2027 como validacion publica de la nueva infr…</a:t>
            </a:r>
          </a:p>
        </p:txBody>
      </p:sp>
      <p:sp>
        <p:nvSpPr>
          <p:cNvPr id="46" name="">
            <a:extLst xmlns:a="http://schemas.openxmlformats.org/drawingml/2006/main">
              <a:ext uri="{FF2B5EF4-FFF2-40B4-BE49-F238E27FC236}">
                <a16:creationId xmlns:a16="http://schemas.microsoft.com/office/drawing/2014/main" id="{89731B10-7B40-47CD-A12D-8EEAE4D516A8}"/>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AE188A15-9FB8-4628-9192-AD96377BD2FB}"/>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8" name="">
            <a:extLst xmlns:a="http://schemas.openxmlformats.org/drawingml/2006/main">
              <a:ext uri="{FF2B5EF4-FFF2-40B4-BE49-F238E27FC236}">
                <a16:creationId xmlns:a16="http://schemas.microsoft.com/office/drawing/2014/main" id="{3C454576-BCAE-4C10-AC28-A639EE07BCF6}"/>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17 / 20</a:t>
            </a:r>
          </a:p>
        </p:txBody>
      </p:sp>
    </p:spTree>
    <p:extLst>
      <p:ext uri="{BB962C8B-B14F-4D97-AF65-F5344CB8AC3E}">
        <p14:creationId xmlns:p14="http://schemas.microsoft.com/office/powerpoint/2010/main" val="21029365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619650-64E4-48B2-8A86-79EE91005B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742C84A-855E-478E-82BB-C5F272BF79E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EBCEB21-B2D6-4036-8EE6-7F8748118FD3}"/>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2D38371-76A3-4CEF-A63E-64FCBD0782B7}"/>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E556461-0F3F-4E5B-A643-4BBF66B52E48}"/>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BE8CF10-05D3-48B0-865F-E689125ED48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39AAC9D-2425-4DB4-8418-8323A88175BF}"/>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7BC3C88-E63C-4BC3-A526-2DB04E96856A}"/>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EF2DDBC-B568-4F72-9803-C2A396047F75}"/>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5A0FC0B-195C-4304-9123-277219F5332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B055561-34A3-499F-8F9D-3AF9B07DA1B7}"/>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3F1C791-06D7-49D4-855E-1712E1CF6FAC}"/>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55D8676-C176-45DA-B28A-50FAA615472E}"/>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50052CA-103D-477A-B864-DD400913FB0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D0268CA-40B7-45C6-A4F0-3FBA4D9C4542}"/>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95776E9-58C7-49F8-A3BC-3B1CBB1ABC4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1388D0D-9B62-4C3A-B0E0-9F4D44228A6A}"/>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0F6D4FC-8AC0-40C2-91D7-1AEDD9397D3C}"/>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8F99397C-5F0A-4924-BFAD-815AB3D2BEE3}"/>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AD35EE4-B7B9-4097-9797-0430884C47DD}"/>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95828DD-A0AD-4E79-8A43-0D7BF6FAFE21}"/>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BEC4082-30AC-4DED-B7D7-510820DB6FF7}"/>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E741452-13FC-4B76-BFE8-88A215C2FC1D}"/>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CBAAAA5-FB28-453E-9DA6-196B15892C16}"/>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698D8D7-3B86-4B86-8331-EECB933F3B92}"/>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FA950B49-95AB-42F7-B3F6-4F3841359893}"/>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EF31ED0-80E8-402A-AA51-BC6855378E40}"/>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2F5218C-57D1-4BF4-8AF0-ADE46F77AB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755D1"/>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22B1F1B6-3C45-4EC0-BA12-07AEB450538F}"/>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2034809D-3F49-43A5-8061-303A3705E39D}"/>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18 · DISCUSION</a:t>
            </a:r>
          </a:p>
        </p:txBody>
      </p:sp>
      <p:sp>
        <p:nvSpPr>
          <p:cNvPr id="31" name="">
            <a:extLst xmlns:a="http://schemas.openxmlformats.org/drawingml/2006/main">
              <a:ext uri="{FF2B5EF4-FFF2-40B4-BE49-F238E27FC236}">
                <a16:creationId xmlns:a16="http://schemas.microsoft.com/office/drawing/2014/main" id="{372016F1-8AED-472F-99BD-738183698870}"/>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sesion debe validar diagnostico, foco y proximos ajustes.</a:t>
            </a:r>
          </a:p>
        </p:txBody>
      </p:sp>
      <p:sp>
        <p:nvSpPr>
          <p:cNvPr id="32" name="">
            <a:extLst xmlns:a="http://schemas.openxmlformats.org/drawingml/2006/main">
              <a:ext uri="{FF2B5EF4-FFF2-40B4-BE49-F238E27FC236}">
                <a16:creationId xmlns:a16="http://schemas.microsoft.com/office/drawing/2014/main" id="{3823A94B-118E-46B0-B8B4-334614961159}"/>
              </a:ext>
            </a:extLst>
          </p:cNvPr>
          <p:cNvSpPr>
            <a:spLocks xmlns:a="http://schemas.openxmlformats.org/drawingml/2006/main" noGrp="1"/>
          </p:cNvSpPr>
          <p:nvPr/>
        </p:nvSpPr>
        <p:spPr>
          <a:xfrm xmlns:a="http://schemas.openxmlformats.org/drawingml/2006/main">
            <a:off x="514350" y="1790700"/>
            <a:ext cx="4762500" cy="116205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9FD526CB-1D95-4DE2-B491-1BD5D4D2FC2B}"/>
              </a:ext>
            </a:extLst>
          </p:cNvPr>
          <p:cNvSpPr>
            <a:spLocks xmlns:a="http://schemas.openxmlformats.org/drawingml/2006/main" noGrp="1"/>
          </p:cNvSpPr>
          <p:nvPr/>
        </p:nvSpPr>
        <p:spPr>
          <a:xfrm xmlns:a="http://schemas.openxmlformats.org/drawingml/2006/main">
            <a:off x="723900" y="1943100"/>
            <a:ext cx="4343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3C8EE"/>
                </a:solidFill>
                <a:latin typeface="Aptos"/>
                <a:ea typeface="Aptos"/>
                <a:cs typeface="Aptos"/>
              </a:defRPr>
            </a:pPr>
            <a:r>
              <a:rPr sz="1425" b="0">
                <a:solidFill>
                  <a:srgbClr val="B3C8EE"/>
                </a:solidFill>
                <a:latin typeface="Aptos"/>
                <a:ea typeface="Aptos"/>
                <a:cs typeface="Aptos"/>
              </a:rPr>
              <a:t>Esta propuesta no busca cerrar una decision de manera automatica, sino abrir una discusion estrategica del directorio sobre la forma en que IME Chile debe organizarse para enfrentar una nueva escala gremial.</a:t>
            </a:r>
          </a:p>
        </p:txBody>
      </p:sp>
      <p:sp>
        <p:nvSpPr>
          <p:cNvPr id="34" name="">
            <a:extLst xmlns:a="http://schemas.openxmlformats.org/drawingml/2006/main">
              <a:ext uri="{FF2B5EF4-FFF2-40B4-BE49-F238E27FC236}">
                <a16:creationId xmlns:a16="http://schemas.microsoft.com/office/drawing/2014/main" id="{9143BED0-12A1-4A34-BC61-EE4568EE8640}"/>
              </a:ext>
            </a:extLst>
          </p:cNvPr>
          <p:cNvSpPr>
            <a:spLocks xmlns:a="http://schemas.openxmlformats.org/drawingml/2006/main" noGrp="1"/>
          </p:cNvSpPr>
          <p:nvPr/>
        </p:nvSpPr>
        <p:spPr>
          <a:xfrm xmlns:a="http://schemas.openxmlformats.org/drawingml/2006/main">
            <a:off x="5810250" y="18669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BE2059F9-458C-4017-BD54-82C65314A969}"/>
              </a:ext>
            </a:extLst>
          </p:cNvPr>
          <p:cNvSpPr>
            <a:spLocks xmlns:a="http://schemas.openxmlformats.org/drawingml/2006/main" noGrp="1"/>
          </p:cNvSpPr>
          <p:nvPr/>
        </p:nvSpPr>
        <p:spPr>
          <a:xfrm xmlns:a="http://schemas.openxmlformats.org/drawingml/2006/main">
            <a:off x="6057900" y="179070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El directorio comparte el diagnostico operacional?</a:t>
            </a:r>
          </a:p>
        </p:txBody>
      </p:sp>
      <p:sp>
        <p:nvSpPr>
          <p:cNvPr id="36" name="">
            <a:extLst xmlns:a="http://schemas.openxmlformats.org/drawingml/2006/main">
              <a:ext uri="{FF2B5EF4-FFF2-40B4-BE49-F238E27FC236}">
                <a16:creationId xmlns:a16="http://schemas.microsoft.com/office/drawing/2014/main" id="{C9854EBC-D066-4CE9-8A6D-B24A58AD68E4}"/>
              </a:ext>
            </a:extLst>
          </p:cNvPr>
          <p:cNvSpPr>
            <a:spLocks xmlns:a="http://schemas.openxmlformats.org/drawingml/2006/main" noGrp="1"/>
          </p:cNvSpPr>
          <p:nvPr/>
        </p:nvSpPr>
        <p:spPr>
          <a:xfrm xmlns:a="http://schemas.openxmlformats.org/drawingml/2006/main">
            <a:off x="5810250" y="23431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77CBAE1C-9CEA-48D6-81A2-2C987C321CF9}"/>
              </a:ext>
            </a:extLst>
          </p:cNvPr>
          <p:cNvSpPr>
            <a:spLocks xmlns:a="http://schemas.openxmlformats.org/drawingml/2006/main" noGrp="1"/>
          </p:cNvSpPr>
          <p:nvPr/>
        </p:nvSpPr>
        <p:spPr>
          <a:xfrm xmlns:a="http://schemas.openxmlformats.org/drawingml/2006/main">
            <a:off x="6057900" y="226695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El concepto "Gobernanza operacional para una nueva escala gremial" representa bien el momento…</a:t>
            </a:r>
          </a:p>
        </p:txBody>
      </p:sp>
      <p:sp>
        <p:nvSpPr>
          <p:cNvPr id="38" name="">
            <a:extLst xmlns:a="http://schemas.openxmlformats.org/drawingml/2006/main">
              <a:ext uri="{FF2B5EF4-FFF2-40B4-BE49-F238E27FC236}">
                <a16:creationId xmlns:a16="http://schemas.microsoft.com/office/drawing/2014/main" id="{7F25207B-C76F-46B3-9EA9-6765B0FC7D8D}"/>
              </a:ext>
            </a:extLst>
          </p:cNvPr>
          <p:cNvSpPr>
            <a:spLocks xmlns:a="http://schemas.openxmlformats.org/drawingml/2006/main" noGrp="1"/>
          </p:cNvSpPr>
          <p:nvPr/>
        </p:nvSpPr>
        <p:spPr>
          <a:xfrm xmlns:a="http://schemas.openxmlformats.org/drawingml/2006/main">
            <a:off x="5810250" y="28194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3501E251-65C8-497F-A72D-C4675C07ABD3}"/>
              </a:ext>
            </a:extLst>
          </p:cNvPr>
          <p:cNvSpPr>
            <a:spLocks xmlns:a="http://schemas.openxmlformats.org/drawingml/2006/main" noGrp="1"/>
          </p:cNvSpPr>
          <p:nvPr/>
        </p:nvSpPr>
        <p:spPr>
          <a:xfrm xmlns:a="http://schemas.openxmlformats.org/drawingml/2006/main">
            <a:off x="6057900" y="274320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IME Conecta debe ser el foco principal de corto plazo?</a:t>
            </a:r>
          </a:p>
        </p:txBody>
      </p:sp>
      <p:sp>
        <p:nvSpPr>
          <p:cNvPr id="40" name="">
            <a:extLst xmlns:a="http://schemas.openxmlformats.org/drawingml/2006/main">
              <a:ext uri="{FF2B5EF4-FFF2-40B4-BE49-F238E27FC236}">
                <a16:creationId xmlns:a16="http://schemas.microsoft.com/office/drawing/2014/main" id="{4667170D-7277-4981-AB03-B559D0D656B1}"/>
              </a:ext>
            </a:extLst>
          </p:cNvPr>
          <p:cNvSpPr>
            <a:spLocks xmlns:a="http://schemas.openxmlformats.org/drawingml/2006/main" noGrp="1"/>
          </p:cNvSpPr>
          <p:nvPr/>
        </p:nvSpPr>
        <p:spPr>
          <a:xfrm xmlns:a="http://schemas.openxmlformats.org/drawingml/2006/main">
            <a:off x="5810250" y="32956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9D2BEF42-DAA8-4A48-9135-CC5DE9892F82}"/>
              </a:ext>
            </a:extLst>
          </p:cNvPr>
          <p:cNvSpPr>
            <a:spLocks xmlns:a="http://schemas.openxmlformats.org/drawingml/2006/main" noGrp="1"/>
          </p:cNvSpPr>
          <p:nvPr/>
        </p:nvSpPr>
        <p:spPr>
          <a:xfrm xmlns:a="http://schemas.openxmlformats.org/drawingml/2006/main">
            <a:off x="6057900" y="321945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IME Link 2027 debe operar como sujeto de prueba estrategico?</a:t>
            </a:r>
          </a:p>
        </p:txBody>
      </p:sp>
      <p:sp>
        <p:nvSpPr>
          <p:cNvPr id="42" name="">
            <a:extLst xmlns:a="http://schemas.openxmlformats.org/drawingml/2006/main">
              <a:ext uri="{FF2B5EF4-FFF2-40B4-BE49-F238E27FC236}">
                <a16:creationId xmlns:a16="http://schemas.microsoft.com/office/drawing/2014/main" id="{3E3B39D2-7697-4CFF-B015-55EEE64F0FB6}"/>
              </a:ext>
            </a:extLst>
          </p:cNvPr>
          <p:cNvSpPr>
            <a:spLocks xmlns:a="http://schemas.openxmlformats.org/drawingml/2006/main" noGrp="1"/>
          </p:cNvSpPr>
          <p:nvPr/>
        </p:nvSpPr>
        <p:spPr>
          <a:xfrm xmlns:a="http://schemas.openxmlformats.org/drawingml/2006/main">
            <a:off x="5810250" y="37719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E5715501-F5E1-4F80-804F-C6C1B46039E4}"/>
              </a:ext>
            </a:extLst>
          </p:cNvPr>
          <p:cNvSpPr>
            <a:spLocks xmlns:a="http://schemas.openxmlformats.org/drawingml/2006/main" noGrp="1"/>
          </p:cNvSpPr>
          <p:nvPr/>
        </p:nvSpPr>
        <p:spPr>
          <a:xfrm xmlns:a="http://schemas.openxmlformats.org/drawingml/2006/main">
            <a:off x="6057900" y="369570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Es necesario reformular objetivos antes de votar?</a:t>
            </a:r>
          </a:p>
        </p:txBody>
      </p:sp>
      <p:sp>
        <p:nvSpPr>
          <p:cNvPr id="44" name="">
            <a:extLst xmlns:a="http://schemas.openxmlformats.org/drawingml/2006/main">
              <a:ext uri="{FF2B5EF4-FFF2-40B4-BE49-F238E27FC236}">
                <a16:creationId xmlns:a16="http://schemas.microsoft.com/office/drawing/2014/main" id="{6580F31D-DC62-4F3D-A9B0-A952F455A7F1}"/>
              </a:ext>
            </a:extLst>
          </p:cNvPr>
          <p:cNvSpPr>
            <a:spLocks xmlns:a="http://schemas.openxmlformats.org/drawingml/2006/main" noGrp="1"/>
          </p:cNvSpPr>
          <p:nvPr/>
        </p:nvSpPr>
        <p:spPr>
          <a:xfrm xmlns:a="http://schemas.openxmlformats.org/drawingml/2006/main">
            <a:off x="5810250" y="42481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C628CF45-3E7E-40A5-A50A-EB45609A5B88}"/>
              </a:ext>
            </a:extLst>
          </p:cNvPr>
          <p:cNvSpPr>
            <a:spLocks xmlns:a="http://schemas.openxmlformats.org/drawingml/2006/main" noGrp="1"/>
          </p:cNvSpPr>
          <p:nvPr/>
        </p:nvSpPr>
        <p:spPr>
          <a:xfrm xmlns:a="http://schemas.openxmlformats.org/drawingml/2006/main">
            <a:off x="6057900" y="417195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Que acuerdos minimos deberian quedar para una proxima sesion o votacion?</a:t>
            </a:r>
          </a:p>
        </p:txBody>
      </p:sp>
      <p:sp>
        <p:nvSpPr>
          <p:cNvPr id="46" name="">
            <a:extLst xmlns:a="http://schemas.openxmlformats.org/drawingml/2006/main">
              <a:ext uri="{FF2B5EF4-FFF2-40B4-BE49-F238E27FC236}">
                <a16:creationId xmlns:a16="http://schemas.microsoft.com/office/drawing/2014/main" id="{055D4891-A0F9-4D08-913A-F06101DD980B}"/>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C6397AE3-09ED-4F52-87D9-0A7AC5F0C7BD}"/>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8" name="">
            <a:extLst xmlns:a="http://schemas.openxmlformats.org/drawingml/2006/main">
              <a:ext uri="{FF2B5EF4-FFF2-40B4-BE49-F238E27FC236}">
                <a16:creationId xmlns:a16="http://schemas.microsoft.com/office/drawing/2014/main" id="{FA922E98-9BB1-4B59-B01A-993CB4B7E384}"/>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18 / 20</a:t>
            </a:r>
          </a:p>
        </p:txBody>
      </p:sp>
    </p:spTree>
    <p:extLst>
      <p:ext uri="{BB962C8B-B14F-4D97-AF65-F5344CB8AC3E}">
        <p14:creationId xmlns:p14="http://schemas.microsoft.com/office/powerpoint/2010/main" val="49129010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515A28-19DA-40F0-AE22-7DEBEA763E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1234305-5D35-4B48-94F2-C6C7F6E72F5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402D0AF-9A50-4EE0-A286-C1EACB70479E}"/>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37F2141-8759-4512-92C2-08548ABEC08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D9B551F-5655-4FBC-BDE7-88FD3919FC81}"/>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D8900E4-D62F-4D4B-A0FD-C66046AD9ED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0FF4226-99ED-41E9-A068-98F8B1DD3AD8}"/>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109CDB8-57F1-4C1D-95BE-A5CFB711BF15}"/>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507E118-F5C1-48F0-9B47-E2DDFD795918}"/>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109BD56-F4AE-4480-8098-521798CC9AF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1064D8D-EF00-463F-82A1-574242C2881A}"/>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52CA010-870A-42FF-8DC0-4939B0A252AE}"/>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20D7BDB-D0CF-4854-A927-494348BEA93F}"/>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5B2551F-5E23-4ACC-8E1B-3C1765EC0CC4}"/>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6F5E4D9-F39F-467B-821C-8BF26E510406}"/>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B1C4ACA-9169-4E25-890A-C2329260E8A8}"/>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427D815-77DB-4438-8B2F-5D871A307CA9}"/>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D4A4F3B-A7EE-471B-A636-6D9F6A066AC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0EE5672-F681-4B39-8895-CA7265FC8699}"/>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1C2EB48-36FB-420F-B3AB-30B7BCF62B0C}"/>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91A50DD-1C09-4DEC-B063-E1EE9EFC0ADA}"/>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2055078-F7D1-41C2-9B8F-5CF4DD9C0549}"/>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257421F-3C1A-4A92-9D80-DCC71424DDAB}"/>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D3F6A6B-0A13-4115-BB4D-7081567C2DDB}"/>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C1BF68C-A418-42E0-BE3C-F56E7593C80D}"/>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F32D5D3-6C74-4931-B27A-705322A09012}"/>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9D1B0153-3B43-43F5-8BBC-51CAD1E825A0}"/>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908ABBD-79A1-42DE-8088-EC54548C4D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AF016599-3FE6-47E9-94B9-858A63C837BC}"/>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0BD1DDC9-7010-4B35-8494-D0DF92AFABAF}"/>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19 · ACUERDOS</a:t>
            </a:r>
          </a:p>
        </p:txBody>
      </p:sp>
      <p:sp>
        <p:nvSpPr>
          <p:cNvPr id="31" name="">
            <a:extLst xmlns:a="http://schemas.openxmlformats.org/drawingml/2006/main">
              <a:ext uri="{FF2B5EF4-FFF2-40B4-BE49-F238E27FC236}">
                <a16:creationId xmlns:a16="http://schemas.microsoft.com/office/drawing/2014/main" id="{634B5EEB-1282-4B1A-B008-F89F4938DA72}"/>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La propuesta deja materias concretas para eventual votacion.</a:t>
            </a:r>
          </a:p>
        </p:txBody>
      </p:sp>
      <p:sp>
        <p:nvSpPr>
          <p:cNvPr id="32" name="">
            <a:extLst xmlns:a="http://schemas.openxmlformats.org/drawingml/2006/main">
              <a:ext uri="{FF2B5EF4-FFF2-40B4-BE49-F238E27FC236}">
                <a16:creationId xmlns:a16="http://schemas.microsoft.com/office/drawing/2014/main" id="{C428BAF3-9A1E-49B4-88BF-17F53A6A0328}"/>
              </a:ext>
            </a:extLst>
          </p:cNvPr>
          <p:cNvSpPr>
            <a:spLocks xmlns:a="http://schemas.openxmlformats.org/drawingml/2006/main" noGrp="1"/>
          </p:cNvSpPr>
          <p:nvPr/>
        </p:nvSpPr>
        <p:spPr>
          <a:xfrm xmlns:a="http://schemas.openxmlformats.org/drawingml/2006/main">
            <a:off x="514350" y="1790700"/>
            <a:ext cx="4762500" cy="1162050"/>
          </a:xfrm>
          <a:prstGeom xmlns:a="http://schemas.openxmlformats.org/drawingml/2006/main" prst="rect">
            <a:avLst/>
          </a:prstGeom>
          <a:solidFill xmlns:a="http://schemas.openxmlformats.org/drawingml/2006/main">
            <a:srgbClr val="101920"/>
          </a:solidFill>
          <a:ln xmlns:a="http://schemas.openxmlformats.org/drawingml/2006/main" w="9525">
            <a:solidFill>
              <a:srgbClr val="285A68"/>
            </a:solidFill>
            <a:prstDash val="solid"/>
          </a:ln>
        </p:spPr>
      </p:sp>
      <p:sp>
        <p:nvSpPr>
          <p:cNvPr id="33" name="">
            <a:extLst xmlns:a="http://schemas.openxmlformats.org/drawingml/2006/main">
              <a:ext uri="{FF2B5EF4-FFF2-40B4-BE49-F238E27FC236}">
                <a16:creationId xmlns:a16="http://schemas.microsoft.com/office/drawing/2014/main" id="{E73A8474-A98C-4A3E-9F2B-D783AE50E684}"/>
              </a:ext>
            </a:extLst>
          </p:cNvPr>
          <p:cNvSpPr>
            <a:spLocks xmlns:a="http://schemas.openxmlformats.org/drawingml/2006/main" noGrp="1"/>
          </p:cNvSpPr>
          <p:nvPr/>
        </p:nvSpPr>
        <p:spPr>
          <a:xfrm xmlns:a="http://schemas.openxmlformats.org/drawingml/2006/main">
            <a:off x="723900" y="1943100"/>
            <a:ext cx="4343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3C8EE"/>
                </a:solidFill>
                <a:latin typeface="Aptos"/>
                <a:ea typeface="Aptos"/>
                <a:cs typeface="Aptos"/>
              </a:defRPr>
            </a:pPr>
            <a:r>
              <a:rPr sz="1425" b="0">
                <a:solidFill>
                  <a:srgbClr val="B3C8EE"/>
                </a:solidFill>
                <a:latin typeface="Aptos"/>
                <a:ea typeface="Aptos"/>
                <a:cs typeface="Aptos"/>
              </a:rPr>
              <a:t>A partir de la discusion, el directorio podra reformular objetivos, ajustar prioridades y definir que materias deben ser sometidas a votacion en esta sesion o en una proxima reunion.</a:t>
            </a:r>
          </a:p>
        </p:txBody>
      </p:sp>
      <p:sp>
        <p:nvSpPr>
          <p:cNvPr id="34" name="">
            <a:extLst xmlns:a="http://schemas.openxmlformats.org/drawingml/2006/main">
              <a:ext uri="{FF2B5EF4-FFF2-40B4-BE49-F238E27FC236}">
                <a16:creationId xmlns:a16="http://schemas.microsoft.com/office/drawing/2014/main" id="{91657493-56C1-4625-9452-743AC598B140}"/>
              </a:ext>
            </a:extLst>
          </p:cNvPr>
          <p:cNvSpPr>
            <a:spLocks xmlns:a="http://schemas.openxmlformats.org/drawingml/2006/main" noGrp="1"/>
          </p:cNvSpPr>
          <p:nvPr/>
        </p:nvSpPr>
        <p:spPr>
          <a:xfrm xmlns:a="http://schemas.openxmlformats.org/drawingml/2006/main">
            <a:off x="5810250" y="18669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755B0BB-3648-4279-9845-F4678E3214D9}"/>
              </a:ext>
            </a:extLst>
          </p:cNvPr>
          <p:cNvSpPr>
            <a:spLocks xmlns:a="http://schemas.openxmlformats.org/drawingml/2006/main" noGrp="1"/>
          </p:cNvSpPr>
          <p:nvPr/>
        </p:nvSpPr>
        <p:spPr>
          <a:xfrm xmlns:a="http://schemas.openxmlformats.org/drawingml/2006/main">
            <a:off x="6057900" y="179070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Aprobar, rechazar o reformular el concepto rector.</a:t>
            </a:r>
          </a:p>
        </p:txBody>
      </p:sp>
      <p:sp>
        <p:nvSpPr>
          <p:cNvPr id="36" name="">
            <a:extLst xmlns:a="http://schemas.openxmlformats.org/drawingml/2006/main">
              <a:ext uri="{FF2B5EF4-FFF2-40B4-BE49-F238E27FC236}">
                <a16:creationId xmlns:a16="http://schemas.microsoft.com/office/drawing/2014/main" id="{134B6790-944A-41D8-B0C2-863AF5655C0F}"/>
              </a:ext>
            </a:extLst>
          </p:cNvPr>
          <p:cNvSpPr>
            <a:spLocks xmlns:a="http://schemas.openxmlformats.org/drawingml/2006/main" noGrp="1"/>
          </p:cNvSpPr>
          <p:nvPr/>
        </p:nvSpPr>
        <p:spPr>
          <a:xfrm xmlns:a="http://schemas.openxmlformats.org/drawingml/2006/main">
            <a:off x="5810250" y="23431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8AF30526-9BB4-4DA8-B929-5525065B2E88}"/>
              </a:ext>
            </a:extLst>
          </p:cNvPr>
          <p:cNvSpPr>
            <a:spLocks xmlns:a="http://schemas.openxmlformats.org/drawingml/2006/main" noGrp="1"/>
          </p:cNvSpPr>
          <p:nvPr/>
        </p:nvSpPr>
        <p:spPr>
          <a:xfrm xmlns:a="http://schemas.openxmlformats.org/drawingml/2006/main">
            <a:off x="6057900" y="226695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Definir si IME Conecta sera priorizado como proyecto principal para Sercotec Fortalecimiento …</a:t>
            </a:r>
          </a:p>
        </p:txBody>
      </p:sp>
      <p:sp>
        <p:nvSpPr>
          <p:cNvPr id="38" name="">
            <a:extLst xmlns:a="http://schemas.openxmlformats.org/drawingml/2006/main">
              <a:ext uri="{FF2B5EF4-FFF2-40B4-BE49-F238E27FC236}">
                <a16:creationId xmlns:a16="http://schemas.microsoft.com/office/drawing/2014/main" id="{C704BB95-1F58-4C9F-A9EE-1DEF9FD7DFE9}"/>
              </a:ext>
            </a:extLst>
          </p:cNvPr>
          <p:cNvSpPr>
            <a:spLocks xmlns:a="http://schemas.openxmlformats.org/drawingml/2006/main" noGrp="1"/>
          </p:cNvSpPr>
          <p:nvPr/>
        </p:nvSpPr>
        <p:spPr>
          <a:xfrm xmlns:a="http://schemas.openxmlformats.org/drawingml/2006/main">
            <a:off x="5810250" y="28194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334B08C0-51CE-45DB-8BDC-DDE627EB7C5B}"/>
              </a:ext>
            </a:extLst>
          </p:cNvPr>
          <p:cNvSpPr>
            <a:spLocks xmlns:a="http://schemas.openxmlformats.org/drawingml/2006/main" noGrp="1"/>
          </p:cNvSpPr>
          <p:nvPr/>
        </p:nvSpPr>
        <p:spPr>
          <a:xfrm xmlns:a="http://schemas.openxmlformats.org/drawingml/2006/main">
            <a:off x="6057900" y="274320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Definir si IME Link 2027 sera tratado como sujeto de prueba estrategico de IME Conecta.</a:t>
            </a:r>
          </a:p>
        </p:txBody>
      </p:sp>
      <p:sp>
        <p:nvSpPr>
          <p:cNvPr id="40" name="">
            <a:extLst xmlns:a="http://schemas.openxmlformats.org/drawingml/2006/main">
              <a:ext uri="{FF2B5EF4-FFF2-40B4-BE49-F238E27FC236}">
                <a16:creationId xmlns:a16="http://schemas.microsoft.com/office/drawing/2014/main" id="{7C008741-332C-4AF5-B5D9-B9B72BABBB9A}"/>
              </a:ext>
            </a:extLst>
          </p:cNvPr>
          <p:cNvSpPr>
            <a:spLocks xmlns:a="http://schemas.openxmlformats.org/drawingml/2006/main" noGrp="1"/>
          </p:cNvSpPr>
          <p:nvPr/>
        </p:nvSpPr>
        <p:spPr>
          <a:xfrm xmlns:a="http://schemas.openxmlformats.org/drawingml/2006/main">
            <a:off x="5810250" y="3295650"/>
            <a:ext cx="95250" cy="952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F4286983-05EF-4554-A48D-234213073722}"/>
              </a:ext>
            </a:extLst>
          </p:cNvPr>
          <p:cNvSpPr>
            <a:spLocks xmlns:a="http://schemas.openxmlformats.org/drawingml/2006/main" noGrp="1"/>
          </p:cNvSpPr>
          <p:nvPr/>
        </p:nvSpPr>
        <p:spPr>
          <a:xfrm xmlns:a="http://schemas.openxmlformats.org/drawingml/2006/main">
            <a:off x="6057900" y="321945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Mandatar una mesa de trabajo para ajustar la propuesta y preparar la postulacion.</a:t>
            </a:r>
          </a:p>
        </p:txBody>
      </p:sp>
      <p:sp>
        <p:nvSpPr>
          <p:cNvPr id="42" name="">
            <a:extLst xmlns:a="http://schemas.openxmlformats.org/drawingml/2006/main">
              <a:ext uri="{FF2B5EF4-FFF2-40B4-BE49-F238E27FC236}">
                <a16:creationId xmlns:a16="http://schemas.microsoft.com/office/drawing/2014/main" id="{A5DB4E91-9439-4E63-8464-5E60D5395A10}"/>
              </a:ext>
            </a:extLst>
          </p:cNvPr>
          <p:cNvSpPr>
            <a:spLocks xmlns:a="http://schemas.openxmlformats.org/drawingml/2006/main" noGrp="1"/>
          </p:cNvSpPr>
          <p:nvPr/>
        </p:nvSpPr>
        <p:spPr>
          <a:xfrm xmlns:a="http://schemas.openxmlformats.org/drawingml/2006/main">
            <a:off x="5810250" y="3771900"/>
            <a:ext cx="95250" cy="952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D6703C08-BEBC-4E43-8382-EDD03A1F54AE}"/>
              </a:ext>
            </a:extLst>
          </p:cNvPr>
          <p:cNvSpPr>
            <a:spLocks xmlns:a="http://schemas.openxmlformats.org/drawingml/2006/main" noGrp="1"/>
          </p:cNvSpPr>
          <p:nvPr/>
        </p:nvSpPr>
        <p:spPr>
          <a:xfrm xmlns:a="http://schemas.openxmlformats.org/drawingml/2006/main">
            <a:off x="6057900" y="3695700"/>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EFF1F5"/>
                </a:solidFill>
                <a:latin typeface="Aptos"/>
                <a:ea typeface="Aptos"/>
                <a:cs typeface="Aptos"/>
              </a:defRPr>
            </a:pPr>
            <a:r>
              <a:rPr sz="1425" b="0">
                <a:solidFill>
                  <a:srgbClr val="EFF1F5"/>
                </a:solidFill>
                <a:latin typeface="Aptos"/>
                <a:ea typeface="Aptos"/>
                <a:cs typeface="Aptos"/>
              </a:rPr>
              <a:t>Encargar una version final del plan para ser revisada y votada por el directorio.</a:t>
            </a:r>
          </a:p>
        </p:txBody>
      </p:sp>
      <p:sp>
        <p:nvSpPr>
          <p:cNvPr id="44" name="">
            <a:extLst xmlns:a="http://schemas.openxmlformats.org/drawingml/2006/main">
              <a:ext uri="{FF2B5EF4-FFF2-40B4-BE49-F238E27FC236}">
                <a16:creationId xmlns:a16="http://schemas.microsoft.com/office/drawing/2014/main" id="{AAA217DC-B92E-423C-A457-0AB1FAA9EE6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878A4933-972C-4A4F-96DB-698160FEF2DB}"/>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6" name="">
            <a:extLst xmlns:a="http://schemas.openxmlformats.org/drawingml/2006/main">
              <a:ext uri="{FF2B5EF4-FFF2-40B4-BE49-F238E27FC236}">
                <a16:creationId xmlns:a16="http://schemas.microsoft.com/office/drawing/2014/main" id="{3A2CACA5-208A-45EA-B6B9-A6136E4A05CD}"/>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19 / 20</a:t>
            </a:r>
          </a:p>
        </p:txBody>
      </p:sp>
    </p:spTree>
    <p:extLst>
      <p:ext uri="{BB962C8B-B14F-4D97-AF65-F5344CB8AC3E}">
        <p14:creationId xmlns:p14="http://schemas.microsoft.com/office/powerpoint/2010/main" val="152463422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2398EF-805C-426C-91A9-EA39809BC5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189EFB6-D801-4F34-8954-8224A639724F}"/>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3C621F6-B9D8-4AF5-A878-F5E91301B2C1}"/>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A20A079-B57D-4408-BBFB-260A142EDB9A}"/>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5BCE700-33FD-4A89-9796-73F481EEDE17}"/>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20C4CBE-6814-4C40-874B-364EC20C2A7B}"/>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2EEDD6F-B14A-4074-A211-6FEBB2F5DC84}"/>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887812A-5E95-4815-80F3-CA515A69FE47}"/>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8F16383-1A43-4236-9064-11D3A7401E6B}"/>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44D17E8-2702-4EF2-8FFB-6CBDAB82974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610B98E-FEB7-43FA-90B4-176196B32ADC}"/>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795BADA-FD8D-4F50-B191-4ACA268589DE}"/>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8167C93-DDB2-4FE0-A3AE-91E39B95D7F1}"/>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3CF2994-A4DF-4EFD-AA8A-7A8736CD1FDD}"/>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6146002-AE51-4CC8-8D9F-7C9F2FA36832}"/>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B64D287-E8A5-445E-8858-2E0143E95865}"/>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510EA2C-8C92-42B4-AFAD-77A30ED5AEE0}"/>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F2C62E6-2E94-4D69-980F-3A4DCA0A040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C4050B3-C412-4A5A-A284-B8A9A1D92120}"/>
              </a:ext>
            </a:extLst>
          </p:cNvPr>
          <p:cNvSpPr>
            <a:spLocks xmlns:a="http://schemas.openxmlformats.org/drawingml/2006/main" noGrp="1"/>
          </p:cNvSpPr>
          <p:nvPr/>
        </p:nvSpPr>
        <p:spPr>
          <a:xfrm xmlns:a="http://schemas.openxmlformats.org/drawingml/2006/main">
            <a:off x="0" y="685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DCF3C8F-B10F-4AB7-A86A-418353017239}"/>
              </a:ext>
            </a:extLst>
          </p:cNvPr>
          <p:cNvSpPr>
            <a:spLocks xmlns:a="http://schemas.openxmlformats.org/drawingml/2006/main" noGrp="1"/>
          </p:cNvSpPr>
          <p:nvPr/>
        </p:nvSpPr>
        <p:spPr>
          <a:xfrm xmlns:a="http://schemas.openxmlformats.org/drawingml/2006/main">
            <a:off x="0" y="1371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EE8FD77-77FD-488A-8119-A539EEF0DA38}"/>
              </a:ext>
            </a:extLst>
          </p:cNvPr>
          <p:cNvSpPr>
            <a:spLocks xmlns:a="http://schemas.openxmlformats.org/drawingml/2006/main" noGrp="1"/>
          </p:cNvSpPr>
          <p:nvPr/>
        </p:nvSpPr>
        <p:spPr>
          <a:xfrm xmlns:a="http://schemas.openxmlformats.org/drawingml/2006/main">
            <a:off x="0" y="2057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72932CF-4853-47A7-8983-1E6EA3032A8D}"/>
              </a:ext>
            </a:extLst>
          </p:cNvPr>
          <p:cNvSpPr>
            <a:spLocks xmlns:a="http://schemas.openxmlformats.org/drawingml/2006/main" noGrp="1"/>
          </p:cNvSpPr>
          <p:nvPr/>
        </p:nvSpPr>
        <p:spPr>
          <a:xfrm xmlns:a="http://schemas.openxmlformats.org/drawingml/2006/main">
            <a:off x="0" y="2743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65BFDD7-4C95-406F-9B78-8EC415295DA3}"/>
              </a:ext>
            </a:extLst>
          </p:cNvPr>
          <p:cNvSpPr>
            <a:spLocks xmlns:a="http://schemas.openxmlformats.org/drawingml/2006/main" noGrp="1"/>
          </p:cNvSpPr>
          <p:nvPr/>
        </p:nvSpPr>
        <p:spPr>
          <a:xfrm xmlns:a="http://schemas.openxmlformats.org/drawingml/2006/main">
            <a:off x="0" y="34290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E5623A1D-EEF1-47D8-B32D-1C8A7DCBFCF5}"/>
              </a:ext>
            </a:extLst>
          </p:cNvPr>
          <p:cNvSpPr>
            <a:spLocks xmlns:a="http://schemas.openxmlformats.org/drawingml/2006/main" noGrp="1"/>
          </p:cNvSpPr>
          <p:nvPr/>
        </p:nvSpPr>
        <p:spPr>
          <a:xfrm xmlns:a="http://schemas.openxmlformats.org/drawingml/2006/main">
            <a:off x="0" y="41148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728ABCC-4227-4CC0-809D-5A59AB76EC29}"/>
              </a:ext>
            </a:extLst>
          </p:cNvPr>
          <p:cNvSpPr>
            <a:spLocks xmlns:a="http://schemas.openxmlformats.org/drawingml/2006/main" noGrp="1"/>
          </p:cNvSpPr>
          <p:nvPr/>
        </p:nvSpPr>
        <p:spPr>
          <a:xfrm xmlns:a="http://schemas.openxmlformats.org/drawingml/2006/main">
            <a:off x="0" y="48006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BD39587-161B-4E57-9E1D-0202C5FC4333}"/>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7AAE549-D1D5-4DD8-BB70-126381EDF26F}"/>
              </a:ext>
            </a:extLst>
          </p:cNvPr>
          <p:cNvSpPr>
            <a:spLocks xmlns:a="http://schemas.openxmlformats.org/drawingml/2006/main" noGrp="1"/>
          </p:cNvSpPr>
          <p:nvPr/>
        </p:nvSpPr>
        <p:spPr>
          <a:xfrm xmlns:a="http://schemas.openxmlformats.org/drawingml/2006/main">
            <a:off x="0" y="6172200"/>
            <a:ext cx="12192000" cy="9525"/>
          </a:xfrm>
          <a:prstGeom xmlns:a="http://schemas.openxmlformats.org/drawingml/2006/main" prst="rect">
            <a:avLst/>
          </a:prstGeom>
          <a:solidFill xmlns:a="http://schemas.openxmlformats.org/drawingml/2006/main">
            <a:srgbClr val="1028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D8A9B97-E43B-4CC3-B695-841A6B3815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29" name="kicker-marker">
            <a:extLst xmlns:a="http://schemas.openxmlformats.org/drawingml/2006/main">
              <a:ext uri="{FF2B5EF4-FFF2-40B4-BE49-F238E27FC236}">
                <a16:creationId xmlns:a16="http://schemas.microsoft.com/office/drawing/2014/main" id="{BA64FFFB-8E77-47FF-BF55-A9CBC9EFBA76}"/>
              </a:ext>
            </a:extLst>
          </p:cNvPr>
          <p:cNvSpPr>
            <a:spLocks xmlns:a="http://schemas.openxmlformats.org/drawingml/2006/main" noGrp="1"/>
          </p:cNvSpPr>
          <p:nvPr/>
        </p:nvSpPr>
        <p:spPr>
          <a:xfrm xmlns:a="http://schemas.openxmlformats.org/drawingml/2006/main">
            <a:off x="457200" y="361950"/>
            <a:ext cx="104775" cy="104775"/>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0" name="kicker-label">
            <a:extLst xmlns:a="http://schemas.openxmlformats.org/drawingml/2006/main">
              <a:ext uri="{FF2B5EF4-FFF2-40B4-BE49-F238E27FC236}">
                <a16:creationId xmlns:a16="http://schemas.microsoft.com/office/drawing/2014/main" id="{25F5C79A-5597-4388-A7B3-601B52409656}"/>
              </a:ext>
            </a:extLst>
          </p:cNvPr>
          <p:cNvSpPr>
            <a:spLocks xmlns:a="http://schemas.openxmlformats.org/drawingml/2006/main" noGrp="1"/>
          </p:cNvSpPr>
          <p:nvPr/>
        </p:nvSpPr>
        <p:spPr>
          <a:xfrm xmlns:a="http://schemas.openxmlformats.org/drawingml/2006/main">
            <a:off x="647700" y="26670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15E9CD"/>
                </a:solidFill>
                <a:latin typeface="Aptos"/>
                <a:ea typeface="Aptos"/>
                <a:cs typeface="Aptos"/>
              </a:defRPr>
            </a:pPr>
            <a:r>
              <a:rPr sz="975" b="1">
                <a:solidFill>
                  <a:srgbClr val="15E9CD"/>
                </a:solidFill>
                <a:latin typeface="Aptos"/>
                <a:ea typeface="Aptos"/>
                <a:cs typeface="Aptos"/>
              </a:rPr>
              <a:t>20 · CIERRE</a:t>
            </a:r>
          </a:p>
        </p:txBody>
      </p:sp>
      <p:sp>
        <p:nvSpPr>
          <p:cNvPr id="31" name="">
            <a:extLst xmlns:a="http://schemas.openxmlformats.org/drawingml/2006/main">
              <a:ext uri="{FF2B5EF4-FFF2-40B4-BE49-F238E27FC236}">
                <a16:creationId xmlns:a16="http://schemas.microsoft.com/office/drawing/2014/main" id="{ADC20DDB-484A-4A16-A1B7-140BD0C199F4}"/>
              </a:ext>
            </a:extLst>
          </p:cNvPr>
          <p:cNvSpPr>
            <a:spLocks xmlns:a="http://schemas.openxmlformats.org/drawingml/2006/main" noGrp="1"/>
          </p:cNvSpPr>
          <p:nvPr/>
        </p:nvSpPr>
        <p:spPr>
          <a:xfrm xmlns:a="http://schemas.openxmlformats.org/drawingml/2006/main">
            <a:off x="457200" y="685800"/>
            <a:ext cx="990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EFF1F5"/>
                </a:solidFill>
                <a:latin typeface="Aptos Display"/>
                <a:ea typeface="Aptos Display"/>
                <a:cs typeface="Aptos Display"/>
              </a:defRPr>
            </a:pPr>
            <a:r>
              <a:rPr sz="2850" b="1">
                <a:solidFill>
                  <a:srgbClr val="EFF1F5"/>
                </a:solidFill>
                <a:latin typeface="Aptos Display"/>
                <a:ea typeface="Aptos Display"/>
                <a:cs typeface="Aptos Display"/>
              </a:rPr>
              <a:t>Ordenar para crecer es la condicion minima para sostener la nueva escala.</a:t>
            </a:r>
          </a:p>
        </p:txBody>
      </p:sp>
      <p:sp>
        <p:nvSpPr>
          <p:cNvPr id="32" name="">
            <a:extLst xmlns:a="http://schemas.openxmlformats.org/drawingml/2006/main">
              <a:ext uri="{FF2B5EF4-FFF2-40B4-BE49-F238E27FC236}">
                <a16:creationId xmlns:a16="http://schemas.microsoft.com/office/drawing/2014/main" id="{EE6A7C7F-CCAD-4237-BBC1-432AB75647C2}"/>
              </a:ext>
            </a:extLst>
          </p:cNvPr>
          <p:cNvSpPr>
            <a:spLocks xmlns:a="http://schemas.openxmlformats.org/drawingml/2006/main" noGrp="1"/>
          </p:cNvSpPr>
          <p:nvPr/>
        </p:nvSpPr>
        <p:spPr>
          <a:xfrm xmlns:a="http://schemas.openxmlformats.org/drawingml/2006/main">
            <a:off x="838200" y="1809750"/>
            <a:ext cx="57150" cy="6667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481956A3-9497-4928-80D7-72CF5491F253}"/>
              </a:ext>
            </a:extLst>
          </p:cNvPr>
          <p:cNvSpPr>
            <a:spLocks xmlns:a="http://schemas.openxmlformats.org/drawingml/2006/main" noGrp="1"/>
          </p:cNvSpPr>
          <p:nvPr/>
        </p:nvSpPr>
        <p:spPr>
          <a:xfrm xmlns:a="http://schemas.openxmlformats.org/drawingml/2006/main">
            <a:off x="933450" y="18097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34" name="">
            <a:extLst xmlns:a="http://schemas.openxmlformats.org/drawingml/2006/main">
              <a:ext uri="{FF2B5EF4-FFF2-40B4-BE49-F238E27FC236}">
                <a16:creationId xmlns:a16="http://schemas.microsoft.com/office/drawing/2014/main" id="{4A7861BD-093F-4926-AECF-9CFED9C14905}"/>
              </a:ext>
            </a:extLst>
          </p:cNvPr>
          <p:cNvSpPr>
            <a:spLocks xmlns:a="http://schemas.openxmlformats.org/drawingml/2006/main" noGrp="1"/>
          </p:cNvSpPr>
          <p:nvPr/>
        </p:nvSpPr>
        <p:spPr>
          <a:xfrm xmlns:a="http://schemas.openxmlformats.org/drawingml/2006/main">
            <a:off x="1104900" y="19621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Ordenar para crecer.</a:t>
            </a:r>
          </a:p>
        </p:txBody>
      </p:sp>
      <p:sp>
        <p:nvSpPr>
          <p:cNvPr id="35" name="">
            <a:extLst xmlns:a="http://schemas.openxmlformats.org/drawingml/2006/main">
              <a:ext uri="{FF2B5EF4-FFF2-40B4-BE49-F238E27FC236}">
                <a16:creationId xmlns:a16="http://schemas.microsoft.com/office/drawing/2014/main" id="{962E5B6F-FF51-4C89-8BAE-6D1DFC510192}"/>
              </a:ext>
            </a:extLst>
          </p:cNvPr>
          <p:cNvSpPr>
            <a:spLocks xmlns:a="http://schemas.openxmlformats.org/drawingml/2006/main" noGrp="1"/>
          </p:cNvSpPr>
          <p:nvPr/>
        </p:nvSpPr>
        <p:spPr>
          <a:xfrm xmlns:a="http://schemas.openxmlformats.org/drawingml/2006/main">
            <a:off x="1066800" y="2724150"/>
            <a:ext cx="57150" cy="6667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C7494354-80EF-48CF-AF1F-60489D67788A}"/>
              </a:ext>
            </a:extLst>
          </p:cNvPr>
          <p:cNvSpPr>
            <a:spLocks xmlns:a="http://schemas.openxmlformats.org/drawingml/2006/main" noGrp="1"/>
          </p:cNvSpPr>
          <p:nvPr/>
        </p:nvSpPr>
        <p:spPr>
          <a:xfrm xmlns:a="http://schemas.openxmlformats.org/drawingml/2006/main">
            <a:off x="1162050" y="27241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37" name="">
            <a:extLst xmlns:a="http://schemas.openxmlformats.org/drawingml/2006/main">
              <a:ext uri="{FF2B5EF4-FFF2-40B4-BE49-F238E27FC236}">
                <a16:creationId xmlns:a16="http://schemas.microsoft.com/office/drawing/2014/main" id="{13489528-B8C5-4475-B944-EB1BB0D1FC7C}"/>
              </a:ext>
            </a:extLst>
          </p:cNvPr>
          <p:cNvSpPr>
            <a:spLocks xmlns:a="http://schemas.openxmlformats.org/drawingml/2006/main" noGrp="1"/>
          </p:cNvSpPr>
          <p:nvPr/>
        </p:nvSpPr>
        <p:spPr>
          <a:xfrm xmlns:a="http://schemas.openxmlformats.org/drawingml/2006/main">
            <a:off x="1333500" y="28765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370EF"/>
                </a:solidFill>
                <a:latin typeface="Aptos"/>
                <a:ea typeface="Aptos"/>
                <a:cs typeface="Aptos"/>
              </a:defRPr>
            </a:pPr>
            <a:r>
              <a:rPr sz="1500" b="1">
                <a:solidFill>
                  <a:srgbClr val="1370EF"/>
                </a:solidFill>
                <a:latin typeface="Aptos"/>
                <a:ea typeface="Aptos"/>
                <a:cs typeface="Aptos"/>
              </a:rPr>
              <a:t>La infraestructura interna tambien es estrategia.</a:t>
            </a:r>
          </a:p>
        </p:txBody>
      </p:sp>
      <p:sp>
        <p:nvSpPr>
          <p:cNvPr id="38" name="">
            <a:extLst xmlns:a="http://schemas.openxmlformats.org/drawingml/2006/main">
              <a:ext uri="{FF2B5EF4-FFF2-40B4-BE49-F238E27FC236}">
                <a16:creationId xmlns:a16="http://schemas.microsoft.com/office/drawing/2014/main" id="{47A359DA-48E9-4FC1-9713-9FBF474C7670}"/>
              </a:ext>
            </a:extLst>
          </p:cNvPr>
          <p:cNvSpPr>
            <a:spLocks xmlns:a="http://schemas.openxmlformats.org/drawingml/2006/main" noGrp="1"/>
          </p:cNvSpPr>
          <p:nvPr/>
        </p:nvSpPr>
        <p:spPr>
          <a:xfrm xmlns:a="http://schemas.openxmlformats.org/drawingml/2006/main">
            <a:off x="1295400" y="3638550"/>
            <a:ext cx="57150" cy="666750"/>
          </a:xfrm>
          <a:prstGeom xmlns:a="http://schemas.openxmlformats.org/drawingml/2006/main" prst="rect">
            <a:avLst/>
          </a:prstGeom>
          <a:solidFill xmlns:a="http://schemas.openxmlformats.org/drawingml/2006/main">
            <a:srgbClr val="15E9CD"/>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80C5135-2EFB-4C98-A470-744AFC6F78D4}"/>
              </a:ext>
            </a:extLst>
          </p:cNvPr>
          <p:cNvSpPr>
            <a:spLocks xmlns:a="http://schemas.openxmlformats.org/drawingml/2006/main" noGrp="1"/>
          </p:cNvSpPr>
          <p:nvPr/>
        </p:nvSpPr>
        <p:spPr>
          <a:xfrm xmlns:a="http://schemas.openxmlformats.org/drawingml/2006/main">
            <a:off x="1390650" y="36385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40" name="">
            <a:extLst xmlns:a="http://schemas.openxmlformats.org/drawingml/2006/main">
              <a:ext uri="{FF2B5EF4-FFF2-40B4-BE49-F238E27FC236}">
                <a16:creationId xmlns:a16="http://schemas.microsoft.com/office/drawing/2014/main" id="{9F2F86C8-5760-446F-9025-A1E1F5A9A42D}"/>
              </a:ext>
            </a:extLst>
          </p:cNvPr>
          <p:cNvSpPr>
            <a:spLocks xmlns:a="http://schemas.openxmlformats.org/drawingml/2006/main" noGrp="1"/>
          </p:cNvSpPr>
          <p:nvPr/>
        </p:nvSpPr>
        <p:spPr>
          <a:xfrm xmlns:a="http://schemas.openxmlformats.org/drawingml/2006/main">
            <a:off x="1562100" y="37909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5E9CD"/>
                </a:solidFill>
                <a:latin typeface="Aptos"/>
                <a:ea typeface="Aptos"/>
                <a:cs typeface="Aptos"/>
              </a:defRPr>
            </a:pPr>
            <a:r>
              <a:rPr sz="1500" b="1">
                <a:solidFill>
                  <a:srgbClr val="15E9CD"/>
                </a:solidFill>
                <a:latin typeface="Aptos"/>
                <a:ea typeface="Aptos"/>
                <a:cs typeface="Aptos"/>
              </a:rPr>
              <a:t>IME Conecta no compite con IME Link 2027: lo habilita.</a:t>
            </a:r>
          </a:p>
        </p:txBody>
      </p:sp>
      <p:sp>
        <p:nvSpPr>
          <p:cNvPr id="41" name="">
            <a:extLst xmlns:a="http://schemas.openxmlformats.org/drawingml/2006/main">
              <a:ext uri="{FF2B5EF4-FFF2-40B4-BE49-F238E27FC236}">
                <a16:creationId xmlns:a16="http://schemas.microsoft.com/office/drawing/2014/main" id="{40D8D462-3FE8-47BC-986F-DFF34A77A362}"/>
              </a:ext>
            </a:extLst>
          </p:cNvPr>
          <p:cNvSpPr>
            <a:spLocks xmlns:a="http://schemas.openxmlformats.org/drawingml/2006/main" noGrp="1"/>
          </p:cNvSpPr>
          <p:nvPr/>
        </p:nvSpPr>
        <p:spPr>
          <a:xfrm xmlns:a="http://schemas.openxmlformats.org/drawingml/2006/main">
            <a:off x="1524000" y="4552950"/>
            <a:ext cx="57150" cy="666750"/>
          </a:xfrm>
          <a:prstGeom xmlns:a="http://schemas.openxmlformats.org/drawingml/2006/main" prst="rect">
            <a:avLst/>
          </a:prstGeom>
          <a:solidFill xmlns:a="http://schemas.openxmlformats.org/drawingml/2006/main">
            <a:srgbClr val="1370EF"/>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9657BC87-AE0F-479C-94F3-82BF766C4222}"/>
              </a:ext>
            </a:extLst>
          </p:cNvPr>
          <p:cNvSpPr>
            <a:spLocks xmlns:a="http://schemas.openxmlformats.org/drawingml/2006/main" noGrp="1"/>
          </p:cNvSpPr>
          <p:nvPr/>
        </p:nvSpPr>
        <p:spPr>
          <a:xfrm xmlns:a="http://schemas.openxmlformats.org/drawingml/2006/main">
            <a:off x="1619250" y="4552950"/>
            <a:ext cx="9048750" cy="666750"/>
          </a:xfrm>
          <a:prstGeom xmlns:a="http://schemas.openxmlformats.org/drawingml/2006/main" prst="rect">
            <a:avLst/>
          </a:prstGeom>
          <a:solidFill xmlns:a="http://schemas.openxmlformats.org/drawingml/2006/main">
            <a:srgbClr val="15222A"/>
          </a:solidFill>
          <a:ln xmlns:a="http://schemas.openxmlformats.org/drawingml/2006/main" w="9525">
            <a:solidFill>
              <a:srgbClr val="285A68"/>
            </a:solidFill>
            <a:prstDash val="solid"/>
          </a:ln>
        </p:spPr>
      </p:sp>
      <p:sp>
        <p:nvSpPr>
          <p:cNvPr id="43" name="">
            <a:extLst xmlns:a="http://schemas.openxmlformats.org/drawingml/2006/main">
              <a:ext uri="{FF2B5EF4-FFF2-40B4-BE49-F238E27FC236}">
                <a16:creationId xmlns:a16="http://schemas.microsoft.com/office/drawing/2014/main" id="{90507FCD-71D2-494E-80F5-95F98A2E4CFE}"/>
              </a:ext>
            </a:extLst>
          </p:cNvPr>
          <p:cNvSpPr>
            <a:spLocks xmlns:a="http://schemas.openxmlformats.org/drawingml/2006/main" noGrp="1"/>
          </p:cNvSpPr>
          <p:nvPr/>
        </p:nvSpPr>
        <p:spPr>
          <a:xfrm xmlns:a="http://schemas.openxmlformats.org/drawingml/2006/main">
            <a:off x="1790700" y="4705350"/>
            <a:ext cx="8705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370EF"/>
                </a:solidFill>
                <a:latin typeface="Aptos"/>
                <a:ea typeface="Aptos"/>
                <a:cs typeface="Aptos"/>
              </a:defRPr>
            </a:pPr>
            <a:r>
              <a:rPr sz="1350" b="1">
                <a:solidFill>
                  <a:srgbClr val="1370EF"/>
                </a:solidFill>
                <a:latin typeface="Aptos"/>
                <a:ea typeface="Aptos"/>
                <a:cs typeface="Aptos"/>
              </a:rPr>
              <a:t>El objetivo no es burocratizar IME, sino darle una estructura minima para crecer sin depender de la memoria, la buena voluntad o la sobrecarga de sus directores/as.</a:t>
            </a:r>
          </a:p>
        </p:txBody>
      </p:sp>
      <p:sp>
        <p:nvSpPr>
          <p:cNvPr id="44" name="">
            <a:extLst xmlns:a="http://schemas.openxmlformats.org/drawingml/2006/main">
              <a:ext uri="{FF2B5EF4-FFF2-40B4-BE49-F238E27FC236}">
                <a16:creationId xmlns:a16="http://schemas.microsoft.com/office/drawing/2014/main" id="{7E5CBA25-503A-4E75-8E70-EDBC8431A2D8}"/>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173844"/>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9075454C-923C-4299-9363-CA90E344E5EB}"/>
              </a:ext>
            </a:extLst>
          </p:cNvPr>
          <p:cNvSpPr>
            <a:spLocks xmlns:a="http://schemas.openxmlformats.org/drawingml/2006/main" noGrp="1"/>
          </p:cNvSpPr>
          <p:nvPr/>
        </p:nvSpPr>
        <p:spPr>
          <a:xfrm xmlns:a="http://schemas.openxmlformats.org/drawingml/2006/main">
            <a:off x="457200" y="6457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0">
                <a:solidFill>
                  <a:srgbClr val="B3C8EE"/>
                </a:solidFill>
                <a:latin typeface="Aptos"/>
                <a:ea typeface="Aptos"/>
                <a:cs typeface="Aptos"/>
              </a:defRPr>
            </a:pPr>
            <a:r>
              <a:rPr sz="825" b="0">
                <a:solidFill>
                  <a:srgbClr val="B3C8EE"/>
                </a:solidFill>
                <a:latin typeface="Aptos"/>
                <a:ea typeface="Aptos"/>
                <a:cs typeface="Aptos"/>
              </a:rPr>
              <a:t>IME Conecta · Gobernanza operacional</a:t>
            </a:r>
          </a:p>
        </p:txBody>
      </p:sp>
      <p:sp>
        <p:nvSpPr>
          <p:cNvPr id="46" name="">
            <a:extLst xmlns:a="http://schemas.openxmlformats.org/drawingml/2006/main">
              <a:ext uri="{FF2B5EF4-FFF2-40B4-BE49-F238E27FC236}">
                <a16:creationId xmlns:a16="http://schemas.microsoft.com/office/drawing/2014/main" id="{201FFBCB-BEE4-46BC-BA0C-F6329A968DC5}"/>
              </a:ext>
            </a:extLst>
          </p:cNvPr>
          <p:cNvSpPr>
            <a:spLocks xmlns:a="http://schemas.openxmlformats.org/drawingml/2006/main" noGrp="1"/>
          </p:cNvSpPr>
          <p:nvPr/>
        </p:nvSpPr>
        <p:spPr>
          <a:xfrm xmlns:a="http://schemas.openxmlformats.org/drawingml/2006/main">
            <a:off x="10668000" y="6457950"/>
            <a:ext cx="1066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825" b="0">
                <a:solidFill>
                  <a:srgbClr val="B3C8EE"/>
                </a:solidFill>
                <a:latin typeface="Aptos"/>
                <a:ea typeface="Aptos"/>
                <a:cs typeface="Aptos"/>
              </a:defRPr>
            </a:pPr>
            <a:r>
              <a:rPr sz="825" b="0">
                <a:solidFill>
                  <a:srgbClr val="B3C8EE"/>
                </a:solidFill>
                <a:latin typeface="Aptos"/>
                <a:ea typeface="Aptos"/>
                <a:cs typeface="Aptos"/>
              </a:rPr>
              <a:t>20 / 20</a:t>
            </a:r>
          </a:p>
        </p:txBody>
      </p:sp>
    </p:spTree>
    <p:extLst>
      <p:ext uri="{BB962C8B-B14F-4D97-AF65-F5344CB8AC3E}">
        <p14:creationId xmlns:p14="http://schemas.microsoft.com/office/powerpoint/2010/main" val="2146710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2026-06-13T13:34:13.1740000Z</dcterms:created>
  <dcterms:modified xsi:type="dcterms:W3CDTF">2026-06-13T13:34:13.1740000Z</dcterms:modified>
</coreProperties>
</file>